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2fd33a23-cc8a-1dda-bb0c-8812c97b5f85}">
          <p14:sldIdLst>
            <p14:sldId id="256"/>
          </p14:sldIdLst>
        </p14:section>
        <p14:section name="Motivation" id="{f6d24b98-1598-eda0-182e-257d511d6ea7}">
          <p14:sldIdLst>
            <p14:sldId id="257"/>
            <p14:sldId id="258"/>
          </p14:sldIdLst>
        </p14:section>
        <p14:section name="Related work" id="{3618e0dd-0700-81b5-0acb-a437f64b228f}">
          <p14:sldIdLst>
            <p14:sldId id="259"/>
            <p14:sldId id="260"/>
          </p14:sldIdLst>
        </p14:section>
        <p14:section name="Research Background" id="{9cae005f-a34e-0793-a5e9-12b05bca85db}">
          <p14:sldIdLst>
            <p14:sldId id="261"/>
            <p14:sldId id="262"/>
          </p14:sldIdLst>
        </p14:section>
        <p14:section name="Dataset" id="{b141643f-c1f5-4767-1032-d490768ebcad}">
          <p14:sldIdLst>
            <p14:sldId id="263"/>
            <p14:sldId id="264"/>
          </p14:sldIdLst>
        </p14:section>
        <p14:section name="Approach" id="{23bfc4e0-1f63-efc0-0444-1a594b17b005}">
          <p14:sldIdLst>
            <p14:sldId id="265"/>
            <p14:sldId id="266"/>
            <p14:sldId id="267"/>
          </p14:sldIdLst>
        </p14:section>
        <p14:section name="EDA" id="{662c5156-132a-238a-7407-daa5b0d1b986}">
          <p14:sldIdLst>
            <p14:sldId id="268"/>
            <p14:sldId id="269"/>
            <p14:sldId id="270"/>
          </p14:sldIdLst>
        </p14:section>
        <p14:section name="Contributions" id="{fdde8b27-2d6a-cd84-6dd0-a96383183cc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image-1002-5.png"/><Relationship Id="rId6" Type="http://schemas.openxmlformats.org/officeDocument/2006/relationships/image" Target="../media/image-1002-6.png"/><Relationship Id="rId7" Type="http://schemas.openxmlformats.org/officeDocument/2006/relationships/image" Target="../media/image-1002-7.png"/><Relationship Id="rId8" Type="http://schemas.openxmlformats.org/officeDocument/2006/relationships/image" Target="../media/image-1002-8.png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image" Target="../media/image-1003-4.png"/><Relationship Id="rId5" Type="http://schemas.openxmlformats.org/officeDocument/2006/relationships/image" Target="../media/image-1003-5.png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imeseries/2d02c38b-48df-5b9a-b0cc-ec9424e3cff2/scratchpad/build/cover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7240"/>
          </a:xfrm>
          <a:prstGeom prst="rect">
            <a:avLst/>
          </a:prstGeom>
        </p:spPr>
      </p:pic>
      <p:pic>
        <p:nvPicPr>
          <p:cNvPr id="3" name="Image 1" descr="/tmp/claude-0/-home-user-timeseries/2d02c38b-48df-5b9a-b0cc-ec9424e3cff2/scratchpad/build/cover_f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9144000" cy="457200"/>
          </a:xfrm>
          <a:prstGeom prst="rect">
            <a:avLst/>
          </a:prstGeom>
        </p:spPr>
      </p:pic>
      <p:pic>
        <p:nvPicPr>
          <p:cNvPr id="4" name="Image 2" descr="/tmp/claude-0/-home-user-timeseries/2d02c38b-48df-5b9a-b0cc-ec9424e3cff2/scratchpad/logos/embl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45720"/>
            <a:ext cx="658368" cy="658368"/>
          </a:xfrm>
          <a:prstGeom prst="rect">
            <a:avLst/>
          </a:prstGeom>
        </p:spPr>
      </p:pic>
      <p:pic>
        <p:nvPicPr>
          <p:cNvPr id="5" name="Image 3" descr="/tmp/claude-0/-home-user-timeseries/2d02c38b-48df-5b9a-b0cc-ec9424e3cff2/scratchpad/build/cover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23744"/>
            <a:ext cx="9144000" cy="118872"/>
          </a:xfrm>
          <a:prstGeom prst="rect">
            <a:avLst/>
          </a:prstGeom>
        </p:spPr>
      </p:pic>
      <p:pic>
        <p:nvPicPr>
          <p:cNvPr id="6" name="Image 4" descr="/tmp/claude-0/-home-user-timeseries/2d02c38b-48df-5b9a-b0cc-ec9424e3cff2/scratchpad/build/cover_bar_fa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42616"/>
            <a:ext cx="9144000" cy="137160"/>
          </a:xfrm>
          <a:prstGeom prst="rect">
            <a:avLst/>
          </a:prstGeom>
        </p:spPr>
      </p:pic>
      <p:pic>
        <p:nvPicPr>
          <p:cNvPr id="7" name="Image 5" descr="/tmp/claude-0/-home-user-timeseries/2d02c38b-48df-5b9a-b0cc-ec9424e3cff2/scratchpad/logos/hyu_wo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952" y="4526280"/>
            <a:ext cx="2103120" cy="427939"/>
          </a:xfrm>
          <a:prstGeom prst="rect">
            <a:avLst/>
          </a:prstGeom>
        </p:spPr>
      </p:pic>
      <p:pic>
        <p:nvPicPr>
          <p:cNvPr id="8" name="Image 6" descr="/tmp/claude-0/-home-user-timeseries/2d02c38b-48df-5b9a-b0cc-ec9424e3cff2/scratchpad/logos/im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368" y="4315968"/>
            <a:ext cx="868680" cy="868680"/>
          </a:xfrm>
          <a:prstGeom prst="rect">
            <a:avLst/>
          </a:prstGeom>
        </p:spPr>
      </p:pic>
      <p:pic>
        <p:nvPicPr>
          <p:cNvPr id="9" name="Image 7" descr="/tmp/claude-0/-home-user-timeseries/2d02c38b-48df-5b9a-b0cc-ec9424e3cff2/scratchpad/build/foo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108753"/>
            <a:ext cx="9144000" cy="34747"/>
          </a:xfrm>
          <a:prstGeom prst="rect">
            <a:avLst/>
          </a:prstGeom>
        </p:spPr>
      </p:pic>
      <p:sp>
        <p:nvSpPr>
          <p:cNvPr id="10" name="Text 0"/>
          <p:cNvSpPr/>
          <p:nvPr>
            <p:ph idx="108" type="title" hasCustomPrompt="1"/>
          </p:nvPr>
        </p:nvSpPr>
        <p:spPr>
          <a:xfrm>
            <a:off x="457200" y="1481328"/>
            <a:ext cx="8229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11" name="Text 0"/>
          <p:cNvSpPr/>
          <p:nvPr>
            <p:ph idx="109" type="body" hasCustomPrompt="1"/>
          </p:nvPr>
        </p:nvSpPr>
        <p:spPr>
          <a:xfrm>
            <a:off x="1828800" y="292608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spcAft>
                <a:spcPts val="12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ctr" indent="0" marL="0">
              <a:spcAft>
                <a:spcPts val="1200"/>
              </a:spcAft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imeseries/2d02c38b-48df-5b9a-b0cc-ec9424e3cff2/scratchpad/logos/foot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2064"/>
            <a:ext cx="6537960" cy="323698"/>
          </a:xfrm>
          <a:prstGeom prst="rect">
            <a:avLst/>
          </a:prstGeom>
        </p:spPr>
      </p:pic>
      <p:pic>
        <p:nvPicPr>
          <p:cNvPr id="3" name="Image 1" descr="/tmp/claude-0/-home-user-timeseries/2d02c38b-48df-5b9a-b0cc-ec9424e3cff2/scratchpad/build/r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248"/>
            <a:ext cx="8503920" cy="32004"/>
          </a:xfrm>
          <a:prstGeom prst="rect">
            <a:avLst/>
          </a:prstGeom>
        </p:spPr>
      </p:pic>
      <p:pic>
        <p:nvPicPr>
          <p:cNvPr id="4" name="Image 2" descr="/tmp/claude-0/-home-user-timeseries/2d02c38b-48df-5b9a-b0cc-ec9424e3cff2/scratchpad/logos/hyu_k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4818888"/>
            <a:ext cx="841248" cy="256032"/>
          </a:xfrm>
          <a:prstGeom prst="rect">
            <a:avLst/>
          </a:prstGeom>
        </p:spPr>
      </p:pic>
      <p:pic>
        <p:nvPicPr>
          <p:cNvPr id="5" name="Image 3" descr="/tmp/claude-0/-home-user-timeseries/2d02c38b-48df-5b9a-b0cc-ec9424e3cff2/scratchpad/logos/imcla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837176"/>
            <a:ext cx="1371600" cy="199339"/>
          </a:xfrm>
          <a:prstGeom prst="rect">
            <a:avLst/>
          </a:prstGeom>
        </p:spPr>
      </p:pic>
      <p:pic>
        <p:nvPicPr>
          <p:cNvPr id="6" name="Image 4" descr="/tmp/claude-0/-home-user-timeseries/2d02c38b-48df-5b9a-b0cc-ec9424e3cff2/scratchpad/build/fo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08753"/>
            <a:ext cx="9144000" cy="34747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8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8" type="title" hasCustomPrompt="1"/>
          </p:nvPr>
        </p:nvSpPr>
        <p:spPr>
          <a:xfrm>
            <a:off x="457200" y="14813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Early Warning of Pitcher Arm Injuries from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Pitch-Tracking Time Series (MLB Statcast)</a:t>
            </a:r>
            <a:endParaRPr lang="en-US" sz="2800" dirty="0"/>
          </a:p>
        </p:txBody>
      </p:sp>
      <p:sp>
        <p:nvSpPr>
          <p:cNvPr id="3" name="Text 0"/>
          <p:cNvSpPr/>
          <p:nvPr>
            <p:ph idx="109" type="body" hasCustomPrompt="1"/>
          </p:nvPr>
        </p:nvSpPr>
        <p:spPr>
          <a:xfrm>
            <a:off x="1828800" y="2926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2026.MM.DD</a:t>
            </a:r>
            <a:endParaRPr lang="en-US" sz="18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[Presenter name]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Motivation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Why pitcher injury matters</a:t>
            </a:r>
            <a:endParaRPr lang="en-US" sz="1600" dirty="0"/>
          </a:p>
        </p:txBody>
      </p:sp>
      <p:sp>
        <p:nvSpPr>
          <p:cNvPr id="4" name="Bullets"/>
          <p:cNvSpPr txBox="1"/>
          <p:nvPr/>
        </p:nvSpPr>
        <p:spPr>
          <a:xfrm>
            <a:off x="228600" y="987552"/>
            <a:ext cx="8686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❏"/>
            </a:pPr>
            <a:r>
              <a:rPr lang="en-US" sz="1800" b="1" dirty="0">
                <a:solidFill>
                  <a:schemeClr val="tx1"/>
                </a:solidFill>
              </a:rPr>
              <a:t>Pitcher injuries keep rising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600" dirty="0">
                <a:solidFill>
                  <a:schemeClr val="tx1"/>
                </a:solidFill>
              </a:rPr>
              <a:t>MLB pitcher IL placements: </a:t>
            </a:r>
            <a:r>
              <a:rPr lang="en-US" sz="1600" b="1" dirty="0">
                <a:solidFill>
                  <a:schemeClr val="tx1"/>
                </a:solidFill>
              </a:rPr>
              <a:t>212 (2005) → 485 (2024)</a:t>
            </a:r>
            <a:r>
              <a:rPr lang="en-US" sz="1600" dirty="0">
                <a:solidFill>
                  <a:schemeClr val="tx1"/>
                </a:solidFill>
              </a:rPr>
              <a:t>; IL days </a:t>
            </a:r>
            <a:r>
              <a:rPr lang="en-US" sz="1600" b="1" dirty="0">
                <a:solidFill>
                  <a:schemeClr val="tx1"/>
                </a:solidFill>
              </a:rPr>
              <a:t>13,666 → 32,257</a:t>
            </a:r>
            <a:r>
              <a:rPr lang="en-US" sz="1600" dirty="0">
                <a:solidFill>
                  <a:schemeClr val="tx1"/>
                </a:solidFill>
              </a:rPr>
              <a:t> (AP, 2024)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600" dirty="0">
                <a:solidFill>
                  <a:schemeClr val="tx1"/>
                </a:solidFill>
              </a:rPr>
              <a:t>Elbow-related IL days roughly </a:t>
            </a:r>
            <a:r>
              <a:rPr lang="en-US" sz="1600" b="1" dirty="0">
                <a:solidFill>
                  <a:schemeClr val="tx1"/>
                </a:solidFill>
              </a:rPr>
              <a:t>tripled</a:t>
            </a:r>
            <a:r>
              <a:rPr lang="en-US" sz="1600" dirty="0">
                <a:solidFill>
                  <a:schemeClr val="tx1"/>
                </a:solidFill>
              </a:rPr>
              <a:t>: 3,940 → 12,185</a:t>
            </a:r>
            <a:endParaRPr lang="en-US" sz="1800" dirty="0"/>
          </a:p>
          <a:p>
            <a:pPr marL="381000" indent="-381000">
              <a:spcBef>
                <a:spcPts val="500"/>
              </a:spcBef>
              <a:buSzPct val="100000"/>
              <a:buChar char="❏"/>
            </a:pPr>
            <a:r>
              <a:rPr lang="en-US" sz="1800" b="1" dirty="0">
                <a:solidFill>
                  <a:schemeClr val="tx1"/>
                </a:solidFill>
              </a:rPr>
              <a:t>The cost is large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600" dirty="0">
                <a:solidFill>
                  <a:schemeClr val="tx1"/>
                </a:solidFill>
              </a:rPr>
              <a:t>2015–2025: </a:t>
            </a:r>
            <a:r>
              <a:rPr lang="en-US" sz="1600" b="1" dirty="0">
                <a:solidFill>
                  <a:schemeClr val="tx1"/>
                </a:solidFill>
              </a:rPr>
              <a:t>1,122</a:t>
            </a:r>
            <a:r>
              <a:rPr lang="en-US" sz="1600" dirty="0">
                <a:solidFill>
                  <a:schemeClr val="tx1"/>
                </a:solidFill>
              </a:rPr>
              <a:t> pitchers, </a:t>
            </a:r>
            <a:r>
              <a:rPr lang="en-US" sz="1600" b="1" dirty="0">
                <a:solidFill>
                  <a:schemeClr val="tx1"/>
                </a:solidFill>
              </a:rPr>
              <a:t>2,365</a:t>
            </a:r>
            <a:r>
              <a:rPr lang="en-US" sz="1600" dirty="0">
                <a:solidFill>
                  <a:schemeClr val="tx1"/>
                </a:solidFill>
              </a:rPr>
              <a:t> shoulder/elbow IL placements, about </a:t>
            </a:r>
            <a:r>
              <a:rPr lang="en-US" sz="1600" b="1" dirty="0">
                <a:solidFill>
                  <a:schemeClr val="tx1"/>
                </a:solidFill>
              </a:rPr>
              <a:t>$3.33B</a:t>
            </a:r>
            <a:r>
              <a:rPr lang="en-US" sz="1600" dirty="0">
                <a:solidFill>
                  <a:schemeClr val="tx1"/>
                </a:solidFill>
              </a:rPr>
              <a:t> in lost salary; </a:t>
            </a:r>
            <a:r>
              <a:rPr lang="en-US" sz="1600" b="1" dirty="0">
                <a:solidFill>
                  <a:schemeClr val="tx1"/>
                </a:solidFill>
              </a:rPr>
              <a:t>68.3%</a:t>
            </a:r>
            <a:r>
              <a:rPr lang="en-US" sz="1600" dirty="0">
                <a:solidFill>
                  <a:schemeClr val="tx1"/>
                </a:solidFill>
              </a:rPr>
              <a:t> from elbow injuries (Dillon et al., OJSM)</a:t>
            </a:r>
            <a:endParaRPr lang="en-US" sz="1800" dirty="0"/>
          </a:p>
          <a:p>
            <a:pPr marL="381000" indent="-381000">
              <a:spcBef>
                <a:spcPts val="500"/>
              </a:spcBef>
              <a:buSzPct val="100000"/>
              <a:buChar char="❏"/>
            </a:pPr>
            <a:r>
              <a:rPr lang="en-US" sz="1800" b="1" dirty="0">
                <a:solidFill>
                  <a:schemeClr val="tx1"/>
                </a:solidFill>
              </a:rPr>
              <a:t>Why it matters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600" dirty="0">
                <a:solidFill>
                  <a:schemeClr val="tx1"/>
                </a:solidFill>
              </a:rPr>
              <a:t>Once a pitcher is on the IL, the damage is already done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600" dirty="0">
                <a:solidFill>
                  <a:schemeClr val="tx1"/>
                </a:solidFill>
              </a:rPr>
              <a:t>If warning signs are caught early →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adjust rest days, manage workload, give rest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Motivation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Injury risk is a time series</a:t>
            </a:r>
            <a:endParaRPr lang="en-US" sz="1600" dirty="0"/>
          </a:p>
        </p:txBody>
      </p:sp>
      <p:sp>
        <p:nvSpPr>
          <p:cNvPr id="4" name="Bullets"/>
          <p:cNvSpPr txBox="1"/>
          <p:nvPr/>
        </p:nvSpPr>
        <p:spPr>
          <a:xfrm>
            <a:off x="228600" y="987552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❏"/>
            </a:pPr>
            <a:r>
              <a:rPr lang="en-US" sz="1700" b="1" dirty="0">
                <a:solidFill>
                  <a:schemeClr val="tx1"/>
                </a:solidFill>
              </a:rPr>
              <a:t>Each pitcher has his own normal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Velocity, velocity variability, release point per appearance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b="1" dirty="0">
                <a:solidFill>
                  <a:schemeClr val="tx1"/>
                </a:solidFill>
              </a:rPr>
              <a:t>Trend</a:t>
            </a:r>
            <a:r>
              <a:rPr lang="en-US" sz="1500" dirty="0">
                <a:solidFill>
                  <a:schemeClr val="tx1"/>
                </a:solidFill>
              </a:rPr>
              <a:t>: league-wide "velocity revolution" (velocity rises every season)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b="1" dirty="0">
                <a:solidFill>
                  <a:schemeClr val="tx1"/>
                </a:solidFill>
              </a:rPr>
              <a:t>Seasonality</a:t>
            </a:r>
            <a:r>
              <a:rPr lang="en-US" sz="1500" dirty="0">
                <a:solidFill>
                  <a:schemeClr val="tx1"/>
                </a:solidFill>
              </a:rPr>
              <a:t>: velocity tends to rise later in the season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b="1" dirty="0">
                <a:solidFill>
                  <a:schemeClr val="tx1"/>
                </a:solidFill>
              </a:rPr>
              <a:t>Exogenous drivers</a:t>
            </a:r>
            <a:r>
              <a:rPr lang="en-US" sz="1500" dirty="0">
                <a:solidFill>
                  <a:schemeClr val="tx1"/>
                </a:solidFill>
              </a:rPr>
              <a:t>: rest days, recent pitch counts (7/14/28 days), ACWR, temperature</a:t>
            </a:r>
            <a:endParaRPr lang="en-US" sz="1700" dirty="0"/>
          </a:p>
          <a:p>
            <a:pPr marL="381000" indent="-381000">
              <a:spcBef>
                <a:spcPts val="500"/>
              </a:spcBef>
              <a:buSzPct val="100000"/>
              <a:buChar char="❏"/>
            </a:pPr>
            <a:r>
              <a:rPr lang="en-US" sz="1700" b="1" dirty="0">
                <a:solidFill>
                  <a:schemeClr val="tx1"/>
                </a:solidFill>
              </a:rPr>
              <a:t>If we can forecast a pitcher's normal, </a:t>
            </a:r>
            <a:r>
              <a:rPr lang="en-US" sz="1700" b="1" dirty="0">
                <a:solidFill>
                  <a:schemeClr val="tx1"/>
                </a:solidFill>
                <a:highlight>
                  <a:srgbClr val="FFFF00"/>
                </a:highlight>
              </a:rPr>
              <a:t>deviations become warnings</a:t>
            </a:r>
            <a:endParaRPr lang="en-US" sz="1700" dirty="0"/>
          </a:p>
          <a:p>
            <a:pPr marL="381000" indent="-381000">
              <a:spcBef>
                <a:spcPts val="500"/>
              </a:spcBef>
              <a:buSzPct val="100000"/>
              <a:buChar char="❏"/>
            </a:pPr>
            <a:r>
              <a:rPr lang="en-US" sz="1700" b="1" dirty="0">
                <a:solidFill>
                  <a:schemeClr val="tx1"/>
                </a:solidFill>
              </a:rPr>
              <a:t>Connects to our course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ARIMA / ARIMAX, EWMA, anomaly detection on residuals</a:t>
            </a:r>
            <a:endParaRPr lang="en-US" sz="1700" dirty="0"/>
          </a:p>
        </p:txBody>
      </p:sp>
      <p:sp>
        <p:nvSpPr>
          <p:cNvPr id="5" name="Flow step 1"/>
          <p:cNvSpPr/>
          <p:nvPr/>
        </p:nvSpPr>
        <p:spPr>
          <a:xfrm>
            <a:off x="5349240" y="1024128"/>
            <a:ext cx="35204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Per-appearance pitch series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6926580" y="1700784"/>
            <a:ext cx="365760" cy="256032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5349240" y="2011680"/>
            <a:ext cx="35204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Forecast the pitcher's own normal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6926580" y="2688336"/>
            <a:ext cx="365760" cy="256032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Flow step 3"/>
          <p:cNvSpPr/>
          <p:nvPr/>
        </p:nvSpPr>
        <p:spPr>
          <a:xfrm>
            <a:off x="5349240" y="2999232"/>
            <a:ext cx="3520440" cy="621792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 w="22225">
            <a:solidFill>
              <a:schemeClr val="accent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Residual anomaly = early warning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6926580" y="3675888"/>
            <a:ext cx="365760" cy="256032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Flow step 4"/>
          <p:cNvSpPr/>
          <p:nvPr/>
        </p:nvSpPr>
        <p:spPr>
          <a:xfrm>
            <a:off x="5349240" y="3986784"/>
            <a:ext cx="3520440" cy="621792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 w="22225">
            <a:solidFill>
              <a:schemeClr val="accent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Rest / workload adjustment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Related work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(1) Velocity as an injury signal</a:t>
            </a:r>
            <a:endParaRPr lang="en-US" sz="1600" dirty="0"/>
          </a:p>
        </p:txBody>
      </p:sp>
      <p:graphicFrame>
        <p:nvGraphicFramePr>
          <p:cNvPr id="5" name="Related work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645920"/>
                <a:gridCol w="1600200"/>
                <a:gridCol w="205740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Study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Research Focus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Methodology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Important Contribution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Limitation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Prodromo et al. (2016)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Pitch characteristics before Tommy John surgery (UCLR) vs. age-matched controls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Case-control, conditional logistic regression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Higher fastball velocity before surgery; velocity is a significant variable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Compares pitcher vs. pitcher with season averages; cannot tell when change happens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Mayo et al. (2021)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Trends in the last 15 games before UCLR (223 pitchers)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Mann-Kendall trend test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Four-seam velocity fell ~0.1 mph/game (tau = −0.657, P &lt; .001); spin rate fell ~5 rpm/game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 healthy controls; no alert rule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Mastroianni et al. (2026)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Pitch metrics before IL vs. healthy baseline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Linear mixed models with personal baseline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Last 5 appearances: velocity drops (P = .019), horizontal release variability rises (P = .005)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Retrospective comparison; no online, updating detection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Related work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(2) Detection methods and workload</a:t>
            </a:r>
            <a:endParaRPr lang="en-US" sz="1600" dirty="0"/>
          </a:p>
        </p:txBody>
      </p:sp>
      <p:graphicFrame>
        <p:nvGraphicFramePr>
          <p:cNvPr id="6" name="Related work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645920"/>
                <a:gridCol w="1600200"/>
                <a:gridCol w="205740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Study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Research Focus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Methodology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Important Contribution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Limitation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Ozaki (Master's thesis, AUT)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Detecting deviation before UCLR (46 pitchers, 2016–2024)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Autoencoder anomaly detection on 40 features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Deviation grew 2.7× near surgery; code and matched controls (45 pairs) are public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Healthy pitchers also flagged (73% vs. 66%); intentionally ignores time order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Bright et al. (2026)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Injury-risk screening from broadcast video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Time-aware ML with irregular-interval correction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Personal baseline + interval weighting improves prediction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Uses video estimates, not measured tracking data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Slowik et al. (2021)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Workload and upper-extremity injury in college pitchers (n = 17)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ACWR with ROC threshold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ACWR change beyond ±33% → 8.3× next-week injury risk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Tiny sample, wide CI (1.8–54.1); 3-week chronic window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Research Background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Limitations of Previous Studies and Novelty (1)</a:t>
            </a:r>
            <a:endParaRPr lang="en-US" sz="1600" dirty="0"/>
          </a:p>
        </p:txBody>
      </p:sp>
      <p:sp>
        <p:nvSpPr>
          <p:cNvPr id="4" name="Bullets"/>
          <p:cNvSpPr txBox="1"/>
          <p:nvPr/>
        </p:nvSpPr>
        <p:spPr>
          <a:xfrm>
            <a:off x="228600" y="987552"/>
            <a:ext cx="8686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❏"/>
            </a:pPr>
            <a:r>
              <a:rPr lang="en-US" sz="1700" b="1" dirty="0">
                <a:solidFill>
                  <a:schemeClr val="tx1"/>
                </a:solidFill>
              </a:rPr>
              <a:t>Limitations of Previous Studies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Most studies compare injured vs. healthy pitchers with season averages; within-pitcher change over time is rarely modeled.</a:t>
            </a:r>
            <a:endParaRPr lang="en-US" sz="1700" dirty="0"/>
          </a:p>
          <a:p>
            <a:pPr lvl="1" marL="457200" indent="-228600">
              <a:spcBef>
                <a:spcPts val="100"/>
              </a:spcBef>
              <a:buSzPct val="100000"/>
              <a:buChar char="➡"/>
            </a:pPr>
            <a:r>
              <a:rPr lang="en-US" sz="1500" dirty="0">
                <a:solidFill>
                  <a:schemeClr val="tx1"/>
                </a:solidFill>
                <a:highlight>
                  <a:srgbClr val="FFFF00"/>
                </a:highlight>
              </a:rPr>
              <a:t>Injury signals should be read against each pitcher's own time series.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Pre-injury trends were tested, but never turned into an alert rule; false alarms on healthy pitchers were not counted.</a:t>
            </a:r>
            <a:endParaRPr lang="en-US" sz="1700" dirty="0"/>
          </a:p>
          <a:p>
            <a:pPr lvl="1" marL="457200" indent="-228600">
              <a:spcBef>
                <a:spcPts val="100"/>
              </a:spcBef>
              <a:buSzPct val="100000"/>
              <a:buChar char="➡"/>
            </a:pPr>
            <a:r>
              <a:rPr lang="en-US" sz="1500" dirty="0">
                <a:solidFill>
                  <a:schemeClr val="tx1"/>
                </a:solidFill>
                <a:highlight>
                  <a:srgbClr val="FFFF00"/>
                </a:highlight>
              </a:rPr>
              <a:t>We need an early-warning system evaluated by lead time and false alarms.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The one anomaly-detection study avoided time-series models, fearing they absorb slow decline into the baseline.</a:t>
            </a:r>
            <a:endParaRPr lang="en-US" sz="1700" dirty="0"/>
          </a:p>
          <a:p>
            <a:pPr marL="381000" indent="-381000">
              <a:spcBef>
                <a:spcPts val="500"/>
              </a:spcBef>
              <a:buSzPct val="100000"/>
              <a:buChar char="❏"/>
            </a:pPr>
            <a:r>
              <a:rPr lang="en-US" sz="1700" b="1" dirty="0">
                <a:solidFill>
                  <a:schemeClr val="tx1"/>
                </a:solidFill>
              </a:rPr>
              <a:t>Novelty of the Proposed Method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u="sng" dirty="0">
                <a:solidFill>
                  <a:schemeClr val="tx1"/>
                </a:solidFill>
              </a:rPr>
              <a:t>Pitcher-specific time-series baseline</a:t>
            </a:r>
            <a:r>
              <a:rPr lang="en-US" sz="1500" dirty="0">
                <a:solidFill>
                  <a:schemeClr val="tx1"/>
                </a:solidFill>
              </a:rPr>
              <a:t>: forecast each pitcher's expected velocity, flag residuals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u="sng" dirty="0">
                <a:solidFill>
                  <a:schemeClr val="tx1"/>
                </a:solidFill>
              </a:rPr>
              <a:t>Performance + workload together</a:t>
            </a:r>
            <a:r>
              <a:rPr lang="en-US" sz="1500" dirty="0">
                <a:solidFill>
                  <a:schemeClr val="tx1"/>
                </a:solidFill>
              </a:rPr>
              <a:t>: velocity, variability, release + rest days, 7/14/28-day counts, ACWR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u="sng" dirty="0">
                <a:solidFill>
                  <a:schemeClr val="tx1"/>
                </a:solidFill>
              </a:rPr>
              <a:t>Interpretable early-warning evaluation</a:t>
            </a:r>
            <a:r>
              <a:rPr lang="en-US" sz="1500" dirty="0">
                <a:solidFill>
                  <a:schemeClr val="tx1"/>
                </a:solidFill>
              </a:rPr>
              <a:t> on </a:t>
            </a:r>
            <a:r>
              <a:rPr lang="en-US" sz="1500" u="sng" dirty="0">
                <a:solidFill>
                  <a:schemeClr val="tx1"/>
                </a:solidFill>
              </a:rPr>
              <a:t>open data</a:t>
            </a:r>
            <a:r>
              <a:rPr lang="en-US" sz="1500" dirty="0">
                <a:solidFill>
                  <a:schemeClr val="tx1"/>
                </a:solidFill>
              </a:rPr>
              <a:t>: lead time, false alarms, healthy controls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Research Background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Limitations of Previous Studies and Novelty (2)</a:t>
            </a:r>
            <a:endParaRPr lang="en-US" sz="1600" dirty="0"/>
          </a:p>
        </p:txBody>
      </p:sp>
      <p:sp>
        <p:nvSpPr>
          <p:cNvPr id="4" name="Row label"/>
          <p:cNvSpPr/>
          <p:nvPr/>
        </p:nvSpPr>
        <p:spPr>
          <a:xfrm>
            <a:off x="228600" y="1444752"/>
            <a:ext cx="14630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Current</a:t>
            </a:r>
            <a:endParaRPr lang="en-US" sz="11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practice</a:t>
            </a:r>
            <a:endParaRPr lang="en-US" sz="1100" dirty="0"/>
          </a:p>
        </p:txBody>
      </p:sp>
      <p:sp>
        <p:nvSpPr>
          <p:cNvPr id="5" name="Stage 1"/>
          <p:cNvSpPr/>
          <p:nvPr/>
        </p:nvSpPr>
        <p:spPr>
          <a:xfrm>
            <a:off x="1874520" y="118872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Season averages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injured vs. healthy</a:t>
            </a:r>
            <a:endParaRPr lang="en-US" sz="1100" dirty="0"/>
          </a:p>
        </p:txBody>
      </p:sp>
      <p:sp>
        <p:nvSpPr>
          <p:cNvPr id="6" name="Arrow"/>
          <p:cNvSpPr/>
          <p:nvPr/>
        </p:nvSpPr>
        <p:spPr>
          <a:xfrm>
            <a:off x="3904488" y="1645920"/>
            <a:ext cx="329184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age 2"/>
          <p:cNvSpPr/>
          <p:nvPr/>
        </p:nvSpPr>
        <p:spPr>
          <a:xfrm>
            <a:off x="4251960" y="118872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Retrospective 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 alert rule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6281928" y="1645920"/>
            <a:ext cx="329184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ge 3"/>
          <p:cNvSpPr/>
          <p:nvPr/>
        </p:nvSpPr>
        <p:spPr>
          <a:xfrm>
            <a:off x="6629400" y="118872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Injury noticed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after IL</a:t>
            </a:r>
            <a:endParaRPr lang="en-US" sz="1100" dirty="0"/>
          </a:p>
        </p:txBody>
      </p:sp>
      <p:sp>
        <p:nvSpPr>
          <p:cNvPr id="10" name="Row label"/>
          <p:cNvSpPr/>
          <p:nvPr/>
        </p:nvSpPr>
        <p:spPr>
          <a:xfrm>
            <a:off x="228600" y="3273552"/>
            <a:ext cx="1463040" cy="6858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22225">
            <a:solidFill>
              <a:schemeClr val="accent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Proposed</a:t>
            </a:r>
            <a:endParaRPr lang="en-US" sz="1100" dirty="0"/>
          </a:p>
        </p:txBody>
      </p:sp>
      <p:sp>
        <p:nvSpPr>
          <p:cNvPr id="11" name="Stage 1"/>
          <p:cNvSpPr/>
          <p:nvPr/>
        </p:nvSpPr>
        <p:spPr>
          <a:xfrm>
            <a:off x="1874520" y="301752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Per-appearance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time series per pitcher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3904488" y="3474720"/>
            <a:ext cx="32918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age 2"/>
          <p:cNvSpPr/>
          <p:nvPr/>
        </p:nvSpPr>
        <p:spPr>
          <a:xfrm>
            <a:off x="4251960" y="301752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ARIMAX / EWMA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residual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6281928" y="3474720"/>
            <a:ext cx="32918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age 3"/>
          <p:cNvSpPr/>
          <p:nvPr/>
        </p:nvSpPr>
        <p:spPr>
          <a:xfrm>
            <a:off x="6629400" y="301752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Early warning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→ adjust workload in time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Dataset: MLB Statcast (2021–2026)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Dataset</a:t>
            </a:r>
            <a:endParaRPr lang="en-US" sz="1600" dirty="0"/>
          </a:p>
        </p:txBody>
      </p:sp>
      <p:sp>
        <p:nvSpPr>
          <p:cNvPr id="4" name="Bullets"/>
          <p:cNvSpPr txBox="1"/>
          <p:nvPr/>
        </p:nvSpPr>
        <p:spPr>
          <a:xfrm>
            <a:off x="228600" y="987552"/>
            <a:ext cx="8686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❏"/>
            </a:pPr>
            <a:r>
              <a:rPr lang="en-US" sz="1800" b="1" dirty="0">
                <a:solidFill>
                  <a:schemeClr val="tx1"/>
                </a:solidFill>
              </a:rPr>
              <a:t>Sources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Pitch data: Baseball Savant </a:t>
            </a:r>
            <a:r>
              <a:rPr lang="en-US" sz="1500" b="1" dirty="0">
                <a:solidFill>
                  <a:schemeClr val="tx1"/>
                </a:solidFill>
              </a:rPr>
              <a:t>Statcast</a:t>
            </a:r>
            <a:r>
              <a:rPr lang="en-US" sz="1500" dirty="0">
                <a:solidFill>
                  <a:schemeClr val="tx1"/>
                </a:solidFill>
              </a:rPr>
              <a:t>, pitch-by-pitch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Injury labels: </a:t>
            </a:r>
            <a:r>
              <a:rPr lang="en-US" sz="1500" b="1" dirty="0">
                <a:solidFill>
                  <a:schemeClr val="tx1"/>
                </a:solidFill>
              </a:rPr>
              <a:t>MLB official API transactions</a:t>
            </a:r>
            <a:r>
              <a:rPr lang="en-US" sz="1500" dirty="0">
                <a:solidFill>
                  <a:schemeClr val="tx1"/>
                </a:solidFill>
              </a:rPr>
              <a:t> (IL placement date, body part)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Temperature: MLB API game weather, filled with Open-Meteo if needed</a:t>
            </a:r>
            <a:endParaRPr lang="en-US" sz="1800" dirty="0"/>
          </a:p>
          <a:p>
            <a:pPr marL="381000" indent="-381000">
              <a:spcBef>
                <a:spcPts val="500"/>
              </a:spcBef>
              <a:buSzPct val="100000"/>
              <a:buChar char="❏"/>
            </a:pPr>
            <a:r>
              <a:rPr lang="en-US" sz="1800" b="1" dirty="0">
                <a:solidFill>
                  <a:schemeClr val="tx1"/>
                </a:solidFill>
              </a:rPr>
              <a:t>Data info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Period: </a:t>
            </a:r>
            <a:r>
              <a:rPr lang="en-US" sz="1500" b="1" dirty="0">
                <a:solidFill>
                  <a:schemeClr val="tx1"/>
                </a:solidFill>
              </a:rPr>
              <a:t>2021–2026</a:t>
            </a:r>
            <a:r>
              <a:rPr lang="en-US" sz="1500" dirty="0">
                <a:solidFill>
                  <a:schemeClr val="tx1"/>
                </a:solidFill>
              </a:rPr>
              <a:t> regular seasons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Size: ~</a:t>
            </a:r>
            <a:r>
              <a:rPr lang="en-US" sz="1500" b="1" dirty="0">
                <a:solidFill>
                  <a:schemeClr val="tx1"/>
                </a:solidFill>
              </a:rPr>
              <a:t>4,500</a:t>
            </a:r>
            <a:r>
              <a:rPr lang="en-US" sz="1500" dirty="0">
                <a:solidFill>
                  <a:schemeClr val="tx1"/>
                </a:solidFill>
              </a:rPr>
              <a:t> pitches/day, ~</a:t>
            </a:r>
            <a:r>
              <a:rPr lang="en-US" sz="1500" b="1" dirty="0">
                <a:solidFill>
                  <a:schemeClr val="tx1"/>
                </a:solidFill>
              </a:rPr>
              <a:t>700K</a:t>
            </a:r>
            <a:r>
              <a:rPr lang="en-US" sz="1500" dirty="0">
                <a:solidFill>
                  <a:schemeClr val="tx1"/>
                </a:solidFill>
              </a:rPr>
              <a:t> pitches/season; ~</a:t>
            </a:r>
            <a:r>
              <a:rPr lang="en-US" sz="1500" b="1" dirty="0">
                <a:solidFill>
                  <a:schemeClr val="tx1"/>
                </a:solidFill>
              </a:rPr>
              <a:t>250</a:t>
            </a:r>
            <a:r>
              <a:rPr lang="en-US" sz="1500" dirty="0">
                <a:solidFill>
                  <a:schemeClr val="tx1"/>
                </a:solidFill>
              </a:rPr>
              <a:t> arm-injury events/season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Frequency: pitches aggregated per appearance; starters every ~5 days, irregular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Key variables: velocity, release side/height, extension, spin rate, pitch type, pitcher, date, game ID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Exogenous: rest days, 7/14/28-day pitch counts, temperature, month, starter vs. reliever</a:t>
            </a:r>
            <a:endParaRPr lang="en-US" sz="1800" dirty="0"/>
          </a:p>
          <a:p>
            <a:pPr marL="381000" indent="-381000">
              <a:spcBef>
                <a:spcPts val="500"/>
              </a:spcBef>
              <a:buSzPct val="100000"/>
              <a:buChar char="❏"/>
            </a:pPr>
            <a:r>
              <a:rPr lang="en-US" sz="1800" b="1" dirty="0">
                <a:solidFill>
                  <a:schemeClr val="tx1"/>
                </a:solidFill>
              </a:rPr>
              <a:t>Research suitability: </a:t>
            </a:r>
            <a:r>
              <a:rPr lang="en-US" sz="1800" b="1" dirty="0">
                <a:solidFill>
                  <a:schemeClr val="tx1"/>
                </a:solidFill>
                <a:highlight>
                  <a:srgbClr val="FFFF00"/>
                </a:highlight>
              </a:rPr>
              <a:t>long, open, pitch-level series linked to real injury labels, so warnings can be tested against what actually happened.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Dataset: MLB Statcast (2021–2026)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of analysis and variables</a:t>
            </a:r>
            <a:endParaRPr lang="en-US" sz="1600" dirty="0"/>
          </a:p>
        </p:txBody>
      </p:sp>
      <p:graphicFrame>
        <p:nvGraphicFramePr>
          <p:cNvPr id="10" name="Variab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24128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3840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Group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Velocity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Mean &amp; max fastball velocity per appearance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Velocity variability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SD of fastball velocity per appearance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Release point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Mean &amp; SD of horizontal / vertical release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Auxiliary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Spin rate, extension, in-game velocity decay slope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Workload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Rest days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Days since last appearance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Recent load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7/14/28-day cumulative pitches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ACWR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7-day ÷ 28-day average load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Bullets"/>
          <p:cNvSpPr txBox="1"/>
          <p:nvPr/>
        </p:nvSpPr>
        <p:spPr>
          <a:xfrm>
            <a:off x="228600" y="342900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600" b="1" dirty="0">
                <a:solidFill>
                  <a:schemeClr val="tx1"/>
                </a:solidFill>
              </a:rPr>
              <a:t>Unit</a:t>
            </a:r>
            <a:r>
              <a:rPr lang="en-US" sz="1600" dirty="0">
                <a:solidFill>
                  <a:schemeClr val="tx1"/>
                </a:solidFill>
              </a:rPr>
              <a:t>: pitcher × appearance; time axis = appearance index, rest days as a separate variable</a:t>
            </a:r>
            <a:endParaRPr lang="en-US" sz="16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600" b="1" dirty="0">
                <a:solidFill>
                  <a:schemeClr val="tx1"/>
                </a:solidFill>
              </a:rPr>
              <a:t>Injury event</a:t>
            </a:r>
            <a:r>
              <a:rPr lang="en-US" sz="1600" dirty="0">
                <a:solidFill>
                  <a:schemeClr val="tx1"/>
                </a:solidFill>
              </a:rPr>
              <a:t>: IL placement for an arm-related reason</a:t>
            </a:r>
            <a:endParaRPr lang="en-US" sz="16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600" dirty="0">
                <a:solidFill>
                  <a:schemeClr val="tx1"/>
                </a:solidFill>
              </a:rPr>
              <a:t>IL records are used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only for evaluation, never for training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Injury early warning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Approaches (1)</a:t>
            </a:r>
            <a:endParaRPr lang="en-US" sz="1600" dirty="0"/>
          </a:p>
        </p:txBody>
      </p:sp>
      <p:sp>
        <p:nvSpPr>
          <p:cNvPr id="4" name="Bullets"/>
          <p:cNvSpPr txBox="1"/>
          <p:nvPr/>
        </p:nvSpPr>
        <p:spPr>
          <a:xfrm>
            <a:off x="228600" y="987552"/>
            <a:ext cx="8686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❏"/>
            </a:pPr>
            <a:r>
              <a:rPr lang="en-US" sz="1800" b="1" dirty="0">
                <a:solidFill>
                  <a:schemeClr val="tx1"/>
                </a:solidFill>
              </a:rPr>
              <a:t>Approach: early warning as </a:t>
            </a:r>
            <a:r>
              <a:rPr lang="en-US" sz="1800" b="1" dirty="0">
                <a:solidFill>
                  <a:schemeClr val="tx1"/>
                </a:solidFill>
                <a:highlight>
                  <a:srgbClr val="FFFF00"/>
                </a:highlight>
              </a:rPr>
              <a:t>time-series anomaly detection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600" dirty="0">
                <a:solidFill>
                  <a:schemeClr val="tx1"/>
                </a:solidFill>
              </a:rPr>
              <a:t>Learn each pitcher's normal level from his past appearances; score how far the current appearance deviates</a:t>
            </a:r>
            <a:endParaRPr lang="en-US" sz="1800" dirty="0"/>
          </a:p>
          <a:p>
            <a:pPr marL="381000" indent="-381000">
              <a:spcBef>
                <a:spcPts val="500"/>
              </a:spcBef>
              <a:buSzPct val="100000"/>
              <a:buChar char="❏"/>
            </a:pPr>
            <a:r>
              <a:rPr lang="en-US" sz="1800" b="1" dirty="0">
                <a:solidFill>
                  <a:schemeClr val="tx1"/>
                </a:solidFill>
              </a:rPr>
              <a:t>Research questions</a:t>
            </a:r>
            <a:endParaRPr lang="en-US" sz="1800" dirty="0"/>
          </a:p>
          <a:p>
            <a:pPr lvl="2" marL="533400" indent="-177800">
              <a:spcBef>
                <a:spcPts val="100"/>
              </a:spcBef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RQ1.</a:t>
            </a:r>
            <a:r>
              <a:rPr lang="en-US" sz="1500" dirty="0">
                <a:solidFill>
                  <a:schemeClr val="tx1"/>
                </a:solidFill>
              </a:rPr>
              <a:t> Do velocity, its variability, and release point move away from a pitcher's own normal in the last few appearances before injury?</a:t>
            </a:r>
            <a:endParaRPr lang="en-US" sz="1800" dirty="0"/>
          </a:p>
          <a:p>
            <a:pPr lvl="2" marL="533400" indent="-177800">
              <a:spcBef>
                <a:spcPts val="100"/>
              </a:spcBef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RQ2.</a:t>
            </a:r>
            <a:r>
              <a:rPr lang="en-US" sz="1500" dirty="0">
                <a:solidFill>
                  <a:schemeClr val="tx1"/>
                </a:solidFill>
              </a:rPr>
              <a:t> How early and how accurately can the residual (actual − forecast velocity) detect injury?</a:t>
            </a:r>
            <a:endParaRPr lang="en-US" sz="1800" dirty="0"/>
          </a:p>
          <a:p>
            <a:pPr lvl="2" marL="533400" indent="-177800">
              <a:spcBef>
                <a:spcPts val="100"/>
              </a:spcBef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RQ3.</a:t>
            </a:r>
            <a:r>
              <a:rPr lang="en-US" sz="1500" dirty="0">
                <a:solidFill>
                  <a:schemeClr val="tx1"/>
                </a:solidFill>
              </a:rPr>
              <a:t> Do workload indicators (rest days, 7/14/28-day pitch counts) improve alert performance?</a:t>
            </a:r>
            <a:endParaRPr lang="en-US" sz="1800" dirty="0"/>
          </a:p>
          <a:p>
            <a:pPr lvl="2" marL="533400" indent="-177800">
              <a:spcBef>
                <a:spcPts val="100"/>
              </a:spcBef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RQ4.</a:t>
            </a:r>
            <a:r>
              <a:rPr lang="en-US" sz="1500" dirty="0">
                <a:solidFill>
                  <a:schemeClr val="tx1"/>
                </a:solidFill>
              </a:rPr>
              <a:t> Does signal strength differ for starters vs. relievers and hard throwers vs. others?</a:t>
            </a:r>
            <a:endParaRPr lang="en-US" sz="1800" dirty="0"/>
          </a:p>
          <a:p>
            <a:pPr marL="381000" indent="-381000">
              <a:spcBef>
                <a:spcPts val="500"/>
              </a:spcBef>
              <a:buSzPct val="100000"/>
              <a:buChar char="❏"/>
            </a:pPr>
            <a:r>
              <a:rPr lang="en-US" sz="1800" b="1" dirty="0">
                <a:solidFill>
                  <a:schemeClr val="tx1"/>
                </a:solidFill>
              </a:rPr>
              <a:t>Alert success</a:t>
            </a:r>
            <a:endParaRPr lang="en-US" sz="18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600" dirty="0">
                <a:solidFill>
                  <a:schemeClr val="tx1"/>
                </a:solidFill>
              </a:rPr>
              <a:t>Alert raised within the last 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K appearances before IL placement</a:t>
            </a:r>
            <a:r>
              <a:rPr lang="en-US" sz="1600" dirty="0">
                <a:solidFill>
                  <a:schemeClr val="tx1"/>
                </a:solidFill>
              </a:rPr>
              <a:t> (K = 5 candidate, following Mastroianni et al.)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Injury early warning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Approaches (2)</a:t>
            </a:r>
            <a:endParaRPr lang="en-US" sz="1600" dirty="0"/>
          </a:p>
        </p:txBody>
      </p:sp>
      <p:sp>
        <p:nvSpPr>
          <p:cNvPr id="4" name="Bullets"/>
          <p:cNvSpPr txBox="1"/>
          <p:nvPr/>
        </p:nvSpPr>
        <p:spPr>
          <a:xfrm>
            <a:off x="228600" y="987552"/>
            <a:ext cx="553212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buSzPct val="100000"/>
              <a:buChar char="❏"/>
            </a:pPr>
            <a:r>
              <a:rPr lang="en-US" sz="1700" b="1" dirty="0">
                <a:solidFill>
                  <a:schemeClr val="tx1"/>
                </a:solidFill>
              </a:rPr>
              <a:t>Model Selection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Baseline 1: Random score (chance level)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Baseline 2: Simple rule (velocity drops X mph below season average)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Baseline 3: Workload rule (ACWR outside ±33%)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Model 4: </a:t>
            </a:r>
            <a:r>
              <a:rPr lang="en-US" sz="1400" b="1" dirty="0">
                <a:solidFill>
                  <a:schemeClr val="tx1"/>
                </a:solidFill>
              </a:rPr>
              <a:t>EWMA</a:t>
            </a:r>
            <a:r>
              <a:rPr lang="en-US" sz="1400" dirty="0">
                <a:solidFill>
                  <a:schemeClr val="tx1"/>
                </a:solidFill>
              </a:rPr>
              <a:t> (cumulative detection of gradual standardized velocity drop)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b="1" dirty="0">
                <a:solidFill>
                  <a:schemeClr val="tx1"/>
                </a:solidFill>
              </a:rPr>
              <a:t>Model 5: ARIMAX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(expected velocity given rest days, temperature, ballpark; anomaly = residual)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Model 6: </a:t>
            </a:r>
            <a:r>
              <a:rPr lang="en-US" sz="1400" b="1" dirty="0">
                <a:solidFill>
                  <a:schemeClr val="tx1"/>
                </a:solidFill>
              </a:rPr>
              <a:t>Multivariate</a:t>
            </a:r>
            <a:r>
              <a:rPr lang="en-US" sz="1400" dirty="0">
                <a:solidFill>
                  <a:schemeClr val="tx1"/>
                </a:solidFill>
              </a:rPr>
              <a:t> (MEWMA, Isolation Forest): velocity + variability + release + workload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(Optional) LSTM autoencoder</a:t>
            </a:r>
            <a:endParaRPr lang="en-US" sz="1700" dirty="0"/>
          </a:p>
          <a:p>
            <a:pPr marL="381000" indent="-381000">
              <a:spcBef>
                <a:spcPts val="500"/>
              </a:spcBef>
              <a:buSzPct val="100000"/>
              <a:buChar char="❏"/>
            </a:pPr>
            <a:r>
              <a:rPr lang="en-US" sz="1700" b="1" dirty="0">
                <a:solidFill>
                  <a:schemeClr val="tx1"/>
                </a:solidFill>
              </a:rPr>
              <a:t>Evaluation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Time-ordered split: train </a:t>
            </a:r>
            <a:r>
              <a:rPr lang="en-US" sz="1400" b="1" dirty="0">
                <a:solidFill>
                  <a:schemeClr val="tx1"/>
                </a:solidFill>
              </a:rPr>
              <a:t>2021–2024</a:t>
            </a:r>
            <a:r>
              <a:rPr lang="en-US" sz="1400" dirty="0">
                <a:solidFill>
                  <a:schemeClr val="tx1"/>
                </a:solidFill>
              </a:rPr>
              <a:t>, validation </a:t>
            </a:r>
            <a:r>
              <a:rPr lang="en-US" sz="1400" b="1" dirty="0">
                <a:solidFill>
                  <a:schemeClr val="tx1"/>
                </a:solidFill>
              </a:rPr>
              <a:t>2025</a:t>
            </a:r>
            <a:r>
              <a:rPr lang="en-US" sz="1400" dirty="0">
                <a:solidFill>
                  <a:schemeClr val="tx1"/>
                </a:solidFill>
              </a:rPr>
              <a:t> (alert threshold), test </a:t>
            </a:r>
            <a:r>
              <a:rPr lang="en-US" sz="1400" b="1" dirty="0">
                <a:solidFill>
                  <a:schemeClr val="tx1"/>
                </a:solidFill>
              </a:rPr>
              <a:t>2026</a:t>
            </a:r>
            <a:endParaRPr lang="en-US" sz="17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dirty="0">
                <a:solidFill>
                  <a:schemeClr val="tx1"/>
                </a:solidFill>
              </a:rPr>
              <a:t>Subgroups: hard throwers vs. others, starters vs. relievers</a:t>
            </a:r>
            <a:endParaRPr lang="en-US" sz="1700" dirty="0"/>
          </a:p>
        </p:txBody>
      </p:sp>
      <p:graphicFrame>
        <p:nvGraphicFramePr>
          <p:cNvPr id="12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463040"/>
          <a:ext cx="68580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Velocity prediction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MAE, RMSE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Injury detection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Classification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AUROC, AUPRC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Early warning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Lead time (+ false alarms on healthy pitchers)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Injury early warning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Approaches (3): framework</a:t>
            </a:r>
            <a:endParaRPr lang="en-US" sz="1600" dirty="0"/>
          </a:p>
        </p:txBody>
      </p:sp>
      <p:sp>
        <p:nvSpPr>
          <p:cNvPr id="4" name="Input data"/>
          <p:cNvSpPr/>
          <p:nvPr/>
        </p:nvSpPr>
        <p:spPr>
          <a:xfrm>
            <a:off x="274320" y="1188720"/>
            <a:ext cx="1828800" cy="22402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Input data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Statcast pitches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+ MLB IL transactions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+ weather</a:t>
            </a:r>
            <a:endParaRPr lang="en-US" sz="1100" dirty="0"/>
          </a:p>
        </p:txBody>
      </p:sp>
      <p:sp>
        <p:nvSpPr>
          <p:cNvPr id="5" name="Arrow"/>
          <p:cNvSpPr/>
          <p:nvPr/>
        </p:nvSpPr>
        <p:spPr>
          <a:xfrm>
            <a:off x="2139696" y="2167128"/>
            <a:ext cx="292608" cy="292608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ppearance series"/>
          <p:cNvSpPr/>
          <p:nvPr/>
        </p:nvSpPr>
        <p:spPr>
          <a:xfrm>
            <a:off x="2468880" y="1188720"/>
            <a:ext cx="1828800" cy="22402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Appearance series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Per-pitcher velocity, variability, release point, by appearance index</a:t>
            </a:r>
            <a:endParaRPr lang="en-US" sz="1100" dirty="0"/>
          </a:p>
        </p:txBody>
      </p:sp>
      <p:sp>
        <p:nvSpPr>
          <p:cNvPr id="7" name="Arrow"/>
          <p:cNvSpPr/>
          <p:nvPr/>
        </p:nvSpPr>
        <p:spPr>
          <a:xfrm>
            <a:off x="4334256" y="2167128"/>
            <a:ext cx="292608" cy="292608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Models"/>
          <p:cNvSpPr/>
          <p:nvPr/>
        </p:nvSpPr>
        <p:spPr>
          <a:xfrm>
            <a:off x="4663440" y="1188720"/>
            <a:ext cx="1828800" cy="22402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Rules · EWMA · ARIMAX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MEWMA / Isolation Forest</a:t>
            </a:r>
            <a:endParaRPr lang="en-US" sz="1100" dirty="0"/>
          </a:p>
        </p:txBody>
      </p:sp>
      <p:sp>
        <p:nvSpPr>
          <p:cNvPr id="9" name="Arrow"/>
          <p:cNvSpPr/>
          <p:nvPr/>
        </p:nvSpPr>
        <p:spPr>
          <a:xfrm>
            <a:off x="6528816" y="2167128"/>
            <a:ext cx="292608" cy="292608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Output"/>
          <p:cNvSpPr/>
          <p:nvPr/>
        </p:nvSpPr>
        <p:spPr>
          <a:xfrm>
            <a:off x="6858000" y="1188720"/>
            <a:ext cx="1828800" cy="2240280"/>
          </a:xfrm>
          <a:prstGeom prst="roundRect">
            <a:avLst>
              <a:gd name="adj" fmla="val 9000"/>
            </a:avLst>
          </a:prstGeom>
          <a:solidFill>
            <a:schemeClr val="accent3"/>
          </a:solidFill>
          <a:ln w="22225">
            <a:solidFill>
              <a:schemeClr val="accent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Anomaly score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Injury warning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+ lead time</a:t>
            </a:r>
            <a:endParaRPr lang="en-US" sz="1100" dirty="0"/>
          </a:p>
        </p:txBody>
      </p:sp>
      <p:sp>
        <p:nvSpPr>
          <p:cNvPr id="11" name="Exogenous"/>
          <p:cNvSpPr/>
          <p:nvPr/>
        </p:nvSpPr>
        <p:spPr>
          <a:xfrm>
            <a:off x="2468880" y="3767328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Exogenous X: rest days · 7/14/28-day pitch counts · ACWR · temperature · month · starter/reliever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EDA of the dataset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Exploratory Data Analysis (1)</a:t>
            </a:r>
            <a:endParaRPr lang="en-US" sz="1600" dirty="0"/>
          </a:p>
        </p:txBody>
      </p:sp>
      <p:pic>
        <p:nvPicPr>
          <p:cNvPr id="4" name="Velocity by season" descr="/tmp/claude-0/-home-user-timeseries/2d02c38b-48df-5b9a-b0cc-ec9424e3cff2/scratchpad/figs/01_velocity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41832"/>
            <a:ext cx="4160520" cy="2331720"/>
          </a:xfrm>
          <a:prstGeom prst="rect">
            <a:avLst/>
          </a:prstGeom>
        </p:spPr>
      </p:pic>
      <p:pic>
        <p:nvPicPr>
          <p:cNvPr id="5" name="IL pitchers per year" descr="/tmp/claude-0/-home-user-timeseries/2d02c38b-48df-5b9a-b0cc-ec9424e3cff2/scratchpad/figs/02_il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41832"/>
            <a:ext cx="4160520" cy="233172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274320" y="32918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Annual four-seam velocity (left) and IL pitchers per year (right), 2021–2026 (own analysis)</a:t>
            </a:r>
            <a:endParaRPr lang="en-US" sz="1000" dirty="0"/>
          </a:p>
        </p:txBody>
      </p:sp>
      <p:sp>
        <p:nvSpPr>
          <p:cNvPr id="7" name="Bullets"/>
          <p:cNvSpPr txBox="1"/>
          <p:nvPr/>
        </p:nvSpPr>
        <p:spPr>
          <a:xfrm>
            <a:off x="228600" y="3584448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b="1" dirty="0">
                <a:solidFill>
                  <a:schemeClr val="tx1"/>
                </a:solidFill>
              </a:rPr>
              <a:t>Upward trend</a:t>
            </a:r>
            <a:r>
              <a:rPr lang="en-US" sz="1500" dirty="0">
                <a:solidFill>
                  <a:schemeClr val="tx1"/>
                </a:solidFill>
              </a:rPr>
              <a:t>: league four-seam velocity </a:t>
            </a:r>
            <a:r>
              <a:rPr lang="en-US" sz="1500" b="1" dirty="0">
                <a:solidFill>
                  <a:schemeClr val="tx1"/>
                </a:solidFill>
              </a:rPr>
              <a:t>93.69 → 94.77 mph</a:t>
            </a:r>
            <a:r>
              <a:rPr lang="en-US" sz="1500" dirty="0">
                <a:solidFill>
                  <a:schemeClr val="tx1"/>
                </a:solidFill>
              </a:rPr>
              <a:t> (+1.08) in 2021–2026; RHP +1.17, LHP +0.86 → </a:t>
            </a:r>
            <a:r>
              <a:rPr lang="en-US" sz="1500" dirty="0">
                <a:solidFill>
                  <a:schemeClr val="tx1"/>
                </a:solidFill>
                <a:highlight>
                  <a:srgbClr val="FFFF00"/>
                </a:highlight>
              </a:rPr>
              <a:t>need a pitcher-specific, detrended baseline</a:t>
            </a:r>
            <a:endParaRPr lang="en-US" sz="15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b="1" dirty="0">
                <a:solidFill>
                  <a:schemeClr val="tx1"/>
                </a:solidFill>
              </a:rPr>
              <a:t>Arm injuries are a large share</a:t>
            </a:r>
            <a:r>
              <a:rPr lang="en-US" sz="1500" dirty="0">
                <a:solidFill>
                  <a:schemeClr val="tx1"/>
                </a:solidFill>
              </a:rPr>
              <a:t>: arm-related IL pitchers </a:t>
            </a:r>
            <a:r>
              <a:rPr lang="en-US" sz="1500" b="1" dirty="0">
                <a:solidFill>
                  <a:schemeClr val="tx1"/>
                </a:solidFill>
              </a:rPr>
              <a:t>194–239 per year</a:t>
            </a:r>
            <a:r>
              <a:rPr lang="en-US" sz="1500" dirty="0">
                <a:solidFill>
                  <a:schemeClr val="tx1"/>
                </a:solidFill>
              </a:rPr>
              <a:t>, about </a:t>
            </a:r>
            <a:r>
              <a:rPr lang="en-US" sz="1500" b="1" dirty="0">
                <a:solidFill>
                  <a:schemeClr val="tx1"/>
                </a:solidFill>
              </a:rPr>
              <a:t>44% (2021) → 58–64% (2023–2026)</a:t>
            </a:r>
            <a:r>
              <a:rPr lang="en-US" sz="1500" dirty="0">
                <a:solidFill>
                  <a:schemeClr val="tx1"/>
                </a:solidFill>
              </a:rPr>
              <a:t> of all IL pitchers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EDA of the dataset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Exploratory Data Analysis (2)</a:t>
            </a:r>
            <a:endParaRPr lang="en-US" sz="1600" dirty="0"/>
          </a:p>
        </p:txBody>
      </p:sp>
      <p:pic>
        <p:nvPicPr>
          <p:cNvPr id="4" name="Pre-IL delta velocity" descr="/tmp/claude-0/-home-user-timeseries/2d02c38b-48df-5b9a-b0cc-ec9424e3cff2/scratchpad/figs/03_delta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932688"/>
            <a:ext cx="5943600" cy="2386584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274320" y="33375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Four-seam Δvelocity right before IL: injured vs. controls at the same date (bootstrap 2,000×)</a:t>
            </a:r>
            <a:endParaRPr lang="en-US" sz="1000" dirty="0"/>
          </a:p>
        </p:txBody>
      </p:sp>
      <p:sp>
        <p:nvSpPr>
          <p:cNvPr id="6" name="Bullets"/>
          <p:cNvSpPr txBox="1"/>
          <p:nvPr/>
        </p:nvSpPr>
        <p:spPr>
          <a:xfrm>
            <a:off x="228600" y="3611880"/>
            <a:ext cx="8686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Δvelocity = last appearance vs. average of previous 3 appearances</a:t>
            </a:r>
            <a:endParaRPr lang="en-US" sz="15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All IL: </a:t>
            </a:r>
            <a:r>
              <a:rPr lang="en-US" sz="1500" b="1" dirty="0">
                <a:solidFill>
                  <a:schemeClr val="tx1"/>
                </a:solidFill>
              </a:rPr>
              <a:t>−0.196 mph</a:t>
            </a:r>
            <a:r>
              <a:rPr lang="en-US" sz="1500" dirty="0">
                <a:solidFill>
                  <a:schemeClr val="tx1"/>
                </a:solidFill>
              </a:rPr>
              <a:t> vs. controls −0.003 → difference </a:t>
            </a:r>
            <a:r>
              <a:rPr lang="en-US" sz="1500" b="1" dirty="0">
                <a:solidFill>
                  <a:schemeClr val="tx1"/>
                </a:solidFill>
              </a:rPr>
              <a:t>−0.193</a:t>
            </a:r>
            <a:r>
              <a:rPr lang="en-US" sz="1500" dirty="0">
                <a:solidFill>
                  <a:schemeClr val="tx1"/>
                </a:solidFill>
              </a:rPr>
              <a:t> [95% CI −0.272, −0.114]</a:t>
            </a:r>
            <a:endParaRPr lang="en-US" sz="15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500" dirty="0">
                <a:solidFill>
                  <a:schemeClr val="tx1"/>
                </a:solidFill>
              </a:rPr>
              <a:t>Arm-related IL: </a:t>
            </a:r>
            <a:r>
              <a:rPr lang="en-US" sz="1500" b="1" dirty="0">
                <a:solidFill>
                  <a:schemeClr val="tx1"/>
                </a:solidFill>
              </a:rPr>
              <a:t>−0.261 mph</a:t>
            </a:r>
            <a:r>
              <a:rPr lang="en-US" sz="1500" dirty="0">
                <a:solidFill>
                  <a:schemeClr val="tx1"/>
                </a:solidFill>
              </a:rPr>
              <a:t> vs. controls +0.013 → difference </a:t>
            </a:r>
            <a:r>
              <a:rPr lang="en-US" sz="1500" b="1" dirty="0">
                <a:solidFill>
                  <a:schemeClr val="tx1"/>
                </a:solidFill>
              </a:rPr>
              <a:t>−0.274</a:t>
            </a:r>
            <a:r>
              <a:rPr lang="en-US" sz="1500" dirty="0">
                <a:solidFill>
                  <a:schemeClr val="tx1"/>
                </a:solidFill>
              </a:rPr>
              <a:t> [95% CI −0.392, −0.161] → </a:t>
            </a:r>
            <a:r>
              <a:rPr lang="en-US" sz="1500" dirty="0">
                <a:solidFill>
                  <a:schemeClr val="tx1"/>
                </a:solidFill>
                <a:highlight>
                  <a:srgbClr val="FFFF00"/>
                </a:highlight>
              </a:rPr>
              <a:t>a measurable pre-injury velocity drop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EDA of the dataset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Exploratory Data Analysis (3)</a:t>
            </a:r>
            <a:endParaRPr lang="en-US" sz="1600" dirty="0"/>
          </a:p>
        </p:txBody>
      </p:sp>
      <p:pic>
        <p:nvPicPr>
          <p:cNvPr id="4" name="Velocity histogram" descr="/tmp/claude-0/-home-user-timeseries/2d02c38b-48df-5b9a-b0cc-ec9424e3cff2/scratchpad/figs/07_velo_hist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572000" cy="2514600"/>
          </a:xfrm>
          <a:prstGeom prst="rect">
            <a:avLst/>
          </a:prstGeom>
        </p:spPr>
      </p:pic>
      <p:pic>
        <p:nvPicPr>
          <p:cNvPr id="5" name="Spin histogram" descr="/tmp/claude-0/-home-user-timeseries/2d02c38b-48df-5b9a-b0cc-ec9424e3cff2/scratchpad/figs/09_spin_hist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24712"/>
            <a:ext cx="3840480" cy="2304288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274320" y="341071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Distribution of four-seam Δvelocity (left) and Δspin rate (right): IL vs. controls (own analysis)</a:t>
            </a:r>
            <a:endParaRPr lang="en-US" sz="1000" dirty="0"/>
          </a:p>
        </p:txBody>
      </p:sp>
      <p:sp>
        <p:nvSpPr>
          <p:cNvPr id="7" name="Bullets"/>
          <p:cNvSpPr txBox="1"/>
          <p:nvPr/>
        </p:nvSpPr>
        <p:spPr>
          <a:xfrm>
            <a:off x="228600" y="3639312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b="1" dirty="0">
                <a:solidFill>
                  <a:schemeClr val="tx1"/>
                </a:solidFill>
              </a:rPr>
              <a:t>Velocity</a:t>
            </a:r>
            <a:r>
              <a:rPr lang="en-US" sz="1400" dirty="0">
                <a:solidFill>
                  <a:schemeClr val="tx1"/>
                </a:solidFill>
              </a:rPr>
              <a:t>: arm-related IL </a:t>
            </a:r>
            <a:r>
              <a:rPr lang="en-US" sz="1400" b="1" dirty="0">
                <a:solidFill>
                  <a:schemeClr val="tx1"/>
                </a:solidFill>
              </a:rPr>
              <a:t>163 down / 96 up (63% down)</a:t>
            </a:r>
            <a:r>
              <a:rPr lang="en-US" sz="1400" dirty="0">
                <a:solidFill>
                  <a:schemeClr val="tx1"/>
                </a:solidFill>
              </a:rPr>
              <a:t> vs. controls 235 / 290 (45% down)</a:t>
            </a:r>
            <a:endParaRPr lang="en-US" sz="1400" dirty="0"/>
          </a:p>
          <a:p>
            <a:pPr lvl="1" marL="609600" indent="-304800">
              <a:spcBef>
                <a:spcPts val="100"/>
              </a:spcBef>
              <a:buSzPct val="100000"/>
              <a:buChar char="❏"/>
            </a:pPr>
            <a:r>
              <a:rPr lang="en-US" sz="1400" b="1" dirty="0">
                <a:solidFill>
                  <a:schemeClr val="tx1"/>
                </a:solidFill>
              </a:rPr>
              <a:t>Spin rate</a:t>
            </a:r>
            <a:r>
              <a:rPr lang="en-US" sz="1400" dirty="0">
                <a:solidFill>
                  <a:schemeClr val="tx1"/>
                </a:solidFill>
              </a:rPr>
              <a:t>: arm-related IL 138 / 121 (53% down) vs. controls 265 / 260 (50% down) → weak signal, auxiliary only</a:t>
            </a:r>
            <a:endParaRPr lang="en-US" sz="1400" dirty="0"/>
          </a:p>
          <a:p>
            <a:pPr lvl="1" marL="457200" indent="-228600">
              <a:spcBef>
                <a:spcPts val="100"/>
              </a:spcBef>
              <a:buSzPct val="100000"/>
              <a:buChar char="➡"/>
            </a:pPr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Distributions overlap heavily: a single-feature threshold will cause many false alarms → combine velocity, variability, release, and workload; evaluate false alarms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5" type="title" hasCustomPrompt="1"/>
          </p:nvPr>
        </p:nvSpPr>
        <p:spPr>
          <a:xfrm>
            <a:off x="182880" y="45720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Expected Contributions</a:t>
            </a:r>
            <a:endParaRPr lang="en-US" sz="2200" dirty="0"/>
          </a:p>
        </p:txBody>
      </p:sp>
      <p:sp>
        <p:nvSpPr>
          <p:cNvPr id="3" name="Text 0"/>
          <p:cNvSpPr/>
          <p:nvPr>
            <p:ph idx="106" type="body" hasCustomPrompt="1"/>
          </p:nvPr>
        </p:nvSpPr>
        <p:spPr>
          <a:xfrm>
            <a:off x="274320" y="512064"/>
            <a:ext cx="621792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Expected Contributions</a:t>
            </a:r>
            <a:endParaRPr lang="en-US" sz="1600" dirty="0"/>
          </a:p>
        </p:txBody>
      </p:sp>
      <p:sp>
        <p:nvSpPr>
          <p:cNvPr id="4" name="Individualized Modeling"/>
          <p:cNvSpPr/>
          <p:nvPr/>
        </p:nvSpPr>
        <p:spPr>
          <a:xfrm>
            <a:off x="411480" y="1143000"/>
            <a:ext cx="4069080" cy="155448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Individualized Modeling</a:t>
            </a:r>
            <a:endParaRPr lang="en-US" sz="1100" dirty="0"/>
          </a:p>
          <a:p>
            <a:pPr algn="ctr"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Anomaly detection against each pitcher's own velocity level</a:t>
            </a:r>
            <a:endParaRPr lang="en-US" sz="1100" dirty="0"/>
          </a:p>
        </p:txBody>
      </p:sp>
      <p:sp>
        <p:nvSpPr>
          <p:cNvPr id="5" name="Temporal Pattern Analysis"/>
          <p:cNvSpPr/>
          <p:nvPr/>
        </p:nvSpPr>
        <p:spPr>
          <a:xfrm>
            <a:off x="4663440" y="1143000"/>
            <a:ext cx="4069080" cy="155448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Temporal Pattern 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velocity changes and how long anomalies persist before injury</a:t>
            </a:r>
            <a:endParaRPr lang="en-US" sz="1100" dirty="0"/>
          </a:p>
        </p:txBody>
      </p:sp>
      <p:sp>
        <p:nvSpPr>
          <p:cNvPr id="6" name="Workload Integration"/>
          <p:cNvSpPr/>
          <p:nvPr/>
        </p:nvSpPr>
        <p:spPr>
          <a:xfrm>
            <a:off x="411480" y="2971800"/>
            <a:ext cx="4069080" cy="1554480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Workload 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 days and ACWR as exogenous drivers</a:t>
            </a:r>
            <a:endParaRPr lang="en-US" sz="1100" dirty="0"/>
          </a:p>
        </p:txBody>
      </p:sp>
      <p:sp>
        <p:nvSpPr>
          <p:cNvPr id="7" name="Early Injury Detection"/>
          <p:cNvSpPr/>
          <p:nvPr/>
        </p:nvSpPr>
        <p:spPr>
          <a:xfrm>
            <a:off x="4663440" y="2971800"/>
            <a:ext cx="4069080" cy="1554480"/>
          </a:xfrm>
          <a:prstGeom prst="roundRect">
            <a:avLst>
              <a:gd name="adj" fmla="val 8824"/>
            </a:avLst>
          </a:prstGeom>
          <a:solidFill>
            <a:schemeClr val="accent3"/>
          </a:solidFill>
          <a:ln w="22225">
            <a:solidFill>
              <a:schemeClr val="accent2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Early Injury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whether warnings come before IL, with lead time and false-alarm rate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U IMC Proposal">
  <a:themeElements>
    <a:clrScheme name="HYU IMC Proposal">
      <a:dk1>
        <a:srgbClr val="000000"/>
      </a:dk1>
      <a:lt1>
        <a:srgbClr val="FFFFFF"/>
      </a:lt1>
      <a:dk2>
        <a:srgbClr val="0F2D5C"/>
      </a:dk2>
      <a:lt2>
        <a:srgbClr val="DCE6F2"/>
      </a:lt2>
      <a:accent1>
        <a:srgbClr val="2E6DB4"/>
      </a:accent1>
      <a:accent2>
        <a:srgbClr val="C0504D"/>
      </a:accent2>
      <a:accent3>
        <a:srgbClr val="F6D5D5"/>
      </a:accent3>
      <a:accent4>
        <a:srgbClr val="555555"/>
      </a:accent4>
      <a:accent5>
        <a:srgbClr val="666666"/>
      </a:accent5>
      <a:accent6>
        <a:srgbClr val="F2F2F2"/>
      </a:accent6>
      <a:hlink>
        <a:srgbClr val="2E6DB4"/>
      </a:hlink>
      <a:folHlink>
        <a:srgbClr val="0F2D5C"/>
      </a:folHlink>
    </a:clrScheme>
    <a:fontScheme name="HYU IMC Proposal">
      <a:majorFont>
        <a:latin typeface="Ubuntu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Ubuntu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Warning of Pitcher Arm Injuries from Pitch-Tracking Time Series</dc:title>
  <dc:subject>PptxGenJS Presentation</dc:subject>
  <dc:creator>PptxGenJS</dc:creator>
  <cp:lastModifiedBy>PptxGenJS</cp:lastModifiedBy>
  <cp:revision>1</cp:revision>
  <dcterms:created xsi:type="dcterms:W3CDTF">2026-10-23T07:42:30Z</dcterms:created>
  <dcterms:modified xsi:type="dcterms:W3CDTF">2026-10-23T07:42:30Z</dcterms:modified>
</cp:coreProperties>
</file>