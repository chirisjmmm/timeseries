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928e1890-35c4-2315-c442-d0603af358b2}">
          <p14:sldIdLst>
            <p14:sldId id="256"/>
          </p14:sldIdLst>
        </p14:section>
        <p14:section name="목차" id="{77464a19-286d-a561-8ee1-a17944b3322b}">
          <p14:sldIdLst>
            <p14:sldId id="257"/>
          </p14:sldIdLst>
        </p14:section>
        <p14:section name="연구 배경" id="{0b01861a-9e4a-a118-e4df-cddcc0d45e6b}">
          <p14:sldIdLst>
            <p14:sldId id="258"/>
            <p14:sldId id="259"/>
          </p14:sldIdLst>
        </p14:section>
        <p14:section name="선행 연구" id="{f2676fab-ecbf-960d-e934-085ad3671ae8}">
          <p14:sldIdLst>
            <p14:sldId id="260"/>
            <p14:sldId id="261"/>
            <p14:sldId id="262"/>
            <p14:sldId id="263"/>
          </p14:sldIdLst>
        </p14:section>
        <p14:section name="데이터" id="{10069f0f-1361-aacf-0069-b35e7e8df01e}">
          <p14:sldIdLst>
            <p14:sldId id="264"/>
            <p14:sldId id="265"/>
          </p14:sldIdLst>
        </p14:section>
        <p14:section name="방법론" id="{fd05e079-66b0-8ee8-f94d-f8fda3a61091}">
          <p14:sldIdLst>
            <p14:sldId id="266"/>
            <p14:sldId id="267"/>
            <p14:sldId id="268"/>
          </p14:sldIdLst>
        </p14:section>
        <p14:section name="EDA" id="{91987630-7283-9ce3-f076-f400125bb360}">
          <p14:sldIdLst>
            <p14:sldId id="269"/>
            <p14:sldId id="270"/>
            <p14:sldId id="271"/>
            <p14:sldId id="272"/>
            <p14:sldId id="273"/>
          </p14:sldIdLst>
        </p14:section>
        <p14:section name="Thank you" id="{d31857b3-c8bc-4800-3410-d94497cf5a7b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50" b="0" i="0" u="none" strike="noStrike">
                <a:solidFill>
                  <a:srgbClr val="000000"/>
                </a:solidFill>
                <a:latin typeface="+mn-lt"/>
              </a:defRPr>
            </a:pPr>
            <a:r>
              <a:rPr sz="1150" b="0" i="0" u="none" strike="noStrike">
                <a:solidFill>
                  <a:srgbClr val="000000"/>
                </a:solidFill>
                <a:latin typeface="+mn-lt"/>
              </a:rPr>
              <a:t>IL 등재 건수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IL 등재 건수</c:v>
                </c:pt>
              </c:strCache>
            </c:strRef>
          </c:tx>
          <c:spPr>
            <a:solidFill>
              <a:srgbClr val="9CA3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CA3A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504D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2005</c:v>
                  </c:pt>
                  <c:pt idx="1">
                    <c:v>2024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212</c:v>
                </c:pt>
                <c:pt idx="1">
                  <c:v>485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31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50" b="0" i="0" u="none" strike="noStrike">
                <a:solidFill>
                  <a:srgbClr val="000000"/>
                </a:solidFill>
                <a:latin typeface="+mn-lt"/>
              </a:defRPr>
            </a:pPr>
            <a:r>
              <a:rPr sz="1150" b="0" i="0" u="none" strike="noStrike">
                <a:solidFill>
                  <a:srgbClr val="000000"/>
                </a:solidFill>
                <a:latin typeface="+mn-lt"/>
              </a:rPr>
              <a:t>IL 체류 일수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IL 체류 일수</c:v>
                </c:pt>
              </c:strCache>
            </c:strRef>
          </c:tx>
          <c:spPr>
            <a:solidFill>
              <a:srgbClr val="9CA3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CA3A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504D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2005</c:v>
                  </c:pt>
                  <c:pt idx="1">
                    <c:v>2024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13666</c:v>
                </c:pt>
                <c:pt idx="1">
                  <c:v>32257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193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50" b="0" i="0" u="none" strike="noStrike">
                <a:solidFill>
                  <a:srgbClr val="000000"/>
                </a:solidFill>
                <a:latin typeface="+mn-lt"/>
              </a:defRPr>
            </a:pPr>
            <a:r>
              <a:rPr sz="1150" b="0" i="0" u="none" strike="noStrike">
                <a:solidFill>
                  <a:srgbClr val="000000"/>
                </a:solidFill>
                <a:latin typeface="+mn-lt"/>
              </a:rPr>
              <a:t>팔꿈치 부상 IL 일수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팔꿈치 부상 IL 일수</c:v>
                </c:pt>
              </c:strCache>
            </c:strRef>
          </c:tx>
          <c:spPr>
            <a:solidFill>
              <a:srgbClr val="9CA3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CA3A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504D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2005</c:v>
                  </c:pt>
                  <c:pt idx="1">
                    <c:v>2024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3940</c:v>
                </c:pt>
                <c:pt idx="1">
                  <c:v>12185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841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image" Target="../media/image-1002-3.png"/><Relationship Id="rId4" Type="http://schemas.openxmlformats.org/officeDocument/2006/relationships/image" Target="../media/image-1002-4.png"/><Relationship Id="rId5" Type="http://schemas.openxmlformats.org/officeDocument/2006/relationships/image" Target="../media/image-1002-5.png"/><Relationship Id="rId6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image" Target="../media/image-1003-3.png"/><Relationship Id="rId4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imeseries/2d02c38b-48df-5b9a-b0cc-ec9424e3cff2/scratchpad/build/cover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777240"/>
          </a:xfrm>
          <a:prstGeom prst="rect">
            <a:avLst/>
          </a:prstGeom>
        </p:spPr>
      </p:pic>
      <p:pic>
        <p:nvPicPr>
          <p:cNvPr id="3" name="Image 1" descr="/tmp/claude-0/-home-user-timeseries/2d02c38b-48df-5b9a-b0cc-ec9424e3cff2/scratchpad/build/cover_fa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77240"/>
            <a:ext cx="9144000" cy="457200"/>
          </a:xfrm>
          <a:prstGeom prst="rect">
            <a:avLst/>
          </a:prstGeom>
        </p:spPr>
      </p:pic>
      <p:pic>
        <p:nvPicPr>
          <p:cNvPr id="4" name="Image 2" descr="/tmp/claude-0/-home-user-timeseries/2d02c38b-48df-5b9a-b0cc-ec9424e3cff2/scratchpad/build/cover_b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15184"/>
            <a:ext cx="9144000" cy="118872"/>
          </a:xfrm>
          <a:prstGeom prst="rect">
            <a:avLst/>
          </a:prstGeom>
        </p:spPr>
      </p:pic>
      <p:pic>
        <p:nvPicPr>
          <p:cNvPr id="5" name="Image 3" descr="/tmp/claude-0/-home-user-timeseries/2d02c38b-48df-5b9a-b0cc-ec9424e3cff2/scratchpad/build/cover_bar_fad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734056"/>
            <a:ext cx="9144000" cy="137160"/>
          </a:xfrm>
          <a:prstGeom prst="rect">
            <a:avLst/>
          </a:prstGeom>
        </p:spPr>
      </p:pic>
      <p:pic>
        <p:nvPicPr>
          <p:cNvPr id="6" name="Image 4" descr="/tmp/claude-0/-home-user-timeseries/2d02c38b-48df-5b9a-b0cc-ec9424e3cff2/scratchpad/build/foo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08753"/>
            <a:ext cx="9144000" cy="34747"/>
          </a:xfrm>
          <a:prstGeom prst="rect">
            <a:avLst/>
          </a:prstGeom>
        </p:spPr>
      </p:pic>
      <p:sp>
        <p:nvSpPr>
          <p:cNvPr id="7" name="Text 0"/>
          <p:cNvSpPr/>
          <p:nvPr>
            <p:ph idx="105" type="title" hasCustomPrompt="1"/>
          </p:nvPr>
        </p:nvSpPr>
        <p:spPr>
          <a:xfrm>
            <a:off x="457200" y="1417320"/>
            <a:ext cx="822960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32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914400" y="3063240"/>
            <a:ext cx="731520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15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imeseries/2d02c38b-48df-5b9a-b0cc-ec9424e3cff2/scratchpad/logos/footba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512064"/>
            <a:ext cx="6537960" cy="323698"/>
          </a:xfrm>
          <a:prstGeom prst="rect">
            <a:avLst/>
          </a:prstGeom>
        </p:spPr>
      </p:pic>
      <p:pic>
        <p:nvPicPr>
          <p:cNvPr id="3" name="Image 1" descr="/tmp/claude-0/-home-user-timeseries/2d02c38b-48df-5b9a-b0cc-ec9424e3cff2/scratchpad/build/ru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41248"/>
            <a:ext cx="8503920" cy="32004"/>
          </a:xfrm>
          <a:prstGeom prst="rect">
            <a:avLst/>
          </a:prstGeom>
        </p:spPr>
      </p:pic>
      <p:pic>
        <p:nvPicPr>
          <p:cNvPr id="4" name="Image 2" descr="/tmp/claude-0/-home-user-timeseries/2d02c38b-48df-5b9a-b0cc-ec9424e3cff2/scratchpad/build/foo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08753"/>
            <a:ext cx="9144000" cy="34747"/>
          </a:xfrm>
          <a:prstGeom prst="rect">
            <a:avLst/>
          </a:prstGeom>
        </p:spPr>
      </p:pic>
      <p:sp>
        <p:nvSpPr>
          <p:cNvPr id="5" name="Text 0"/>
          <p:cNvSpPr/>
          <p:nvPr>
            <p:ph idx="103" type="title" hasCustomPrompt="1"/>
          </p:nvPr>
        </p:nvSpPr>
        <p:spPr>
          <a:xfrm>
            <a:off x="182880" y="45720"/>
            <a:ext cx="4206240" cy="42062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274320" y="512064"/>
            <a:ext cx="6217920" cy="32369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828032"/>
            <a:ext cx="6858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828032"/>
            <a:ext cx="6858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5" type="title" hasCustomPrompt="1"/>
          </p:nvPr>
        </p:nvSpPr>
        <p:spPr>
          <a:xfrm>
            <a:off x="457200" y="1417320"/>
            <a:ext cx="822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투구 트래킹 시계열 기반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투수 부상 조기 경보</a:t>
            </a:r>
            <a:endParaRPr lang="en-US" sz="3200" dirty="0"/>
          </a:p>
        </p:txBody>
      </p:sp>
      <p:sp>
        <p:nvSpPr>
          <p:cNvPr id="3" name="Text 0"/>
          <p:cNvSpPr/>
          <p:nvPr>
            <p:ph idx="106" type="body" hasCustomPrompt="1"/>
          </p:nvPr>
        </p:nvSpPr>
        <p:spPr>
          <a:xfrm>
            <a:off x="914400" y="3063240"/>
            <a:ext cx="7315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MLB Statcast 2021–2026 정규시즌</a:t>
            </a:r>
            <a:endParaRPr lang="en-US" sz="15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2026.10.27</a:t>
            </a:r>
            <a:endParaRPr lang="en-US" sz="1500" dirty="0"/>
          </a:p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데이터사이언스전공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김소연 · 정민서 · 강동한 · 최민석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3" type="title" hasCustomPrompt="1"/>
          </p:nvPr>
        </p:nvSpPr>
        <p:spPr>
          <a:xfrm>
            <a:off x="182880" y="45720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목차</a:t>
            </a:r>
            <a:endParaRPr lang="en-US" sz="2200" dirty="0"/>
          </a:p>
        </p:txBody>
      </p:sp>
      <p:sp>
        <p:nvSpPr>
          <p:cNvPr id="3" name="Text 0"/>
          <p:cNvSpPr/>
          <p:nvPr>
            <p:ph idx="104" type="body" hasCustomPrompt="1"/>
          </p:nvPr>
        </p:nvSpPr>
        <p:spPr>
          <a:xfrm>
            <a:off x="274320" y="512064"/>
            <a:ext cx="6217920" cy="3236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Contents</a:t>
            </a:r>
            <a:endParaRPr lang="en-US" sz="1600" dirty="0"/>
          </a:p>
        </p:txBody>
      </p:sp>
      <p:sp>
        <p:nvSpPr>
          <p:cNvPr id="4" name="Agenda number 1"/>
          <p:cNvSpPr txBox="1"/>
          <p:nvPr/>
        </p:nvSpPr>
        <p:spPr>
          <a:xfrm>
            <a:off x="548640" y="1097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01</a:t>
            </a:r>
            <a:endParaRPr lang="en-US" sz="2000" dirty="0"/>
          </a:p>
        </p:txBody>
      </p:sp>
      <p:sp>
        <p:nvSpPr>
          <p:cNvPr id="5" name="Agenda item 1"/>
          <p:cNvSpPr txBox="1"/>
          <p:nvPr/>
        </p:nvSpPr>
        <p:spPr>
          <a:xfrm>
            <a:off x="1188720" y="1097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연구 배경</a:t>
            </a:r>
            <a:r>
              <a:rPr lang="en-US" sz="1250" dirty="0">
                <a:solidFill>
                  <a:schemeClr val="accent5"/>
                </a:solidFill>
              </a:rPr>
              <a:t>   문제 정의, 투수 부상 현황, 시계열로 보는 이유</a:t>
            </a:r>
            <a:endParaRPr lang="en-US" sz="1800" dirty="0"/>
          </a:p>
        </p:txBody>
      </p:sp>
      <p:sp>
        <p:nvSpPr>
          <p:cNvPr id="6" name="Agenda rule light"/>
          <p:cNvSpPr/>
          <p:nvPr/>
        </p:nvSpPr>
        <p:spPr>
          <a:xfrm>
            <a:off x="548640" y="1719072"/>
            <a:ext cx="80467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7" name="Agenda page 1"/>
          <p:cNvSpPr txBox="1"/>
          <p:nvPr/>
        </p:nvSpPr>
        <p:spPr>
          <a:xfrm>
            <a:off x="7498080" y="10972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p. 3–4</a:t>
            </a:r>
            <a:endParaRPr lang="en-US" sz="1400" dirty="0"/>
          </a:p>
        </p:txBody>
      </p:sp>
      <p:sp>
        <p:nvSpPr>
          <p:cNvPr id="8" name="Agenda number 2"/>
          <p:cNvSpPr txBox="1"/>
          <p:nvPr/>
        </p:nvSpPr>
        <p:spPr>
          <a:xfrm>
            <a:off x="54864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02</a:t>
            </a:r>
            <a:endParaRPr lang="en-US" sz="2000" dirty="0"/>
          </a:p>
        </p:txBody>
      </p:sp>
      <p:sp>
        <p:nvSpPr>
          <p:cNvPr id="9" name="Agenda item 2"/>
          <p:cNvSpPr txBox="1"/>
          <p:nvPr/>
        </p:nvSpPr>
        <p:spPr>
          <a:xfrm>
            <a:off x="1188720" y="18288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선행 연구</a:t>
            </a:r>
            <a:r>
              <a:rPr lang="en-US" sz="1250" dirty="0">
                <a:solidFill>
                  <a:schemeClr val="accent5"/>
                </a:solidFill>
              </a:rPr>
              <a:t>   4개 주제의 관련 연구, 한계와 본 연구의 차별점</a:t>
            </a:r>
            <a:endParaRPr lang="en-US" sz="1800" dirty="0"/>
          </a:p>
        </p:txBody>
      </p:sp>
      <p:sp>
        <p:nvSpPr>
          <p:cNvPr id="10" name="Agenda rule light"/>
          <p:cNvSpPr/>
          <p:nvPr/>
        </p:nvSpPr>
        <p:spPr>
          <a:xfrm>
            <a:off x="548640" y="2450592"/>
            <a:ext cx="80467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1" name="Agenda page 2"/>
          <p:cNvSpPr txBox="1"/>
          <p:nvPr/>
        </p:nvSpPr>
        <p:spPr>
          <a:xfrm>
            <a:off x="7498080" y="18288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p. 5–8</a:t>
            </a:r>
            <a:endParaRPr lang="en-US" sz="1400" dirty="0"/>
          </a:p>
        </p:txBody>
      </p:sp>
      <p:sp>
        <p:nvSpPr>
          <p:cNvPr id="12" name="Agenda number 3"/>
          <p:cNvSpPr txBox="1"/>
          <p:nvPr/>
        </p:nvSpPr>
        <p:spPr>
          <a:xfrm>
            <a:off x="548640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03</a:t>
            </a:r>
            <a:endParaRPr lang="en-US" sz="2000" dirty="0"/>
          </a:p>
        </p:txBody>
      </p:sp>
      <p:sp>
        <p:nvSpPr>
          <p:cNvPr id="13" name="Agenda item 3"/>
          <p:cNvSpPr txBox="1"/>
          <p:nvPr/>
        </p:nvSpPr>
        <p:spPr>
          <a:xfrm>
            <a:off x="1188720" y="256032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데이터</a:t>
            </a:r>
            <a:r>
              <a:rPr lang="en-US" sz="1250" dirty="0">
                <a:solidFill>
                  <a:schemeClr val="accent5"/>
                </a:solidFill>
              </a:rPr>
              <a:t>   MLB Statcast 2021–2026, 분석 단위와 변수</a:t>
            </a:r>
            <a:endParaRPr lang="en-US" sz="1800" dirty="0"/>
          </a:p>
        </p:txBody>
      </p:sp>
      <p:sp>
        <p:nvSpPr>
          <p:cNvPr id="14" name="Agenda rule light"/>
          <p:cNvSpPr/>
          <p:nvPr/>
        </p:nvSpPr>
        <p:spPr>
          <a:xfrm>
            <a:off x="548640" y="3182112"/>
            <a:ext cx="80467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5" name="Agenda page 3"/>
          <p:cNvSpPr txBox="1"/>
          <p:nvPr/>
        </p:nvSpPr>
        <p:spPr>
          <a:xfrm>
            <a:off x="7498080" y="25603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p. 9–10</a:t>
            </a:r>
            <a:endParaRPr lang="en-US" sz="1400" dirty="0"/>
          </a:p>
        </p:txBody>
      </p:sp>
      <p:sp>
        <p:nvSpPr>
          <p:cNvPr id="16" name="Agenda number 4"/>
          <p:cNvSpPr txBox="1"/>
          <p:nvPr/>
        </p:nvSpPr>
        <p:spPr>
          <a:xfrm>
            <a:off x="548640" y="3291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04</a:t>
            </a:r>
            <a:endParaRPr lang="en-US" sz="2000" dirty="0"/>
          </a:p>
        </p:txBody>
      </p:sp>
      <p:sp>
        <p:nvSpPr>
          <p:cNvPr id="17" name="Agenda item 4"/>
          <p:cNvSpPr txBox="1"/>
          <p:nvPr/>
        </p:nvSpPr>
        <p:spPr>
          <a:xfrm>
            <a:off x="1188720" y="329184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방법론</a:t>
            </a:r>
            <a:r>
              <a:rPr lang="en-US" sz="1250" dirty="0">
                <a:solidFill>
                  <a:schemeClr val="accent5"/>
                </a:solidFill>
              </a:rPr>
              <a:t>   연구 질문, 프레임워크, 분할·모델·평가</a:t>
            </a:r>
            <a:endParaRPr lang="en-US" sz="1800" dirty="0"/>
          </a:p>
        </p:txBody>
      </p:sp>
      <p:sp>
        <p:nvSpPr>
          <p:cNvPr id="18" name="Agenda rule light"/>
          <p:cNvSpPr/>
          <p:nvPr/>
        </p:nvSpPr>
        <p:spPr>
          <a:xfrm>
            <a:off x="548640" y="3913632"/>
            <a:ext cx="80467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9" name="Agenda page 4"/>
          <p:cNvSpPr txBox="1"/>
          <p:nvPr/>
        </p:nvSpPr>
        <p:spPr>
          <a:xfrm>
            <a:off x="7498080" y="3291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p. 11–13</a:t>
            </a:r>
            <a:endParaRPr lang="en-US" sz="1400" dirty="0"/>
          </a:p>
        </p:txBody>
      </p:sp>
      <p:sp>
        <p:nvSpPr>
          <p:cNvPr id="20" name="Agenda number 5"/>
          <p:cNvSpPr txBox="1"/>
          <p:nvPr/>
        </p:nvSpPr>
        <p:spPr>
          <a:xfrm>
            <a:off x="548640" y="4023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05</a:t>
            </a:r>
            <a:endParaRPr lang="en-US" sz="2000" dirty="0"/>
          </a:p>
        </p:txBody>
      </p:sp>
      <p:sp>
        <p:nvSpPr>
          <p:cNvPr id="21" name="Agenda item 5"/>
          <p:cNvSpPr txBox="1"/>
          <p:nvPr/>
        </p:nvSpPr>
        <p:spPr>
          <a:xfrm>
            <a:off x="1188720" y="40233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EDA</a:t>
            </a:r>
            <a:r>
              <a:rPr lang="en-US" sz="1250" dirty="0">
                <a:solidFill>
                  <a:schemeClr val="accent5"/>
                </a:solidFill>
              </a:rPr>
              <a:t>   구속 추세, 부상 부위, IL 직전 구속·회전수 변화</a:t>
            </a:r>
            <a:endParaRPr lang="en-US" sz="1800" dirty="0"/>
          </a:p>
        </p:txBody>
      </p:sp>
      <p:sp>
        <p:nvSpPr>
          <p:cNvPr id="22" name="Agenda rule light"/>
          <p:cNvSpPr/>
          <p:nvPr/>
        </p:nvSpPr>
        <p:spPr>
          <a:xfrm>
            <a:off x="548640" y="4645152"/>
            <a:ext cx="80467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3" name="Agenda page 5"/>
          <p:cNvSpPr txBox="1"/>
          <p:nvPr/>
        </p:nvSpPr>
        <p:spPr>
          <a:xfrm>
            <a:off x="7498080" y="402336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p. 14–18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828032"/>
            <a:ext cx="6858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3" type="title" hasCustomPrompt="1"/>
          </p:nvPr>
        </p:nvSpPr>
        <p:spPr>
          <a:xfrm>
            <a:off x="182880" y="45720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연구 배경</a:t>
            </a:r>
            <a:endParaRPr lang="en-US" sz="2200" dirty="0"/>
          </a:p>
        </p:txBody>
      </p:sp>
      <p:sp>
        <p:nvSpPr>
          <p:cNvPr id="3" name="Text 0"/>
          <p:cNvSpPr/>
          <p:nvPr>
            <p:ph idx="104" type="body" hasCustomPrompt="1"/>
          </p:nvPr>
        </p:nvSpPr>
        <p:spPr>
          <a:xfrm>
            <a:off x="274320" y="512064"/>
            <a:ext cx="6217920" cy="3236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문제 정의: 무엇을, 왜 분석하는가</a:t>
            </a:r>
            <a:endParaRPr lang="en-US" sz="1600" dirty="0"/>
          </a:p>
        </p:txBody>
      </p:sp>
      <p:sp>
        <p:nvSpPr>
          <p:cNvPr id="4" name="Section tracker 1"/>
          <p:cNvSpPr/>
          <p:nvPr/>
        </p:nvSpPr>
        <p:spPr>
          <a:xfrm>
            <a:off x="4791456" y="137160"/>
            <a:ext cx="804672" cy="246888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연구 배경</a:t>
            </a:r>
            <a:endParaRPr lang="en-US" sz="900" dirty="0"/>
          </a:p>
        </p:txBody>
      </p:sp>
      <p:sp>
        <p:nvSpPr>
          <p:cNvPr id="5" name="Section tracker 2"/>
          <p:cNvSpPr/>
          <p:nvPr/>
        </p:nvSpPr>
        <p:spPr>
          <a:xfrm>
            <a:off x="5632704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선행 연구</a:t>
            </a:r>
            <a:endParaRPr lang="en-US" sz="900" dirty="0"/>
          </a:p>
        </p:txBody>
      </p:sp>
      <p:sp>
        <p:nvSpPr>
          <p:cNvPr id="6" name="Section tracker 3"/>
          <p:cNvSpPr/>
          <p:nvPr/>
        </p:nvSpPr>
        <p:spPr>
          <a:xfrm>
            <a:off x="6473952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데이터</a:t>
            </a:r>
            <a:endParaRPr lang="en-US" sz="900" dirty="0"/>
          </a:p>
        </p:txBody>
      </p:sp>
      <p:sp>
        <p:nvSpPr>
          <p:cNvPr id="7" name="Section tracker 4"/>
          <p:cNvSpPr/>
          <p:nvPr/>
        </p:nvSpPr>
        <p:spPr>
          <a:xfrm>
            <a:off x="7315200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방법론</a:t>
            </a:r>
            <a:endParaRPr lang="en-US" sz="900" dirty="0"/>
          </a:p>
        </p:txBody>
      </p:sp>
      <p:sp>
        <p:nvSpPr>
          <p:cNvPr id="8" name="Section tracker 5"/>
          <p:cNvSpPr/>
          <p:nvPr/>
        </p:nvSpPr>
        <p:spPr>
          <a:xfrm>
            <a:off x="8156448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EDA</a:t>
            </a:r>
            <a:endParaRPr lang="en-US" sz="900" dirty="0"/>
          </a:p>
        </p:txBody>
      </p:sp>
      <p:sp>
        <p:nvSpPr>
          <p:cNvPr id="9" name="Problem statement"/>
          <p:cNvSpPr/>
          <p:nvPr/>
        </p:nvSpPr>
        <p:spPr>
          <a:xfrm>
            <a:off x="274320" y="978408"/>
            <a:ext cx="8595360" cy="530352"/>
          </a:xfrm>
          <a:prstGeom prst="rect">
            <a:avLst/>
          </a:prstGeom>
          <a:noFill/>
          <a:ln w="9525">
            <a:solidFill>
              <a:srgbClr val="000000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분석 목표  </a:t>
            </a:r>
            <a:r>
              <a:rPr lang="en-US" sz="1300" dirty="0">
                <a:solidFill>
                  <a:schemeClr val="tx1"/>
                </a:solidFill>
              </a:rPr>
              <a:t>투수별 등판 단위 구속·구속 변동성·릴리스 포인트 시계열에서 '평소와 다른 변화'를 감지해, 팔 부상으로 IL에 오르기 전에 경보를 낸다</a:t>
            </a:r>
            <a:endParaRPr lang="en-US" sz="1300" dirty="0"/>
          </a:p>
        </p:txBody>
      </p:sp>
      <p:graphicFrame>
        <p:nvGraphicFramePr>
          <p:cNvPr id="10" name="Chart IL 등재 건수" descr=""/>
          <p:cNvGraphicFramePr/>
          <p:nvPr/>
        </p:nvGraphicFramePr>
        <p:xfrm>
          <a:off x="274320" y="1572768"/>
          <a:ext cx="2798064" cy="1463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1" name="Chart IL 체류 일수" descr=""/>
          <p:cNvGraphicFramePr/>
          <p:nvPr/>
        </p:nvGraphicFramePr>
        <p:xfrm>
          <a:off x="3172968" y="1572768"/>
          <a:ext cx="2798064" cy="1463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2" name="Chart 팔꿈치 부상 IL 일수" descr=""/>
          <p:cNvGraphicFramePr/>
          <p:nvPr/>
        </p:nvGraphicFramePr>
        <p:xfrm>
          <a:off x="6071616" y="1572768"/>
          <a:ext cx="2798064" cy="1463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Caption"/>
          <p:cNvSpPr txBox="1"/>
          <p:nvPr/>
        </p:nvSpPr>
        <p:spPr>
          <a:xfrm>
            <a:off x="274320" y="3035808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MLB 투수 부상 추이, 2005년 vs 2024년 (AP 보도)</a:t>
            </a:r>
            <a:endParaRPr lang="en-US" sz="950" dirty="0"/>
          </a:p>
        </p:txBody>
      </p:sp>
      <p:sp>
        <p:nvSpPr>
          <p:cNvPr id="14" name="Bullets"/>
          <p:cNvSpPr txBox="1"/>
          <p:nvPr/>
        </p:nvSpPr>
        <p:spPr>
          <a:xfrm>
            <a:off x="228600" y="3310128"/>
            <a:ext cx="8686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558800" indent="-279400">
              <a:spcBef>
                <a:spcPts val="300"/>
              </a:spcBef>
              <a:buSzPct val="100000"/>
              <a:buChar char="❏"/>
            </a:pPr>
            <a:r>
              <a:rPr lang="en-US" sz="1300" dirty="0">
                <a:solidFill>
                  <a:schemeClr val="tx1"/>
                </a:solidFill>
              </a:rPr>
              <a:t>IL 등재 </a:t>
            </a:r>
            <a:r>
              <a:rPr lang="en-US" sz="1300" b="1" dirty="0">
                <a:solidFill>
                  <a:schemeClr val="tx1"/>
                </a:solidFill>
              </a:rPr>
              <a:t>212건 → 485건</a:t>
            </a:r>
            <a:r>
              <a:rPr lang="en-US" sz="1300" dirty="0">
                <a:solidFill>
                  <a:schemeClr val="tx1"/>
                </a:solidFill>
              </a:rPr>
              <a:t>, IL 체류 일수 </a:t>
            </a:r>
            <a:r>
              <a:rPr lang="en-US" sz="1300" b="1" dirty="0">
                <a:solidFill>
                  <a:schemeClr val="tx1"/>
                </a:solidFill>
              </a:rPr>
              <a:t>13,666일 → 32,257일</a:t>
            </a:r>
            <a:r>
              <a:rPr lang="en-US" sz="1300" dirty="0">
                <a:solidFill>
                  <a:schemeClr val="tx1"/>
                </a:solidFill>
              </a:rPr>
              <a:t>. 팔꿈치 부상 IL 일수는 약 </a:t>
            </a:r>
            <a:r>
              <a:rPr lang="en-US" sz="1300" b="1" dirty="0">
                <a:solidFill>
                  <a:schemeClr val="tx1"/>
                </a:solidFill>
              </a:rPr>
              <a:t>3배</a:t>
            </a:r>
            <a:r>
              <a:rPr lang="en-US" sz="1300" dirty="0">
                <a:solidFill>
                  <a:schemeClr val="tx1"/>
                </a:solidFill>
              </a:rPr>
              <a:t> (3,940 → 12,185일)</a:t>
            </a:r>
            <a:endParaRPr lang="en-US" sz="1300" dirty="0"/>
          </a:p>
          <a:p>
            <a:pPr lvl="1" marL="558800" indent="-279400">
              <a:spcBef>
                <a:spcPts val="300"/>
              </a:spcBef>
              <a:buSzPct val="100000"/>
              <a:buChar char="❏"/>
            </a:pPr>
            <a:r>
              <a:rPr lang="en-US" sz="1300" dirty="0">
                <a:solidFill>
                  <a:schemeClr val="tx1"/>
                </a:solidFill>
              </a:rPr>
              <a:t>2015–2025년 어깨·팔꿈치 부상: 투수 </a:t>
            </a:r>
            <a:r>
              <a:rPr lang="en-US" sz="1300" b="1" dirty="0">
                <a:solidFill>
                  <a:schemeClr val="tx1"/>
                </a:solidFill>
              </a:rPr>
              <a:t>1,122명</a:t>
            </a:r>
            <a:r>
              <a:rPr lang="en-US" sz="1300" dirty="0">
                <a:solidFill>
                  <a:schemeClr val="tx1"/>
                </a:solidFill>
              </a:rPr>
              <a:t>, IL 등재 </a:t>
            </a:r>
            <a:r>
              <a:rPr lang="en-US" sz="1300" b="1" dirty="0">
                <a:solidFill>
                  <a:schemeClr val="tx1"/>
                </a:solidFill>
              </a:rPr>
              <a:t>2,365건</a:t>
            </a:r>
            <a:r>
              <a:rPr lang="en-US" sz="1300" dirty="0">
                <a:solidFill>
                  <a:schemeClr val="tx1"/>
                </a:solidFill>
              </a:rPr>
              <a:t>, 급여 손실 약 </a:t>
            </a:r>
            <a:r>
              <a:rPr lang="en-US" sz="1300" b="1" dirty="0">
                <a:solidFill>
                  <a:schemeClr val="tx1"/>
                </a:solidFill>
              </a:rPr>
              <a:t>33억 3,000만 달러</a:t>
            </a:r>
            <a:r>
              <a:rPr lang="en-US" sz="1300" dirty="0">
                <a:solidFill>
                  <a:schemeClr val="tx1"/>
                </a:solidFill>
              </a:rPr>
              <a:t> (Dillon et al., OJSM)</a:t>
            </a:r>
            <a:endParaRPr lang="en-US" sz="1300" dirty="0"/>
          </a:p>
          <a:p>
            <a:pPr lvl="1" marL="558800" indent="-279400">
              <a:spcBef>
                <a:spcPts val="300"/>
              </a:spcBef>
              <a:buSzPct val="100000"/>
              <a:buChar char="❏"/>
            </a:pPr>
            <a:r>
              <a:rPr lang="en-US" sz="1300" dirty="0">
                <a:solidFill>
                  <a:schemeClr val="tx1"/>
                </a:solidFill>
              </a:rPr>
              <a:t>부상이 확인되면 이미 손실이 생긴 뒤다. 핵심은 '누가 위험한가'보다 </a:t>
            </a:r>
            <a:r>
              <a:rPr lang="en-US" sz="1300" b="1" dirty="0">
                <a:solidFill>
                  <a:schemeClr val="tx1"/>
                </a:solidFill>
              </a:rPr>
              <a:t>'언제 쉬게 할 것인가'</a:t>
            </a:r>
            <a:endParaRPr lang="en-US" sz="1300" dirty="0"/>
          </a:p>
          <a:p>
            <a:pPr lvl="1" marL="558800" indent="-279400">
              <a:spcBef>
                <a:spcPts val="300"/>
              </a:spcBef>
              <a:buSzPct val="100000"/>
              <a:buChar char="❏"/>
            </a:pPr>
            <a:r>
              <a:rPr lang="en-US" sz="1300" dirty="0">
                <a:solidFill>
                  <a:schemeClr val="tx1"/>
                </a:solidFill>
              </a:rPr>
              <a:t>징후를 미리 잡으면 등판 간격 조정, 투구 부하 관리, 휴식 부여를 검토할 수 있다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828032"/>
            <a:ext cx="6858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3" type="title" hasCustomPrompt="1"/>
          </p:nvPr>
        </p:nvSpPr>
        <p:spPr>
          <a:xfrm>
            <a:off x="182880" y="45720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연구 배경</a:t>
            </a:r>
            <a:endParaRPr lang="en-US" sz="2200" dirty="0"/>
          </a:p>
        </p:txBody>
      </p:sp>
      <p:sp>
        <p:nvSpPr>
          <p:cNvPr id="3" name="Text 0"/>
          <p:cNvSpPr/>
          <p:nvPr>
            <p:ph idx="104" type="body" hasCustomPrompt="1"/>
          </p:nvPr>
        </p:nvSpPr>
        <p:spPr>
          <a:xfrm>
            <a:off x="274320" y="512064"/>
            <a:ext cx="6217920" cy="3236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왜 시계열 분석에 맞는가</a:t>
            </a:r>
            <a:endParaRPr lang="en-US" sz="1600" dirty="0"/>
          </a:p>
        </p:txBody>
      </p:sp>
      <p:sp>
        <p:nvSpPr>
          <p:cNvPr id="4" name="Section tracker 1"/>
          <p:cNvSpPr/>
          <p:nvPr/>
        </p:nvSpPr>
        <p:spPr>
          <a:xfrm>
            <a:off x="4791456" y="137160"/>
            <a:ext cx="804672" cy="246888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연구 배경</a:t>
            </a:r>
            <a:endParaRPr lang="en-US" sz="900" dirty="0"/>
          </a:p>
        </p:txBody>
      </p:sp>
      <p:sp>
        <p:nvSpPr>
          <p:cNvPr id="5" name="Section tracker 2"/>
          <p:cNvSpPr/>
          <p:nvPr/>
        </p:nvSpPr>
        <p:spPr>
          <a:xfrm>
            <a:off x="5632704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선행 연구</a:t>
            </a:r>
            <a:endParaRPr lang="en-US" sz="900" dirty="0"/>
          </a:p>
        </p:txBody>
      </p:sp>
      <p:sp>
        <p:nvSpPr>
          <p:cNvPr id="6" name="Section tracker 3"/>
          <p:cNvSpPr/>
          <p:nvPr/>
        </p:nvSpPr>
        <p:spPr>
          <a:xfrm>
            <a:off x="6473952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데이터</a:t>
            </a:r>
            <a:endParaRPr lang="en-US" sz="900" dirty="0"/>
          </a:p>
        </p:txBody>
      </p:sp>
      <p:sp>
        <p:nvSpPr>
          <p:cNvPr id="7" name="Section tracker 4"/>
          <p:cNvSpPr/>
          <p:nvPr/>
        </p:nvSpPr>
        <p:spPr>
          <a:xfrm>
            <a:off x="7315200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방법론</a:t>
            </a:r>
            <a:endParaRPr lang="en-US" sz="900" dirty="0"/>
          </a:p>
        </p:txBody>
      </p:sp>
      <p:sp>
        <p:nvSpPr>
          <p:cNvPr id="8" name="Section tracker 5"/>
          <p:cNvSpPr/>
          <p:nvPr/>
        </p:nvSpPr>
        <p:spPr>
          <a:xfrm>
            <a:off x="8156448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EDA</a:t>
            </a:r>
            <a:endParaRPr lang="en-US" sz="900" dirty="0"/>
          </a:p>
        </p:txBody>
      </p:sp>
      <p:sp>
        <p:nvSpPr>
          <p:cNvPr id="9" name="Cross vertical"/>
          <p:cNvSpPr/>
          <p:nvPr/>
        </p:nvSpPr>
        <p:spPr>
          <a:xfrm>
            <a:off x="4572000" y="1051560"/>
            <a:ext cx="0" cy="365760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10" name="Cross horizontal"/>
          <p:cNvSpPr/>
          <p:nvPr/>
        </p:nvSpPr>
        <p:spPr>
          <a:xfrm>
            <a:off x="274320" y="2880360"/>
            <a:ext cx="8595360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11" name="자기상관"/>
          <p:cNvSpPr txBox="1"/>
          <p:nvPr/>
        </p:nvSpPr>
        <p:spPr>
          <a:xfrm>
            <a:off x="320040" y="1078992"/>
            <a:ext cx="402336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자기상관</a:t>
            </a:r>
            <a:endParaRPr lang="en-US" sz="1600" dirty="0"/>
          </a:p>
          <a:p>
            <a:pPr indent="0" marL="0">
              <a:buNone/>
            </a:pPr>
            <a:r>
              <a:rPr lang="en-US" sz="5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marL="165100" indent="-165100">
              <a:spcBef>
                <a:spcPts val="300"/>
              </a:spcBef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신호는 투수 자신의 과거 대비 편차로만 정의된다</a:t>
            </a:r>
            <a:endParaRPr lang="en-US" sz="1600" dirty="0"/>
          </a:p>
          <a:p>
            <a:pPr marL="165100" indent="-165100">
              <a:spcBef>
                <a:spcPts val="300"/>
              </a:spcBef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등판 순서를 무작위로 섞으면 신호가 사라진다</a:t>
            </a:r>
            <a:endParaRPr lang="en-US" sz="1600" dirty="0"/>
          </a:p>
          <a:p>
            <a:pPr marL="165100" indent="-165100">
              <a:spcBef>
                <a:spcPts val="300"/>
              </a:spcBef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과거로 다음 값을 예측하고, 그 예측 잔차를 감시하는 접근이 성립한다</a:t>
            </a:r>
            <a:endParaRPr lang="en-US" sz="1600" dirty="0"/>
          </a:p>
        </p:txBody>
      </p:sp>
      <p:sp>
        <p:nvSpPr>
          <p:cNvPr id="12" name="추세"/>
          <p:cNvSpPr txBox="1"/>
          <p:nvPr/>
        </p:nvSpPr>
        <p:spPr>
          <a:xfrm>
            <a:off x="4800600" y="1078992"/>
            <a:ext cx="402336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추세</a:t>
            </a:r>
            <a:endParaRPr lang="en-US" sz="1600" dirty="0"/>
          </a:p>
          <a:p>
            <a:pPr indent="0" marL="0">
              <a:buNone/>
            </a:pPr>
            <a:r>
              <a:rPr lang="en-US" sz="5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marL="165100" indent="-165100">
              <a:spcBef>
                <a:spcPts val="300"/>
              </a:spcBef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'구속 혁명'으로 리그 포심 평균 구속이 꾸준히 오른다</a:t>
            </a:r>
            <a:endParaRPr lang="en-US" sz="1600" dirty="0"/>
          </a:p>
          <a:p>
            <a:pPr marL="165100" indent="-165100">
              <a:spcBef>
                <a:spcPts val="300"/>
              </a:spcBef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93.69 → 94.77 mph (2021→2026): 6시즌 동안 한 번도 꺾이지 않고 +1.08</a:t>
            </a:r>
            <a:endParaRPr lang="en-US" sz="1600" dirty="0"/>
          </a:p>
          <a:p>
            <a:pPr marL="165100" indent="-165100">
              <a:spcBef>
                <a:spcPts val="300"/>
              </a:spcBef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투수 개인의 이상을 판단할 때 반드시 제거해야 할 성분</a:t>
            </a:r>
            <a:endParaRPr lang="en-US" sz="1600" dirty="0"/>
          </a:p>
        </p:txBody>
      </p:sp>
      <p:sp>
        <p:nvSpPr>
          <p:cNvPr id="13" name="계절성"/>
          <p:cNvSpPr txBox="1"/>
          <p:nvPr/>
        </p:nvSpPr>
        <p:spPr>
          <a:xfrm>
            <a:off x="320040" y="3017520"/>
            <a:ext cx="402336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계절성</a:t>
            </a:r>
            <a:endParaRPr lang="en-US" sz="1600" dirty="0"/>
          </a:p>
          <a:p>
            <a:pPr indent="0" marL="0">
              <a:buNone/>
            </a:pPr>
            <a:r>
              <a:rPr lang="en-US" sz="5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marL="165100" indent="-165100">
              <a:spcBef>
                <a:spcPts val="300"/>
              </a:spcBef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구속은 시즌 초보다 후반에 높다</a:t>
            </a:r>
            <a:endParaRPr lang="en-US" sz="1600" dirty="0"/>
          </a:p>
          <a:p>
            <a:pPr marL="165100" indent="-165100">
              <a:spcBef>
                <a:spcPts val="300"/>
              </a:spcBef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2025년 4월 94.18 → 6월 94.61 mph 후 평평, 2024년도 같은 모양 (94.04 → 94.40)</a:t>
            </a:r>
            <a:endParaRPr lang="en-US" sz="1600" dirty="0"/>
          </a:p>
          <a:p>
            <a:pPr marL="165100" indent="-165100">
              <a:spcBef>
                <a:spcPts val="300"/>
              </a:spcBef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부상 발생 자체도 특정 시기에 몰리는 경향이 있다</a:t>
            </a:r>
            <a:endParaRPr lang="en-US" sz="1600" dirty="0"/>
          </a:p>
        </p:txBody>
      </p:sp>
      <p:sp>
        <p:nvSpPr>
          <p:cNvPr id="14" name="외생 변수"/>
          <p:cNvSpPr txBox="1"/>
          <p:nvPr/>
        </p:nvSpPr>
        <p:spPr>
          <a:xfrm>
            <a:off x="4800600" y="3017520"/>
            <a:ext cx="402336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외생 변수</a:t>
            </a:r>
            <a:endParaRPr lang="en-US" sz="1600" dirty="0"/>
          </a:p>
          <a:p>
            <a:pPr indent="0" marL="0">
              <a:buNone/>
            </a:pPr>
            <a:r>
              <a:rPr lang="en-US" sz="5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marL="165100" indent="-165100">
              <a:spcBef>
                <a:spcPts val="300"/>
              </a:spcBef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등판 간격 (직전 등판 이후 일수)</a:t>
            </a:r>
            <a:endParaRPr lang="en-US" sz="1600" dirty="0"/>
          </a:p>
          <a:p>
            <a:pPr marL="165100" indent="-165100">
              <a:spcBef>
                <a:spcPts val="300"/>
              </a:spcBef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최근 7·14·28일 누적 투구 수, ACWR (급성 / 만성 부하 비율)</a:t>
            </a:r>
            <a:endParaRPr lang="en-US" sz="1600" dirty="0"/>
          </a:p>
          <a:p>
            <a:pPr marL="165100" indent="-165100">
              <a:spcBef>
                <a:spcPts val="300"/>
              </a:spcBef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휴식과 부하로 설명되는 구속 변화를 부상 신호와 구분한다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828032"/>
            <a:ext cx="6858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3" type="title" hasCustomPrompt="1"/>
          </p:nvPr>
        </p:nvSpPr>
        <p:spPr>
          <a:xfrm>
            <a:off x="182880" y="45720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선행 연구</a:t>
            </a:r>
            <a:endParaRPr lang="en-US" sz="2200" dirty="0"/>
          </a:p>
        </p:txBody>
      </p:sp>
      <p:sp>
        <p:nvSpPr>
          <p:cNvPr id="3" name="Text 0"/>
          <p:cNvSpPr/>
          <p:nvPr>
            <p:ph idx="104" type="body" hasCustomPrompt="1"/>
          </p:nvPr>
        </p:nvSpPr>
        <p:spPr>
          <a:xfrm>
            <a:off x="274320" y="512064"/>
            <a:ext cx="6217920" cy="3236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(1) 구속-부상 연관 · 평소 vs 부상 직전</a:t>
            </a:r>
            <a:endParaRPr lang="en-US" sz="1600" dirty="0"/>
          </a:p>
        </p:txBody>
      </p:sp>
      <p:sp>
        <p:nvSpPr>
          <p:cNvPr id="4" name="Section tracker 1"/>
          <p:cNvSpPr/>
          <p:nvPr/>
        </p:nvSpPr>
        <p:spPr>
          <a:xfrm>
            <a:off x="4791456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연구 배경</a:t>
            </a:r>
            <a:endParaRPr lang="en-US" sz="900" dirty="0"/>
          </a:p>
        </p:txBody>
      </p:sp>
      <p:sp>
        <p:nvSpPr>
          <p:cNvPr id="5" name="Section tracker 2"/>
          <p:cNvSpPr/>
          <p:nvPr/>
        </p:nvSpPr>
        <p:spPr>
          <a:xfrm>
            <a:off x="5632704" y="137160"/>
            <a:ext cx="804672" cy="246888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선행 연구</a:t>
            </a:r>
            <a:endParaRPr lang="en-US" sz="900" dirty="0"/>
          </a:p>
        </p:txBody>
      </p:sp>
      <p:sp>
        <p:nvSpPr>
          <p:cNvPr id="6" name="Section tracker 3"/>
          <p:cNvSpPr/>
          <p:nvPr/>
        </p:nvSpPr>
        <p:spPr>
          <a:xfrm>
            <a:off x="6473952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데이터</a:t>
            </a:r>
            <a:endParaRPr lang="en-US" sz="900" dirty="0"/>
          </a:p>
        </p:txBody>
      </p:sp>
      <p:sp>
        <p:nvSpPr>
          <p:cNvPr id="7" name="Section tracker 4"/>
          <p:cNvSpPr/>
          <p:nvPr/>
        </p:nvSpPr>
        <p:spPr>
          <a:xfrm>
            <a:off x="7315200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방법론</a:t>
            </a:r>
            <a:endParaRPr lang="en-US" sz="900" dirty="0"/>
          </a:p>
        </p:txBody>
      </p:sp>
      <p:sp>
        <p:nvSpPr>
          <p:cNvPr id="8" name="Section tracker 5"/>
          <p:cNvSpPr/>
          <p:nvPr/>
        </p:nvSpPr>
        <p:spPr>
          <a:xfrm>
            <a:off x="8156448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EDA</a:t>
            </a:r>
            <a:endParaRPr lang="en-US" sz="900" dirty="0"/>
          </a:p>
        </p:txBody>
      </p:sp>
      <p:graphicFrame>
        <p:nvGraphicFramePr>
          <p:cNvPr id="6" name="Related work 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685800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2331720"/>
                <a:gridCol w="2606040"/>
                <a:gridCol w="2331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연구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대상 · 방법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핵심 결과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한계 (우리와의 차이)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 gridSpan="4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주제 1. 구속이 부상과 연관되어 있다는 전제를 뒷받침하는 연구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Prodromo 외 (2016)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UCLR 투수 vs 같은 나이 대조군 (2002–2015)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사례-대조, 조건부 로지스틱 회귀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수술 전 시즌 평균 구속이 더 높았고, 속구 평균 구속이 유의한 변수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투수끼리 비교, 시즌 평균 사용 → 변화 시점을 알 수 없음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 gridSpan="4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주제 2. 투수의 평소 모습과 부상 직전을 비교한 연구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Mastroianni 외 (2026)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UCL 수술 투수 78명 vs 매칭 대조군 156명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투수 내 변화 분석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마지막 5등판 구속 점진 하락 (P = .019), 수평 릴리스 변동성 큼 (P = .005)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사후 분석, AUC·선행 일수 미보고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Ozaki (2026, 석사논문)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UCLR 투수 46명 (2016–2024)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오토인코더 이상 탐지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부상이 가까울수록 이상 정도 2.7배. 코드와 매칭 대조군 45쌍 공개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건강한 투수도 경보 (73% vs 66%), 시간 순서를 일부러 무시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828032"/>
            <a:ext cx="6858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3" type="title" hasCustomPrompt="1"/>
          </p:nvPr>
        </p:nvSpPr>
        <p:spPr>
          <a:xfrm>
            <a:off x="182880" y="45720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선행 연구</a:t>
            </a:r>
            <a:endParaRPr lang="en-US" sz="2200" dirty="0"/>
          </a:p>
        </p:txBody>
      </p:sp>
      <p:sp>
        <p:nvSpPr>
          <p:cNvPr id="3" name="Text 0"/>
          <p:cNvSpPr/>
          <p:nvPr>
            <p:ph idx="104" type="body" hasCustomPrompt="1"/>
          </p:nvPr>
        </p:nvSpPr>
        <p:spPr>
          <a:xfrm>
            <a:off x="274320" y="512064"/>
            <a:ext cx="6217920" cy="3236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(2) 시계열 방법 · 외생 변수</a:t>
            </a:r>
            <a:endParaRPr lang="en-US" sz="1600" dirty="0"/>
          </a:p>
        </p:txBody>
      </p:sp>
      <p:sp>
        <p:nvSpPr>
          <p:cNvPr id="4" name="Section tracker 1"/>
          <p:cNvSpPr/>
          <p:nvPr/>
        </p:nvSpPr>
        <p:spPr>
          <a:xfrm>
            <a:off x="4791456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연구 배경</a:t>
            </a:r>
            <a:endParaRPr lang="en-US" sz="900" dirty="0"/>
          </a:p>
        </p:txBody>
      </p:sp>
      <p:sp>
        <p:nvSpPr>
          <p:cNvPr id="5" name="Section tracker 2"/>
          <p:cNvSpPr/>
          <p:nvPr/>
        </p:nvSpPr>
        <p:spPr>
          <a:xfrm>
            <a:off x="5632704" y="137160"/>
            <a:ext cx="804672" cy="246888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선행 연구</a:t>
            </a:r>
            <a:endParaRPr lang="en-US" sz="900" dirty="0"/>
          </a:p>
        </p:txBody>
      </p:sp>
      <p:sp>
        <p:nvSpPr>
          <p:cNvPr id="6" name="Section tracker 3"/>
          <p:cNvSpPr/>
          <p:nvPr/>
        </p:nvSpPr>
        <p:spPr>
          <a:xfrm>
            <a:off x="6473952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데이터</a:t>
            </a:r>
            <a:endParaRPr lang="en-US" sz="900" dirty="0"/>
          </a:p>
        </p:txBody>
      </p:sp>
      <p:sp>
        <p:nvSpPr>
          <p:cNvPr id="7" name="Section tracker 4"/>
          <p:cNvSpPr/>
          <p:nvPr/>
        </p:nvSpPr>
        <p:spPr>
          <a:xfrm>
            <a:off x="7315200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방법론</a:t>
            </a:r>
            <a:endParaRPr lang="en-US" sz="900" dirty="0"/>
          </a:p>
        </p:txBody>
      </p:sp>
      <p:sp>
        <p:nvSpPr>
          <p:cNvPr id="8" name="Section tracker 5"/>
          <p:cNvSpPr/>
          <p:nvPr/>
        </p:nvSpPr>
        <p:spPr>
          <a:xfrm>
            <a:off x="8156448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EDA</a:t>
            </a:r>
            <a:endParaRPr lang="en-US" sz="900" dirty="0"/>
          </a:p>
        </p:txBody>
      </p:sp>
      <p:graphicFrame>
        <p:nvGraphicFramePr>
          <p:cNvPr id="7" name="Related work 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685800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2331720"/>
                <a:gridCol w="2606040"/>
                <a:gridCol w="2331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연구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대상 · 방법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핵심 결과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한계 (우리와의 차이)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 gridSpan="4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주제 3. 시계열 방법을 쓴 연구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Mayo 외 (2021)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UCLR 투수 223명의 수술 전 15경기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Mann-Kendall 추세검정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포심 구속 경기당 약 0.1 mph 하락 (tau = −0.657, P &lt; .001), 회전수 경기당 약 5 rpm 감소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건강한 대조군 없음, 경보 규칙 없음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Bright 외 (2026)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중계 영상으로 3차원 자세 추정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투수 7,348명 선별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토미 존 수술 AUC 0.811, 중증 팔 부상 AUC 0.825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영상 추정값 사용, 시점별 선별 모형 (개인 시계열 경보 아님)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 gridSpan="4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주제 4. 외생 변수 관련 연구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Slowik 외 (2021)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대학 투수 17명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ACWR, ROC로 기준 선정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ACWR이 ±33% 넘게 변하면 다음 주 부상 위험 8.3배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표본이 작음 (95% CI 1.8–54.1), 만성 구간 3주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828032"/>
            <a:ext cx="6858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3" type="title" hasCustomPrompt="1"/>
          </p:nvPr>
        </p:nvSpPr>
        <p:spPr>
          <a:xfrm>
            <a:off x="182880" y="45720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선행 연구</a:t>
            </a:r>
            <a:endParaRPr lang="en-US" sz="2200" dirty="0"/>
          </a:p>
        </p:txBody>
      </p:sp>
      <p:sp>
        <p:nvSpPr>
          <p:cNvPr id="3" name="Text 0"/>
          <p:cNvSpPr/>
          <p:nvPr>
            <p:ph idx="104" type="body" hasCustomPrompt="1"/>
          </p:nvPr>
        </p:nvSpPr>
        <p:spPr>
          <a:xfrm>
            <a:off x="274320" y="512064"/>
            <a:ext cx="6217920" cy="3236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선행 연구의 한계</a:t>
            </a:r>
            <a:endParaRPr lang="en-US" sz="1600" dirty="0"/>
          </a:p>
        </p:txBody>
      </p:sp>
      <p:sp>
        <p:nvSpPr>
          <p:cNvPr id="4" name="Section tracker 1"/>
          <p:cNvSpPr/>
          <p:nvPr/>
        </p:nvSpPr>
        <p:spPr>
          <a:xfrm>
            <a:off x="4791456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연구 배경</a:t>
            </a:r>
            <a:endParaRPr lang="en-US" sz="900" dirty="0"/>
          </a:p>
        </p:txBody>
      </p:sp>
      <p:sp>
        <p:nvSpPr>
          <p:cNvPr id="5" name="Section tracker 2"/>
          <p:cNvSpPr/>
          <p:nvPr/>
        </p:nvSpPr>
        <p:spPr>
          <a:xfrm>
            <a:off x="5632704" y="137160"/>
            <a:ext cx="804672" cy="246888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선행 연구</a:t>
            </a:r>
            <a:endParaRPr lang="en-US" sz="900" dirty="0"/>
          </a:p>
        </p:txBody>
      </p:sp>
      <p:sp>
        <p:nvSpPr>
          <p:cNvPr id="6" name="Section tracker 3"/>
          <p:cNvSpPr/>
          <p:nvPr/>
        </p:nvSpPr>
        <p:spPr>
          <a:xfrm>
            <a:off x="6473952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데이터</a:t>
            </a:r>
            <a:endParaRPr lang="en-US" sz="900" dirty="0"/>
          </a:p>
        </p:txBody>
      </p:sp>
      <p:sp>
        <p:nvSpPr>
          <p:cNvPr id="7" name="Section tracker 4"/>
          <p:cNvSpPr/>
          <p:nvPr/>
        </p:nvSpPr>
        <p:spPr>
          <a:xfrm>
            <a:off x="7315200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방법론</a:t>
            </a:r>
            <a:endParaRPr lang="en-US" sz="900" dirty="0"/>
          </a:p>
        </p:txBody>
      </p:sp>
      <p:sp>
        <p:nvSpPr>
          <p:cNvPr id="8" name="Section tracker 5"/>
          <p:cNvSpPr/>
          <p:nvPr/>
        </p:nvSpPr>
        <p:spPr>
          <a:xfrm>
            <a:off x="8156448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EDA</a:t>
            </a:r>
            <a:endParaRPr lang="en-US" sz="900" dirty="0"/>
          </a:p>
        </p:txBody>
      </p:sp>
      <p:sp>
        <p:nvSpPr>
          <p:cNvPr id="9" name="Label 한계 1"/>
          <p:cNvSpPr txBox="1"/>
          <p:nvPr/>
        </p:nvSpPr>
        <p:spPr>
          <a:xfrm>
            <a:off x="274320" y="1005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한계 1</a:t>
            </a:r>
            <a:endParaRPr lang="en-US" sz="1300" dirty="0"/>
          </a:p>
        </p:txBody>
      </p:sp>
      <p:sp>
        <p:nvSpPr>
          <p:cNvPr id="10" name="Limit 1"/>
          <p:cNvSpPr/>
          <p:nvPr/>
        </p:nvSpPr>
        <p:spPr>
          <a:xfrm>
            <a:off x="274320" y="1325880"/>
            <a:ext cx="2743200" cy="1325880"/>
          </a:xfrm>
          <a:prstGeom prst="rect">
            <a:avLst/>
          </a:prstGeom>
          <a:noFill/>
          <a:ln w="9525">
            <a:solidFill>
              <a:srgbClr val="000000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시즌 평균으로 부상 투수와 건강한 투수를 비교</a:t>
            </a:r>
            <a:endParaRPr lang="en-US" sz="1200" dirty="0"/>
          </a:p>
        </p:txBody>
      </p:sp>
      <p:sp>
        <p:nvSpPr>
          <p:cNvPr id="11" name="Arrow"/>
          <p:cNvSpPr/>
          <p:nvPr/>
        </p:nvSpPr>
        <p:spPr>
          <a:xfrm>
            <a:off x="1463040" y="2743200"/>
            <a:ext cx="365760" cy="365760"/>
          </a:xfrm>
          <a:prstGeom prst="down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Label 필요"/>
          <p:cNvSpPr txBox="1"/>
          <p:nvPr/>
        </p:nvSpPr>
        <p:spPr>
          <a:xfrm>
            <a:off x="274320" y="3200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필요</a:t>
            </a:r>
            <a:endParaRPr lang="en-US" sz="1300" dirty="0"/>
          </a:p>
        </p:txBody>
      </p:sp>
      <p:sp>
        <p:nvSpPr>
          <p:cNvPr id="13" name="Need 1"/>
          <p:cNvSpPr/>
          <p:nvPr/>
        </p:nvSpPr>
        <p:spPr>
          <a:xfrm>
            <a:off x="274320" y="3520440"/>
            <a:ext cx="2743200" cy="1188720"/>
          </a:xfrm>
          <a:prstGeom prst="rect">
            <a:avLst/>
          </a:prstGeom>
          <a:noFill/>
          <a:ln w="15875">
            <a:solidFill>
              <a:srgbClr val="000000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투수 개인의 시계열을 기준으로 변화를 읽어야 한다</a:t>
            </a:r>
            <a:endParaRPr lang="en-US" sz="1200" dirty="0"/>
          </a:p>
        </p:txBody>
      </p:sp>
      <p:sp>
        <p:nvSpPr>
          <p:cNvPr id="14" name="Label 한계 2"/>
          <p:cNvSpPr txBox="1"/>
          <p:nvPr/>
        </p:nvSpPr>
        <p:spPr>
          <a:xfrm>
            <a:off x="3200400" y="1005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한계 2</a:t>
            </a:r>
            <a:endParaRPr lang="en-US" sz="1300" dirty="0"/>
          </a:p>
        </p:txBody>
      </p:sp>
      <p:sp>
        <p:nvSpPr>
          <p:cNvPr id="15" name="Limit 2"/>
          <p:cNvSpPr/>
          <p:nvPr/>
        </p:nvSpPr>
        <p:spPr>
          <a:xfrm>
            <a:off x="3200400" y="1325880"/>
            <a:ext cx="2743200" cy="1325880"/>
          </a:xfrm>
          <a:prstGeom prst="rect">
            <a:avLst/>
          </a:prstGeom>
          <a:noFill/>
          <a:ln w="9525">
            <a:solidFill>
              <a:srgbClr val="000000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추세 검정에 그쳐 경보 규칙과 오경보 집계가 없음</a:t>
            </a:r>
            <a:endParaRPr lang="en-US" sz="1200" dirty="0"/>
          </a:p>
        </p:txBody>
      </p:sp>
      <p:sp>
        <p:nvSpPr>
          <p:cNvPr id="16" name="Arrow"/>
          <p:cNvSpPr/>
          <p:nvPr/>
        </p:nvSpPr>
        <p:spPr>
          <a:xfrm>
            <a:off x="4389120" y="2743200"/>
            <a:ext cx="365760" cy="365760"/>
          </a:xfrm>
          <a:prstGeom prst="down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Label 필요"/>
          <p:cNvSpPr txBox="1"/>
          <p:nvPr/>
        </p:nvSpPr>
        <p:spPr>
          <a:xfrm>
            <a:off x="3200400" y="3200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필요</a:t>
            </a:r>
            <a:endParaRPr lang="en-US" sz="1300" dirty="0"/>
          </a:p>
        </p:txBody>
      </p:sp>
      <p:sp>
        <p:nvSpPr>
          <p:cNvPr id="18" name="Need 2"/>
          <p:cNvSpPr/>
          <p:nvPr/>
        </p:nvSpPr>
        <p:spPr>
          <a:xfrm>
            <a:off x="3200400" y="3520440"/>
            <a:ext cx="2743200" cy="1188720"/>
          </a:xfrm>
          <a:prstGeom prst="rect">
            <a:avLst/>
          </a:prstGeom>
          <a:noFill/>
          <a:ln w="15875">
            <a:solidFill>
              <a:srgbClr val="000000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선행 시간과 오경보로 평가하는 경보 시스템이 필요하다</a:t>
            </a:r>
            <a:endParaRPr lang="en-US" sz="1200" dirty="0"/>
          </a:p>
        </p:txBody>
      </p:sp>
      <p:sp>
        <p:nvSpPr>
          <p:cNvPr id="19" name="Label 한계 3"/>
          <p:cNvSpPr txBox="1"/>
          <p:nvPr/>
        </p:nvSpPr>
        <p:spPr>
          <a:xfrm>
            <a:off x="6126480" y="1005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한계 3</a:t>
            </a:r>
            <a:endParaRPr lang="en-US" sz="1300" dirty="0"/>
          </a:p>
        </p:txBody>
      </p:sp>
      <p:sp>
        <p:nvSpPr>
          <p:cNvPr id="20" name="Limit 3"/>
          <p:cNvSpPr/>
          <p:nvPr/>
        </p:nvSpPr>
        <p:spPr>
          <a:xfrm>
            <a:off x="6126480" y="1325880"/>
            <a:ext cx="2743200" cy="1325880"/>
          </a:xfrm>
          <a:prstGeom prst="rect">
            <a:avLst/>
          </a:prstGeom>
          <a:noFill/>
          <a:ln w="9525">
            <a:solidFill>
              <a:srgbClr val="000000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등판을 시간 순서 없는 독립 관측이나 시즌 평균으로 다룸 (자기상관 무시)</a:t>
            </a:r>
            <a:endParaRPr lang="en-US" sz="1200" dirty="0"/>
          </a:p>
        </p:txBody>
      </p:sp>
      <p:sp>
        <p:nvSpPr>
          <p:cNvPr id="21" name="Arrow"/>
          <p:cNvSpPr/>
          <p:nvPr/>
        </p:nvSpPr>
        <p:spPr>
          <a:xfrm>
            <a:off x="7315200" y="2743200"/>
            <a:ext cx="365760" cy="365760"/>
          </a:xfrm>
          <a:prstGeom prst="down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2" name="Label 필요"/>
          <p:cNvSpPr txBox="1"/>
          <p:nvPr/>
        </p:nvSpPr>
        <p:spPr>
          <a:xfrm>
            <a:off x="6126480" y="3200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필요</a:t>
            </a:r>
            <a:endParaRPr lang="en-US" sz="1300" dirty="0"/>
          </a:p>
        </p:txBody>
      </p:sp>
      <p:sp>
        <p:nvSpPr>
          <p:cNvPr id="23" name="Need 3"/>
          <p:cNvSpPr/>
          <p:nvPr/>
        </p:nvSpPr>
        <p:spPr>
          <a:xfrm>
            <a:off x="6126480" y="3520440"/>
            <a:ext cx="2743200" cy="1188720"/>
          </a:xfrm>
          <a:prstGeom prst="rect">
            <a:avLst/>
          </a:prstGeom>
          <a:noFill/>
          <a:ln w="15875">
            <a:solidFill>
              <a:srgbClr val="000000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과거 등판으로 다음 등판을 예측하고 잔차를 감시하는 시계열 모델이 필요하다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828032"/>
            <a:ext cx="6858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3" type="title" hasCustomPrompt="1"/>
          </p:nvPr>
        </p:nvSpPr>
        <p:spPr>
          <a:xfrm>
            <a:off x="182880" y="45720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선행 연구</a:t>
            </a:r>
            <a:endParaRPr lang="en-US" sz="2200" dirty="0"/>
          </a:p>
        </p:txBody>
      </p:sp>
      <p:sp>
        <p:nvSpPr>
          <p:cNvPr id="3" name="Text 0"/>
          <p:cNvSpPr/>
          <p:nvPr>
            <p:ph idx="104" type="body" hasCustomPrompt="1"/>
          </p:nvPr>
        </p:nvSpPr>
        <p:spPr>
          <a:xfrm>
            <a:off x="274320" y="512064"/>
            <a:ext cx="6217920" cy="3236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본 연구의 차별점 (Novelty)</a:t>
            </a:r>
            <a:endParaRPr lang="en-US" sz="1600" dirty="0"/>
          </a:p>
        </p:txBody>
      </p:sp>
      <p:sp>
        <p:nvSpPr>
          <p:cNvPr id="4" name="Section tracker 1"/>
          <p:cNvSpPr/>
          <p:nvPr/>
        </p:nvSpPr>
        <p:spPr>
          <a:xfrm>
            <a:off x="4791456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연구 배경</a:t>
            </a:r>
            <a:endParaRPr lang="en-US" sz="900" dirty="0"/>
          </a:p>
        </p:txBody>
      </p:sp>
      <p:sp>
        <p:nvSpPr>
          <p:cNvPr id="5" name="Section tracker 2"/>
          <p:cNvSpPr/>
          <p:nvPr/>
        </p:nvSpPr>
        <p:spPr>
          <a:xfrm>
            <a:off x="5632704" y="137160"/>
            <a:ext cx="804672" cy="246888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선행 연구</a:t>
            </a:r>
            <a:endParaRPr lang="en-US" sz="900" dirty="0"/>
          </a:p>
        </p:txBody>
      </p:sp>
      <p:sp>
        <p:nvSpPr>
          <p:cNvPr id="6" name="Section tracker 3"/>
          <p:cNvSpPr/>
          <p:nvPr/>
        </p:nvSpPr>
        <p:spPr>
          <a:xfrm>
            <a:off x="6473952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데이터</a:t>
            </a:r>
            <a:endParaRPr lang="en-US" sz="900" dirty="0"/>
          </a:p>
        </p:txBody>
      </p:sp>
      <p:sp>
        <p:nvSpPr>
          <p:cNvPr id="7" name="Section tracker 4"/>
          <p:cNvSpPr/>
          <p:nvPr/>
        </p:nvSpPr>
        <p:spPr>
          <a:xfrm>
            <a:off x="7315200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방법론</a:t>
            </a:r>
            <a:endParaRPr lang="en-US" sz="900" dirty="0"/>
          </a:p>
        </p:txBody>
      </p:sp>
      <p:sp>
        <p:nvSpPr>
          <p:cNvPr id="8" name="Section tracker 5"/>
          <p:cNvSpPr/>
          <p:nvPr/>
        </p:nvSpPr>
        <p:spPr>
          <a:xfrm>
            <a:off x="8156448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EDA</a:t>
            </a:r>
            <a:endParaRPr lang="en-US" sz="900" dirty="0"/>
          </a:p>
        </p:txBody>
      </p:sp>
      <p:sp>
        <p:nvSpPr>
          <p:cNvPr id="9" name="Core idea"/>
          <p:cNvSpPr/>
          <p:nvPr/>
        </p:nvSpPr>
        <p:spPr>
          <a:xfrm>
            <a:off x="274320" y="1005840"/>
            <a:ext cx="8595360" cy="566928"/>
          </a:xfrm>
          <a:prstGeom prst="rect">
            <a:avLst/>
          </a:prstGeom>
          <a:noFill/>
          <a:ln w="15875">
            <a:solidFill>
              <a:srgbClr val="000000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핵심 아이디어  </a:t>
            </a:r>
            <a:r>
              <a:rPr lang="en-US" sz="1350" b="1" dirty="0">
                <a:solidFill>
                  <a:schemeClr val="tx1"/>
                </a:solidFill>
              </a:rPr>
              <a:t>투수별 시계열 기준선: 자기 과거로 예측한 기대 구속과 실제 구속의 차이(잔차)를 감시한다</a:t>
            </a:r>
            <a:endParaRPr lang="en-US" sz="1200" dirty="0"/>
          </a:p>
        </p:txBody>
      </p:sp>
      <p:sp>
        <p:nvSpPr>
          <p:cNvPr id="10" name="Novelty card 1"/>
          <p:cNvSpPr/>
          <p:nvPr/>
        </p:nvSpPr>
        <p:spPr>
          <a:xfrm>
            <a:off x="274320" y="1737360"/>
            <a:ext cx="4206240" cy="2971800"/>
          </a:xfrm>
          <a:prstGeom prst="rect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11" name="Novelty title 1"/>
          <p:cNvSpPr txBox="1"/>
          <p:nvPr/>
        </p:nvSpPr>
        <p:spPr>
          <a:xfrm>
            <a:off x="457200" y="185623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1.  </a:t>
            </a:r>
            <a:r>
              <a:rPr lang="en-US" sz="1600" b="1" dirty="0">
                <a:solidFill>
                  <a:schemeClr val="tx1"/>
                </a:solidFill>
              </a:rPr>
              <a:t>공개 데이터 기반 다변량 시계열</a:t>
            </a:r>
            <a:endParaRPr lang="en-US" sz="1800" dirty="0"/>
          </a:p>
        </p:txBody>
      </p:sp>
      <p:sp>
        <p:nvSpPr>
          <p:cNvPr id="12" name="Novelty chip"/>
          <p:cNvSpPr/>
          <p:nvPr/>
        </p:nvSpPr>
        <p:spPr>
          <a:xfrm>
            <a:off x="457200" y="2560320"/>
            <a:ext cx="3840480" cy="566928"/>
          </a:xfrm>
          <a:prstGeom prst="rect">
            <a:avLst/>
          </a:prstGeom>
          <a:noFill/>
          <a:ln w="9525">
            <a:solidFill>
              <a:srgbClr val="000000"/>
            </a:solidFill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성능 지표   </a:t>
            </a:r>
            <a:r>
              <a:rPr lang="en-US" sz="1300" dirty="0">
                <a:solidFill>
                  <a:schemeClr val="tx1"/>
                </a:solidFill>
              </a:rPr>
              <a:t>구속 · 변동성 · 릴리스</a:t>
            </a:r>
            <a:endParaRPr lang="en-US" sz="1200" dirty="0"/>
          </a:p>
        </p:txBody>
      </p:sp>
      <p:sp>
        <p:nvSpPr>
          <p:cNvPr id="13" name="Novelty chip"/>
          <p:cNvSpPr/>
          <p:nvPr/>
        </p:nvSpPr>
        <p:spPr>
          <a:xfrm>
            <a:off x="457200" y="3236976"/>
            <a:ext cx="3840480" cy="566928"/>
          </a:xfrm>
          <a:prstGeom prst="rect">
            <a:avLst/>
          </a:prstGeom>
          <a:noFill/>
          <a:ln w="9525">
            <a:solidFill>
              <a:srgbClr val="000000"/>
            </a:solidFill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부하 지표   </a:t>
            </a:r>
            <a:r>
              <a:rPr lang="en-US" sz="1300" dirty="0">
                <a:solidFill>
                  <a:schemeClr val="tx1"/>
                </a:solidFill>
              </a:rPr>
              <a:t>등판 간격 · 누적 투구 수 · ACWR</a:t>
            </a:r>
            <a:endParaRPr lang="en-US" sz="1200" dirty="0"/>
          </a:p>
        </p:txBody>
      </p:sp>
      <p:sp>
        <p:nvSpPr>
          <p:cNvPr id="14" name="Novelty note 1"/>
          <p:cNvSpPr txBox="1"/>
          <p:nvPr/>
        </p:nvSpPr>
        <p:spPr>
          <a:xfrm>
            <a:off x="457200" y="39776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누구나 접근할 수 있는 Statcast와 MLB 기록만 사용 → 재현 가능한 결론</a:t>
            </a:r>
            <a:endParaRPr lang="en-US" sz="1250" dirty="0"/>
          </a:p>
        </p:txBody>
      </p:sp>
      <p:sp>
        <p:nvSpPr>
          <p:cNvPr id="15" name="Novelty card 2"/>
          <p:cNvSpPr/>
          <p:nvPr/>
        </p:nvSpPr>
        <p:spPr>
          <a:xfrm>
            <a:off x="4663440" y="1737360"/>
            <a:ext cx="4206240" cy="2971800"/>
          </a:xfrm>
          <a:prstGeom prst="rect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16" name="Novelty title 2"/>
          <p:cNvSpPr txBox="1"/>
          <p:nvPr/>
        </p:nvSpPr>
        <p:spPr>
          <a:xfrm>
            <a:off x="4846320" y="185623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2.  </a:t>
            </a:r>
            <a:r>
              <a:rPr lang="en-US" sz="1600" b="1" dirty="0">
                <a:solidFill>
                  <a:schemeClr val="tx1"/>
                </a:solidFill>
              </a:rPr>
              <a:t>통계 검정을 넘어 실제 경보 시스템 평가</a:t>
            </a:r>
            <a:endParaRPr lang="en-US" sz="1800" dirty="0"/>
          </a:p>
        </p:txBody>
      </p:sp>
      <p:sp>
        <p:nvSpPr>
          <p:cNvPr id="17" name="Novelty chip"/>
          <p:cNvSpPr/>
          <p:nvPr/>
        </p:nvSpPr>
        <p:spPr>
          <a:xfrm>
            <a:off x="4846320" y="2560320"/>
            <a:ext cx="3840480" cy="566928"/>
          </a:xfrm>
          <a:prstGeom prst="rect">
            <a:avLst/>
          </a:prstGeom>
          <a:noFill/>
          <a:ln w="9525">
            <a:solidFill>
              <a:srgbClr val="000000"/>
            </a:solidFill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얼마나 일찍?   </a:t>
            </a:r>
            <a:r>
              <a:rPr lang="en-US" sz="1300" dirty="0">
                <a:solidFill>
                  <a:schemeClr val="tx1"/>
                </a:solidFill>
              </a:rPr>
              <a:t>IL 등재 며칠 전에 울리는가</a:t>
            </a:r>
            <a:endParaRPr lang="en-US" sz="1200" dirty="0"/>
          </a:p>
        </p:txBody>
      </p:sp>
      <p:sp>
        <p:nvSpPr>
          <p:cNvPr id="18" name="Novelty chip"/>
          <p:cNvSpPr/>
          <p:nvPr/>
        </p:nvSpPr>
        <p:spPr>
          <a:xfrm>
            <a:off x="4846320" y="3236976"/>
            <a:ext cx="3840480" cy="566928"/>
          </a:xfrm>
          <a:prstGeom prst="rect">
            <a:avLst/>
          </a:prstGeom>
          <a:noFill/>
          <a:ln w="9525">
            <a:solidFill>
              <a:srgbClr val="000000"/>
            </a:solidFill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얼마나 자주 헛울리나?   </a:t>
            </a:r>
            <a:r>
              <a:rPr lang="en-US" sz="1300" dirty="0">
                <a:solidFill>
                  <a:schemeClr val="tx1"/>
                </a:solidFill>
              </a:rPr>
              <a:t>오경보 빈도</a:t>
            </a:r>
            <a:endParaRPr lang="en-US" sz="1200" dirty="0"/>
          </a:p>
        </p:txBody>
      </p:sp>
      <p:sp>
        <p:nvSpPr>
          <p:cNvPr id="19" name="Novelty note 2"/>
          <p:cNvSpPr txBox="1"/>
          <p:nvPr/>
        </p:nvSpPr>
        <p:spPr>
          <a:xfrm>
            <a:off x="4846320" y="39776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조사한 선행 연구 중 선행 일수와 오경보 빈도를 함께 보고한 사례는 없다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828032"/>
            <a:ext cx="6858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3" type="title" hasCustomPrompt="1"/>
          </p:nvPr>
        </p:nvSpPr>
        <p:spPr>
          <a:xfrm>
            <a:off x="182880" y="45720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데이터</a:t>
            </a:r>
            <a:endParaRPr lang="en-US" sz="2200" dirty="0"/>
          </a:p>
        </p:txBody>
      </p:sp>
      <p:sp>
        <p:nvSpPr>
          <p:cNvPr id="3" name="Text 0"/>
          <p:cNvSpPr/>
          <p:nvPr>
            <p:ph idx="104" type="body" hasCustomPrompt="1"/>
          </p:nvPr>
        </p:nvSpPr>
        <p:spPr>
          <a:xfrm>
            <a:off x="274320" y="512064"/>
            <a:ext cx="6217920" cy="3236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데이터셋: MLB Statcast (2021–2026)</a:t>
            </a:r>
            <a:endParaRPr lang="en-US" sz="1600" dirty="0"/>
          </a:p>
        </p:txBody>
      </p:sp>
      <p:sp>
        <p:nvSpPr>
          <p:cNvPr id="4" name="Section tracker 1"/>
          <p:cNvSpPr/>
          <p:nvPr/>
        </p:nvSpPr>
        <p:spPr>
          <a:xfrm>
            <a:off x="4791456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연구 배경</a:t>
            </a:r>
            <a:endParaRPr lang="en-US" sz="900" dirty="0"/>
          </a:p>
        </p:txBody>
      </p:sp>
      <p:sp>
        <p:nvSpPr>
          <p:cNvPr id="5" name="Section tracker 2"/>
          <p:cNvSpPr/>
          <p:nvPr/>
        </p:nvSpPr>
        <p:spPr>
          <a:xfrm>
            <a:off x="5632704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선행 연구</a:t>
            </a:r>
            <a:endParaRPr lang="en-US" sz="900" dirty="0"/>
          </a:p>
        </p:txBody>
      </p:sp>
      <p:sp>
        <p:nvSpPr>
          <p:cNvPr id="6" name="Section tracker 3"/>
          <p:cNvSpPr/>
          <p:nvPr/>
        </p:nvSpPr>
        <p:spPr>
          <a:xfrm>
            <a:off x="6473952" y="137160"/>
            <a:ext cx="804672" cy="246888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데이터</a:t>
            </a:r>
            <a:endParaRPr lang="en-US" sz="900" dirty="0"/>
          </a:p>
        </p:txBody>
      </p:sp>
      <p:sp>
        <p:nvSpPr>
          <p:cNvPr id="7" name="Section tracker 4"/>
          <p:cNvSpPr/>
          <p:nvPr/>
        </p:nvSpPr>
        <p:spPr>
          <a:xfrm>
            <a:off x="7315200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방법론</a:t>
            </a:r>
            <a:endParaRPr lang="en-US" sz="900" dirty="0"/>
          </a:p>
        </p:txBody>
      </p:sp>
      <p:sp>
        <p:nvSpPr>
          <p:cNvPr id="8" name="Section tracker 5"/>
          <p:cNvSpPr/>
          <p:nvPr/>
        </p:nvSpPr>
        <p:spPr>
          <a:xfrm>
            <a:off x="8156448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EDA</a:t>
            </a:r>
            <a:endParaRPr lang="en-US" sz="900" dirty="0"/>
          </a:p>
        </p:txBody>
      </p:sp>
      <p:sp>
        <p:nvSpPr>
          <p:cNvPr id="9" name="Bullets"/>
          <p:cNvSpPr txBox="1"/>
          <p:nvPr/>
        </p:nvSpPr>
        <p:spPr>
          <a:xfrm>
            <a:off x="228600" y="987552"/>
            <a:ext cx="8686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30200" indent="-330200">
              <a:buSzPct val="100000"/>
              <a:buChar char="❏"/>
            </a:pPr>
            <a:r>
              <a:rPr lang="en-US" sz="1700" b="1" dirty="0">
                <a:solidFill>
                  <a:schemeClr val="tx1"/>
                </a:solidFill>
              </a:rPr>
              <a:t>출처 (Sources)</a:t>
            </a:r>
            <a:endParaRPr lang="en-US" sz="1700" dirty="0"/>
          </a:p>
          <a:p>
            <a:pPr lvl="1" marL="558800" indent="-279400">
              <a:spcBef>
                <a:spcPts val="300"/>
              </a:spcBef>
              <a:buSzPct val="100000"/>
              <a:buChar char="❏"/>
            </a:pPr>
            <a:r>
              <a:rPr lang="en-US" sz="1400" dirty="0">
                <a:solidFill>
                  <a:schemeClr val="tx1"/>
                </a:solidFill>
              </a:rPr>
              <a:t>투구 데이터: Baseball Savant </a:t>
            </a:r>
            <a:r>
              <a:rPr lang="en-US" sz="1400" b="1" dirty="0">
                <a:solidFill>
                  <a:schemeClr val="tx1"/>
                </a:solidFill>
              </a:rPr>
              <a:t>Statcast</a:t>
            </a:r>
            <a:r>
              <a:rPr lang="en-US" sz="1400" dirty="0">
                <a:solidFill>
                  <a:schemeClr val="tx1"/>
                </a:solidFill>
              </a:rPr>
              <a:t>, 투구 단위</a:t>
            </a:r>
            <a:endParaRPr lang="en-US" sz="1700" dirty="0"/>
          </a:p>
          <a:p>
            <a:pPr lvl="1" marL="558800" indent="-279400">
              <a:spcBef>
                <a:spcPts val="300"/>
              </a:spcBef>
              <a:buSzPct val="100000"/>
              <a:buChar char="❏"/>
            </a:pPr>
            <a:r>
              <a:rPr lang="en-US" sz="1400" dirty="0">
                <a:solidFill>
                  <a:schemeClr val="tx1"/>
                </a:solidFill>
              </a:rPr>
              <a:t>부상 레이블: </a:t>
            </a:r>
            <a:r>
              <a:rPr lang="en-US" sz="1400" b="1" dirty="0">
                <a:solidFill>
                  <a:schemeClr val="tx1"/>
                </a:solidFill>
              </a:rPr>
              <a:t>MLB 공식 API 거래 기록</a:t>
            </a:r>
            <a:r>
              <a:rPr lang="en-US" sz="1400" dirty="0">
                <a:solidFill>
                  <a:schemeClr val="tx1"/>
                </a:solidFill>
              </a:rPr>
              <a:t> (IL 등재일, 부상 부위)</a:t>
            </a:r>
            <a:endParaRPr lang="en-US" sz="1700" dirty="0"/>
          </a:p>
          <a:p>
            <a:pPr lvl="1" marL="558800" indent="-279400">
              <a:spcBef>
                <a:spcPts val="300"/>
              </a:spcBef>
              <a:buSzPct val="100000"/>
              <a:buChar char="❏"/>
            </a:pPr>
            <a:r>
              <a:rPr lang="en-US" sz="1400" dirty="0">
                <a:solidFill>
                  <a:schemeClr val="tx1"/>
                </a:solidFill>
              </a:rPr>
              <a:t>기온: MLB API 경기별 날씨, 필요하면 Open-Meteo로 보완</a:t>
            </a:r>
            <a:endParaRPr lang="en-US" sz="1700" dirty="0"/>
          </a:p>
          <a:p>
            <a:pPr marL="330200" indent="-330200">
              <a:spcBef>
                <a:spcPts val="600"/>
              </a:spcBef>
              <a:buSzPct val="100000"/>
              <a:buChar char="❏"/>
            </a:pPr>
            <a:r>
              <a:rPr lang="en-US" sz="1700" b="1" dirty="0">
                <a:solidFill>
                  <a:schemeClr val="tx1"/>
                </a:solidFill>
              </a:rPr>
              <a:t>데이터 정보 (Data info)</a:t>
            </a:r>
            <a:endParaRPr lang="en-US" sz="1700" dirty="0"/>
          </a:p>
        </p:txBody>
      </p:sp>
      <p:graphicFrame>
        <p:nvGraphicFramePr>
          <p:cNvPr id="10" name="Data info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68580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704088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항목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내용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기간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2021–2026 정규시즌 (6시즌). 2017년 구속 정의 변경·2020년 Hawk-Eye 전환 이후 구간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규모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투구 약 438만 개 · 시즌당 투수 855–909명 · IL 등재 3,340건 (팔 관련 1,683건)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빈도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투구를 투수 × 등판 단위로 집계 (등판 간격은 불규칙)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핵심 변수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구속, 릴리스 좌우·높이, 익스텐션, 회전수, 구종, 투수, 날짜, 경기 번호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외생 변수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등판 간격, 최근 7·14·28일 누적 투구 수, ACWR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Bullets"/>
          <p:cNvSpPr txBox="1"/>
          <p:nvPr/>
        </p:nvSpPr>
        <p:spPr>
          <a:xfrm>
            <a:off x="228600" y="4425696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558800" indent="-279400">
              <a:spcBef>
                <a:spcPts val="300"/>
              </a:spcBef>
              <a:buSzPct val="100000"/>
              <a:buChar char="❏"/>
            </a:pPr>
            <a:r>
              <a:rPr lang="en-US" sz="1300" b="1" dirty="0">
                <a:solidFill>
                  <a:schemeClr val="tx1"/>
                </a:solidFill>
              </a:rPr>
              <a:t>연구 적합성</a:t>
            </a:r>
            <a:r>
              <a:rPr lang="en-US" sz="1300" dirty="0">
                <a:solidFill>
                  <a:schemeClr val="tx1"/>
                </a:solidFill>
              </a:rPr>
              <a:t>: 길고 공개된 투구 단위 시계열이 실제 부상 레이블과 연결되어, 경보가 실제 결과와 맞았는지 검증할 수 있다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828032"/>
            <a:ext cx="6858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3" type="title" hasCustomPrompt="1"/>
          </p:nvPr>
        </p:nvSpPr>
        <p:spPr>
          <a:xfrm>
            <a:off x="182880" y="45720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데이터</a:t>
            </a:r>
            <a:endParaRPr lang="en-US" sz="2200" dirty="0"/>
          </a:p>
        </p:txBody>
      </p:sp>
      <p:sp>
        <p:nvSpPr>
          <p:cNvPr id="3" name="Text 0"/>
          <p:cNvSpPr/>
          <p:nvPr>
            <p:ph idx="104" type="body" hasCustomPrompt="1"/>
          </p:nvPr>
        </p:nvSpPr>
        <p:spPr>
          <a:xfrm>
            <a:off x="274320" y="512064"/>
            <a:ext cx="6217920" cy="3236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분석 단위와 변수</a:t>
            </a:r>
            <a:endParaRPr lang="en-US" sz="1600" dirty="0"/>
          </a:p>
        </p:txBody>
      </p:sp>
      <p:sp>
        <p:nvSpPr>
          <p:cNvPr id="4" name="Section tracker 1"/>
          <p:cNvSpPr/>
          <p:nvPr/>
        </p:nvSpPr>
        <p:spPr>
          <a:xfrm>
            <a:off x="4791456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연구 배경</a:t>
            </a:r>
            <a:endParaRPr lang="en-US" sz="900" dirty="0"/>
          </a:p>
        </p:txBody>
      </p:sp>
      <p:sp>
        <p:nvSpPr>
          <p:cNvPr id="5" name="Section tracker 2"/>
          <p:cNvSpPr/>
          <p:nvPr/>
        </p:nvSpPr>
        <p:spPr>
          <a:xfrm>
            <a:off x="5632704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선행 연구</a:t>
            </a:r>
            <a:endParaRPr lang="en-US" sz="900" dirty="0"/>
          </a:p>
        </p:txBody>
      </p:sp>
      <p:sp>
        <p:nvSpPr>
          <p:cNvPr id="6" name="Section tracker 3"/>
          <p:cNvSpPr/>
          <p:nvPr/>
        </p:nvSpPr>
        <p:spPr>
          <a:xfrm>
            <a:off x="6473952" y="137160"/>
            <a:ext cx="804672" cy="246888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데이터</a:t>
            </a:r>
            <a:endParaRPr lang="en-US" sz="900" dirty="0"/>
          </a:p>
        </p:txBody>
      </p:sp>
      <p:sp>
        <p:nvSpPr>
          <p:cNvPr id="7" name="Section tracker 4"/>
          <p:cNvSpPr/>
          <p:nvPr/>
        </p:nvSpPr>
        <p:spPr>
          <a:xfrm>
            <a:off x="7315200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방법론</a:t>
            </a:r>
            <a:endParaRPr lang="en-US" sz="900" dirty="0"/>
          </a:p>
        </p:txBody>
      </p:sp>
      <p:sp>
        <p:nvSpPr>
          <p:cNvPr id="8" name="Section tracker 5"/>
          <p:cNvSpPr/>
          <p:nvPr/>
        </p:nvSpPr>
        <p:spPr>
          <a:xfrm>
            <a:off x="8156448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EDA</a:t>
            </a:r>
            <a:endParaRPr lang="en-US" sz="900" dirty="0"/>
          </a:p>
        </p:txBody>
      </p:sp>
      <p:graphicFrame>
        <p:nvGraphicFramePr>
          <p:cNvPr id="11" name="Variable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68580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94560"/>
                <a:gridCol w="475488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그룹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변수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정의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 rowSpan="4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투구 지표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구속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등판 내 패스트볼 평균·최고 구속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구속 변동성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등판 내 패스트볼 구속의 표준편차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릴리스 포인트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수평·수직 릴리스 위치의 평균과 표준편차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보조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회전수, 익스텐션, 경기 내 구속 하락 기울기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부하 지표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등판 간격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직전 등판 이후 일수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최근 투구량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최근 7·14·28일 누적 투구 수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ACWR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7일 평균 ÷ 28일 평균 투구량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Bullets"/>
          <p:cNvSpPr txBox="1"/>
          <p:nvPr/>
        </p:nvSpPr>
        <p:spPr>
          <a:xfrm>
            <a:off x="228600" y="374904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558800" indent="-279400">
              <a:spcBef>
                <a:spcPts val="300"/>
              </a:spcBef>
              <a:buSzPct val="100000"/>
              <a:buChar char="❏"/>
            </a:pPr>
            <a:r>
              <a:rPr lang="en-US" sz="1450" b="1" dirty="0">
                <a:solidFill>
                  <a:schemeClr val="tx1"/>
                </a:solidFill>
              </a:rPr>
              <a:t>분석 단위</a:t>
            </a:r>
            <a:r>
              <a:rPr lang="en-US" sz="1450" dirty="0">
                <a:solidFill>
                  <a:schemeClr val="tx1"/>
                </a:solidFill>
              </a:rPr>
              <a:t>: 투수 × 등판. 시간축 = 등판 순번, 등판 간격은 별도 변수</a:t>
            </a:r>
            <a:endParaRPr lang="en-US" sz="1450" dirty="0"/>
          </a:p>
          <a:p>
            <a:pPr lvl="1" marL="558800" indent="-279400">
              <a:spcBef>
                <a:spcPts val="300"/>
              </a:spcBef>
              <a:buSzPct val="100000"/>
              <a:buChar char="❏"/>
            </a:pPr>
            <a:r>
              <a:rPr lang="en-US" sz="1450" b="1" dirty="0">
                <a:solidFill>
                  <a:schemeClr val="tx1"/>
                </a:solidFill>
              </a:rPr>
              <a:t>부상 사건</a:t>
            </a:r>
            <a:r>
              <a:rPr lang="en-US" sz="1450" dirty="0">
                <a:solidFill>
                  <a:schemeClr val="tx1"/>
                </a:solidFill>
              </a:rPr>
              <a:t>: 팔 관련 사유로 IL 등재</a:t>
            </a:r>
            <a:endParaRPr lang="en-US" sz="1450" dirty="0"/>
          </a:p>
          <a:p>
            <a:pPr lvl="1" marL="558800" indent="-279400">
              <a:spcBef>
                <a:spcPts val="300"/>
              </a:spcBef>
              <a:buSzPct val="100000"/>
              <a:buChar char="❏"/>
            </a:pPr>
            <a:r>
              <a:rPr lang="en-US" sz="1450" dirty="0">
                <a:solidFill>
                  <a:schemeClr val="tx1"/>
                </a:solidFill>
              </a:rPr>
              <a:t>IL 기록은 </a:t>
            </a:r>
            <a:r>
              <a:rPr lang="en-US" sz="1450" b="1" dirty="0">
                <a:solidFill>
                  <a:schemeClr val="tx1"/>
                </a:solidFill>
              </a:rPr>
              <a:t>평가에만</a:t>
            </a:r>
            <a:r>
              <a:rPr lang="en-US" sz="1450" dirty="0">
                <a:solidFill>
                  <a:schemeClr val="tx1"/>
                </a:solidFill>
              </a:rPr>
              <a:t> 쓰고, 학습에는 쓰지 않는다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828032"/>
            <a:ext cx="6858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3" type="title" hasCustomPrompt="1"/>
          </p:nvPr>
        </p:nvSpPr>
        <p:spPr>
          <a:xfrm>
            <a:off x="182880" y="45720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방법론</a:t>
            </a:r>
            <a:endParaRPr lang="en-US" sz="2200" dirty="0"/>
          </a:p>
        </p:txBody>
      </p:sp>
      <p:sp>
        <p:nvSpPr>
          <p:cNvPr id="3" name="Text 0"/>
          <p:cNvSpPr/>
          <p:nvPr>
            <p:ph idx="104" type="body" hasCustomPrompt="1"/>
          </p:nvPr>
        </p:nvSpPr>
        <p:spPr>
          <a:xfrm>
            <a:off x="274320" y="512064"/>
            <a:ext cx="6217920" cy="3236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연구 질문 (RQ)</a:t>
            </a:r>
            <a:endParaRPr lang="en-US" sz="1600" dirty="0"/>
          </a:p>
        </p:txBody>
      </p:sp>
      <p:sp>
        <p:nvSpPr>
          <p:cNvPr id="4" name="Section tracker 1"/>
          <p:cNvSpPr/>
          <p:nvPr/>
        </p:nvSpPr>
        <p:spPr>
          <a:xfrm>
            <a:off x="4791456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연구 배경</a:t>
            </a:r>
            <a:endParaRPr lang="en-US" sz="900" dirty="0"/>
          </a:p>
        </p:txBody>
      </p:sp>
      <p:sp>
        <p:nvSpPr>
          <p:cNvPr id="5" name="Section tracker 2"/>
          <p:cNvSpPr/>
          <p:nvPr/>
        </p:nvSpPr>
        <p:spPr>
          <a:xfrm>
            <a:off x="5632704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선행 연구</a:t>
            </a:r>
            <a:endParaRPr lang="en-US" sz="900" dirty="0"/>
          </a:p>
        </p:txBody>
      </p:sp>
      <p:sp>
        <p:nvSpPr>
          <p:cNvPr id="6" name="Section tracker 3"/>
          <p:cNvSpPr/>
          <p:nvPr/>
        </p:nvSpPr>
        <p:spPr>
          <a:xfrm>
            <a:off x="6473952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데이터</a:t>
            </a:r>
            <a:endParaRPr lang="en-US" sz="900" dirty="0"/>
          </a:p>
        </p:txBody>
      </p:sp>
      <p:sp>
        <p:nvSpPr>
          <p:cNvPr id="7" name="Section tracker 4"/>
          <p:cNvSpPr/>
          <p:nvPr/>
        </p:nvSpPr>
        <p:spPr>
          <a:xfrm>
            <a:off x="7315200" y="137160"/>
            <a:ext cx="804672" cy="246888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방법론</a:t>
            </a:r>
            <a:endParaRPr lang="en-US" sz="900" dirty="0"/>
          </a:p>
        </p:txBody>
      </p:sp>
      <p:sp>
        <p:nvSpPr>
          <p:cNvPr id="8" name="Section tracker 5"/>
          <p:cNvSpPr/>
          <p:nvPr/>
        </p:nvSpPr>
        <p:spPr>
          <a:xfrm>
            <a:off x="8156448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EDA</a:t>
            </a:r>
            <a:endParaRPr lang="en-US" sz="900" dirty="0"/>
          </a:p>
        </p:txBody>
      </p:sp>
      <p:sp>
        <p:nvSpPr>
          <p:cNvPr id="9" name="RQ1 badge"/>
          <p:cNvSpPr/>
          <p:nvPr/>
        </p:nvSpPr>
        <p:spPr>
          <a:xfrm>
            <a:off x="274320" y="1024128"/>
            <a:ext cx="1005840" cy="804672"/>
          </a:xfrm>
          <a:prstGeom prst="rect">
            <a:avLst/>
          </a:prstGeom>
          <a:noFill/>
          <a:ln w="15875">
            <a:solidFill>
              <a:srgbClr val="000000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RQ1</a:t>
            </a:r>
            <a:endParaRPr lang="en-US" sz="1200" dirty="0"/>
          </a:p>
        </p:txBody>
      </p:sp>
      <p:sp>
        <p:nvSpPr>
          <p:cNvPr id="10" name="RQ1 question"/>
          <p:cNvSpPr/>
          <p:nvPr/>
        </p:nvSpPr>
        <p:spPr>
          <a:xfrm>
            <a:off x="1371600" y="1024128"/>
            <a:ext cx="7498080" cy="804672"/>
          </a:xfrm>
          <a:prstGeom prst="rect">
            <a:avLst/>
          </a:prstGeom>
          <a:noFill/>
          <a:ln w="9525">
            <a:solidFill>
              <a:srgbClr val="000000"/>
            </a:solidFill>
          </a:ln>
        </p:spPr>
        <p:txBody>
          <a:bodyPr wrap="square" lIns="152400" tIns="152400" rIns="152400" bIns="15240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투수 자신의 과거로 예측한 구속과 실제 구속의 차이(잔차)로 팔 부상 IL 등재를 얼마나 일찍, 얼마나 정확하게 감지할 수 있는가?</a:t>
            </a:r>
            <a:endParaRPr lang="en-US" sz="1200" dirty="0"/>
          </a:p>
        </p:txBody>
      </p:sp>
      <p:sp>
        <p:nvSpPr>
          <p:cNvPr id="11" name="RQ2 badge"/>
          <p:cNvSpPr/>
          <p:nvPr/>
        </p:nvSpPr>
        <p:spPr>
          <a:xfrm>
            <a:off x="274320" y="1956816"/>
            <a:ext cx="1005840" cy="804672"/>
          </a:xfrm>
          <a:prstGeom prst="rect">
            <a:avLst/>
          </a:prstGeom>
          <a:noFill/>
          <a:ln w="15875">
            <a:solidFill>
              <a:srgbClr val="000000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RQ2</a:t>
            </a:r>
            <a:endParaRPr lang="en-US" sz="1200" dirty="0"/>
          </a:p>
        </p:txBody>
      </p:sp>
      <p:sp>
        <p:nvSpPr>
          <p:cNvPr id="12" name="RQ2 question"/>
          <p:cNvSpPr/>
          <p:nvPr/>
        </p:nvSpPr>
        <p:spPr>
          <a:xfrm>
            <a:off x="1371600" y="1956816"/>
            <a:ext cx="7498080" cy="804672"/>
          </a:xfrm>
          <a:prstGeom prst="rect">
            <a:avLst/>
          </a:prstGeom>
          <a:noFill/>
          <a:ln w="9525">
            <a:solidFill>
              <a:srgbClr val="000000"/>
            </a:solidFill>
          </a:ln>
        </p:spPr>
        <p:txBody>
          <a:bodyPr wrap="square" lIns="152400" tIns="152400" rIns="152400" bIns="15240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부상 직전 몇 차례 등판에서 구속, 구속 변동성, 릴리스 포인트는 투수 자신의 평소 수준과 다르게 움직이는가?</a:t>
            </a:r>
            <a:endParaRPr lang="en-US" sz="1200" dirty="0"/>
          </a:p>
        </p:txBody>
      </p:sp>
      <p:sp>
        <p:nvSpPr>
          <p:cNvPr id="13" name="RQ3 badge"/>
          <p:cNvSpPr/>
          <p:nvPr/>
        </p:nvSpPr>
        <p:spPr>
          <a:xfrm>
            <a:off x="274320" y="2889504"/>
            <a:ext cx="1005840" cy="804672"/>
          </a:xfrm>
          <a:prstGeom prst="rect">
            <a:avLst/>
          </a:prstGeom>
          <a:noFill/>
          <a:ln w="15875">
            <a:solidFill>
              <a:srgbClr val="000000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RQ3</a:t>
            </a:r>
            <a:endParaRPr lang="en-US" sz="1200" dirty="0"/>
          </a:p>
        </p:txBody>
      </p:sp>
      <p:sp>
        <p:nvSpPr>
          <p:cNvPr id="14" name="RQ3 question"/>
          <p:cNvSpPr/>
          <p:nvPr/>
        </p:nvSpPr>
        <p:spPr>
          <a:xfrm>
            <a:off x="1371600" y="2889504"/>
            <a:ext cx="7498080" cy="804672"/>
          </a:xfrm>
          <a:prstGeom prst="rect">
            <a:avLst/>
          </a:prstGeom>
          <a:noFill/>
          <a:ln w="9525">
            <a:solidFill>
              <a:srgbClr val="000000"/>
            </a:solidFill>
          </a:ln>
        </p:spPr>
        <p:txBody>
          <a:bodyPr wrap="square" lIns="152400" tIns="152400" rIns="152400" bIns="15240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등판 간격, 최근 7·14·28일 누적 투구 수 같은 부하 지표를 더하면 경보 성능이 좋아지는가?</a:t>
            </a:r>
            <a:endParaRPr lang="en-US" sz="1200" dirty="0"/>
          </a:p>
        </p:txBody>
      </p:sp>
      <p:sp>
        <p:nvSpPr>
          <p:cNvPr id="15" name="RQ4 badge"/>
          <p:cNvSpPr/>
          <p:nvPr/>
        </p:nvSpPr>
        <p:spPr>
          <a:xfrm>
            <a:off x="274320" y="3822192"/>
            <a:ext cx="1005840" cy="804672"/>
          </a:xfrm>
          <a:prstGeom prst="rect">
            <a:avLst/>
          </a:prstGeom>
          <a:noFill/>
          <a:ln w="15875">
            <a:solidFill>
              <a:srgbClr val="000000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RQ4</a:t>
            </a:r>
            <a:endParaRPr lang="en-US" sz="1200" dirty="0"/>
          </a:p>
        </p:txBody>
      </p:sp>
      <p:sp>
        <p:nvSpPr>
          <p:cNvPr id="16" name="RQ4 question"/>
          <p:cNvSpPr/>
          <p:nvPr/>
        </p:nvSpPr>
        <p:spPr>
          <a:xfrm>
            <a:off x="1371600" y="3822192"/>
            <a:ext cx="7498080" cy="804672"/>
          </a:xfrm>
          <a:prstGeom prst="rect">
            <a:avLst/>
          </a:prstGeom>
          <a:noFill/>
          <a:ln w="9525">
            <a:solidFill>
              <a:srgbClr val="000000"/>
            </a:solidFill>
          </a:ln>
        </p:spPr>
        <p:txBody>
          <a:bodyPr wrap="square" lIns="152400" tIns="152400" rIns="152400" bIns="15240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강속구 투수와 그렇지 않은 투수 사이에 경보 신호의 강도가 다른가?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828032"/>
            <a:ext cx="6858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3" type="title" hasCustomPrompt="1"/>
          </p:nvPr>
        </p:nvSpPr>
        <p:spPr>
          <a:xfrm>
            <a:off x="182880" y="45720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방법론</a:t>
            </a:r>
            <a:endParaRPr lang="en-US" sz="2200" dirty="0"/>
          </a:p>
        </p:txBody>
      </p:sp>
      <p:sp>
        <p:nvSpPr>
          <p:cNvPr id="3" name="Text 0"/>
          <p:cNvSpPr/>
          <p:nvPr>
            <p:ph idx="104" type="body" hasCustomPrompt="1"/>
          </p:nvPr>
        </p:nvSpPr>
        <p:spPr>
          <a:xfrm>
            <a:off x="274320" y="512064"/>
            <a:ext cx="6217920" cy="3236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프레임워크</a:t>
            </a:r>
            <a:endParaRPr lang="en-US" sz="1600" dirty="0"/>
          </a:p>
        </p:txBody>
      </p:sp>
      <p:sp>
        <p:nvSpPr>
          <p:cNvPr id="4" name="Section tracker 1"/>
          <p:cNvSpPr/>
          <p:nvPr/>
        </p:nvSpPr>
        <p:spPr>
          <a:xfrm>
            <a:off x="4791456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연구 배경</a:t>
            </a:r>
            <a:endParaRPr lang="en-US" sz="900" dirty="0"/>
          </a:p>
        </p:txBody>
      </p:sp>
      <p:sp>
        <p:nvSpPr>
          <p:cNvPr id="5" name="Section tracker 2"/>
          <p:cNvSpPr/>
          <p:nvPr/>
        </p:nvSpPr>
        <p:spPr>
          <a:xfrm>
            <a:off x="5632704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선행 연구</a:t>
            </a:r>
            <a:endParaRPr lang="en-US" sz="900" dirty="0"/>
          </a:p>
        </p:txBody>
      </p:sp>
      <p:sp>
        <p:nvSpPr>
          <p:cNvPr id="6" name="Section tracker 3"/>
          <p:cNvSpPr/>
          <p:nvPr/>
        </p:nvSpPr>
        <p:spPr>
          <a:xfrm>
            <a:off x="6473952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데이터</a:t>
            </a:r>
            <a:endParaRPr lang="en-US" sz="900" dirty="0"/>
          </a:p>
        </p:txBody>
      </p:sp>
      <p:sp>
        <p:nvSpPr>
          <p:cNvPr id="7" name="Section tracker 4"/>
          <p:cNvSpPr/>
          <p:nvPr/>
        </p:nvSpPr>
        <p:spPr>
          <a:xfrm>
            <a:off x="7315200" y="137160"/>
            <a:ext cx="804672" cy="246888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방법론</a:t>
            </a:r>
            <a:endParaRPr lang="en-US" sz="900" dirty="0"/>
          </a:p>
        </p:txBody>
      </p:sp>
      <p:sp>
        <p:nvSpPr>
          <p:cNvPr id="8" name="Section tracker 5"/>
          <p:cNvSpPr/>
          <p:nvPr/>
        </p:nvSpPr>
        <p:spPr>
          <a:xfrm>
            <a:off x="8156448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EDA</a:t>
            </a:r>
            <a:endParaRPr lang="en-US" sz="900" dirty="0"/>
          </a:p>
        </p:txBody>
      </p:sp>
      <p:sp>
        <p:nvSpPr>
          <p:cNvPr id="9" name="입력 데이터"/>
          <p:cNvSpPr/>
          <p:nvPr/>
        </p:nvSpPr>
        <p:spPr>
          <a:xfrm>
            <a:off x="274320" y="1051560"/>
            <a:ext cx="1828800" cy="2240280"/>
          </a:xfrm>
          <a:prstGeom prst="rect">
            <a:avLst/>
          </a:prstGeom>
          <a:noFill/>
          <a:ln w="9525">
            <a:solidFill>
              <a:srgbClr val="000000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입력 데이터</a:t>
            </a:r>
            <a:endParaRPr lang="en-US" sz="1200" dirty="0"/>
          </a:p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Statcast 투구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+ MLB IL 기록</a:t>
            </a:r>
            <a:endParaRPr lang="en-US" sz="1200" dirty="0"/>
          </a:p>
        </p:txBody>
      </p:sp>
      <p:sp>
        <p:nvSpPr>
          <p:cNvPr id="10" name="Arrow"/>
          <p:cNvSpPr/>
          <p:nvPr/>
        </p:nvSpPr>
        <p:spPr>
          <a:xfrm>
            <a:off x="2148840" y="2020824"/>
            <a:ext cx="301752" cy="301752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등판 시계열"/>
          <p:cNvSpPr/>
          <p:nvPr/>
        </p:nvSpPr>
        <p:spPr>
          <a:xfrm>
            <a:off x="2496312" y="1051560"/>
            <a:ext cx="1828800" cy="2240280"/>
          </a:xfrm>
          <a:prstGeom prst="rect">
            <a:avLst/>
          </a:prstGeom>
          <a:noFill/>
          <a:ln w="9525">
            <a:solidFill>
              <a:srgbClr val="000000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등판 시계열</a:t>
            </a:r>
            <a:endParaRPr lang="en-US" sz="1200" dirty="0"/>
          </a:p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투수별 구속, 변동성, 릴리스 포인트 (등판 순번 기준)</a:t>
            </a:r>
            <a:endParaRPr lang="en-US" sz="1200" dirty="0"/>
          </a:p>
        </p:txBody>
      </p:sp>
      <p:sp>
        <p:nvSpPr>
          <p:cNvPr id="12" name="Arrow"/>
          <p:cNvSpPr/>
          <p:nvPr/>
        </p:nvSpPr>
        <p:spPr>
          <a:xfrm>
            <a:off x="4370832" y="2020824"/>
            <a:ext cx="301752" cy="301752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모델"/>
          <p:cNvSpPr/>
          <p:nvPr/>
        </p:nvSpPr>
        <p:spPr>
          <a:xfrm>
            <a:off x="4718304" y="1051560"/>
            <a:ext cx="1828800" cy="2240280"/>
          </a:xfrm>
          <a:prstGeom prst="rect">
            <a:avLst/>
          </a:prstGeom>
          <a:noFill/>
          <a:ln w="9525">
            <a:solidFill>
              <a:srgbClr val="000000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모델</a:t>
            </a:r>
            <a:endParaRPr lang="en-US" sz="1200" dirty="0"/>
          </a:p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규칙 · EWMA · ARIMAX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MEWMA · 머신러닝 비교</a:t>
            </a:r>
            <a:endParaRPr lang="en-US" sz="1200" dirty="0"/>
          </a:p>
        </p:txBody>
      </p:sp>
      <p:sp>
        <p:nvSpPr>
          <p:cNvPr id="14" name="Arrow"/>
          <p:cNvSpPr/>
          <p:nvPr/>
        </p:nvSpPr>
        <p:spPr>
          <a:xfrm>
            <a:off x="6592824" y="2020824"/>
            <a:ext cx="301752" cy="301752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5" name="출력"/>
          <p:cNvSpPr/>
          <p:nvPr/>
        </p:nvSpPr>
        <p:spPr>
          <a:xfrm>
            <a:off x="6940296" y="1051560"/>
            <a:ext cx="1828800" cy="224028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출력</a:t>
            </a:r>
            <a:endParaRPr lang="en-US" sz="1200" dirty="0"/>
          </a:p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이상 점수 →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부상 경보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+ 선행 일수</a:t>
            </a:r>
            <a:endParaRPr lang="en-US" sz="1200" dirty="0"/>
          </a:p>
        </p:txBody>
      </p:sp>
      <p:sp>
        <p:nvSpPr>
          <p:cNvPr id="16" name="Exogenous"/>
          <p:cNvSpPr/>
          <p:nvPr/>
        </p:nvSpPr>
        <p:spPr>
          <a:xfrm>
            <a:off x="1371600" y="3520440"/>
            <a:ext cx="6400800" cy="548640"/>
          </a:xfrm>
          <a:prstGeom prst="rect">
            <a:avLst/>
          </a:prstGeom>
          <a:noFill/>
          <a:ln w="9525">
            <a:solidFill>
              <a:srgbClr val="000000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외생 변수 X: 등판 간격 · 최근 7·14·28일 누적 투구 수 · ACWR</a:t>
            </a:r>
            <a:endParaRPr lang="en-US" sz="1200" dirty="0"/>
          </a:p>
        </p:txBody>
      </p:sp>
      <p:sp>
        <p:nvSpPr>
          <p:cNvPr id="17" name="Alert success"/>
          <p:cNvSpPr txBox="1"/>
          <p:nvPr/>
        </p:nvSpPr>
        <p:spPr>
          <a:xfrm>
            <a:off x="274320" y="4279392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경보 성공  </a:t>
            </a:r>
            <a:r>
              <a:rPr lang="en-US" sz="1250" dirty="0">
                <a:solidFill>
                  <a:schemeClr val="tx1"/>
                </a:solidFill>
              </a:rPr>
              <a:t>IL 등재일 이전 직전 3회 등판 (약 21일) 안에 경보. 2·5회 등판으로도 평가해 검증 구간에서 확정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828032"/>
            <a:ext cx="6858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3" type="title" hasCustomPrompt="1"/>
          </p:nvPr>
        </p:nvSpPr>
        <p:spPr>
          <a:xfrm>
            <a:off x="182880" y="45720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방법론</a:t>
            </a:r>
            <a:endParaRPr lang="en-US" sz="2200" dirty="0"/>
          </a:p>
        </p:txBody>
      </p:sp>
      <p:sp>
        <p:nvSpPr>
          <p:cNvPr id="3" name="Text 0"/>
          <p:cNvSpPr/>
          <p:nvPr>
            <p:ph idx="104" type="body" hasCustomPrompt="1"/>
          </p:nvPr>
        </p:nvSpPr>
        <p:spPr>
          <a:xfrm>
            <a:off x="274320" y="512064"/>
            <a:ext cx="6217920" cy="3236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데이터 분할 · 모델 · 평가 지표</a:t>
            </a:r>
            <a:endParaRPr lang="en-US" sz="1600" dirty="0"/>
          </a:p>
        </p:txBody>
      </p:sp>
      <p:sp>
        <p:nvSpPr>
          <p:cNvPr id="4" name="Section tracker 1"/>
          <p:cNvSpPr/>
          <p:nvPr/>
        </p:nvSpPr>
        <p:spPr>
          <a:xfrm>
            <a:off x="4791456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연구 배경</a:t>
            </a:r>
            <a:endParaRPr lang="en-US" sz="900" dirty="0"/>
          </a:p>
        </p:txBody>
      </p:sp>
      <p:sp>
        <p:nvSpPr>
          <p:cNvPr id="5" name="Section tracker 2"/>
          <p:cNvSpPr/>
          <p:nvPr/>
        </p:nvSpPr>
        <p:spPr>
          <a:xfrm>
            <a:off x="5632704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선행 연구</a:t>
            </a:r>
            <a:endParaRPr lang="en-US" sz="900" dirty="0"/>
          </a:p>
        </p:txBody>
      </p:sp>
      <p:sp>
        <p:nvSpPr>
          <p:cNvPr id="6" name="Section tracker 3"/>
          <p:cNvSpPr/>
          <p:nvPr/>
        </p:nvSpPr>
        <p:spPr>
          <a:xfrm>
            <a:off x="6473952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데이터</a:t>
            </a:r>
            <a:endParaRPr lang="en-US" sz="900" dirty="0"/>
          </a:p>
        </p:txBody>
      </p:sp>
      <p:sp>
        <p:nvSpPr>
          <p:cNvPr id="7" name="Section tracker 4"/>
          <p:cNvSpPr/>
          <p:nvPr/>
        </p:nvSpPr>
        <p:spPr>
          <a:xfrm>
            <a:off x="7315200" y="137160"/>
            <a:ext cx="804672" cy="246888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방법론</a:t>
            </a:r>
            <a:endParaRPr lang="en-US" sz="900" dirty="0"/>
          </a:p>
        </p:txBody>
      </p:sp>
      <p:sp>
        <p:nvSpPr>
          <p:cNvPr id="8" name="Section tracker 5"/>
          <p:cNvSpPr/>
          <p:nvPr/>
        </p:nvSpPr>
        <p:spPr>
          <a:xfrm>
            <a:off x="8156448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EDA</a:t>
            </a:r>
            <a:endParaRPr lang="en-US" sz="900" dirty="0"/>
          </a:p>
        </p:txBody>
      </p:sp>
      <p:sp>
        <p:nvSpPr>
          <p:cNvPr id="9" name="Label 시간 순서 분할"/>
          <p:cNvSpPr txBox="1"/>
          <p:nvPr/>
        </p:nvSpPr>
        <p:spPr>
          <a:xfrm>
            <a:off x="274320" y="10058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시간 순서 분할</a:t>
            </a:r>
            <a:endParaRPr lang="en-US" sz="1300" dirty="0"/>
          </a:p>
        </p:txBody>
      </p:sp>
      <p:sp>
        <p:nvSpPr>
          <p:cNvPr id="10" name="Split 학습  2021–2024"/>
          <p:cNvSpPr/>
          <p:nvPr/>
        </p:nvSpPr>
        <p:spPr>
          <a:xfrm>
            <a:off x="1828800" y="987552"/>
            <a:ext cx="3672661" cy="329184"/>
          </a:xfrm>
          <a:prstGeom prst="rect">
            <a:avLst/>
          </a:prstGeom>
          <a:noFill/>
          <a:ln w="9525"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학습  2021–2024</a:t>
            </a:r>
            <a:endParaRPr lang="en-US" sz="1200" dirty="0"/>
          </a:p>
        </p:txBody>
      </p:sp>
      <p:sp>
        <p:nvSpPr>
          <p:cNvPr id="11" name="Split 검증  2025 (임계값 결정)"/>
          <p:cNvSpPr/>
          <p:nvPr/>
        </p:nvSpPr>
        <p:spPr>
          <a:xfrm>
            <a:off x="5556325" y="987552"/>
            <a:ext cx="1912441" cy="329184"/>
          </a:xfrm>
          <a:prstGeom prst="rect">
            <a:avLst/>
          </a:prstGeom>
          <a:noFill/>
          <a:ln w="9525"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검증  2025 (임계값 결정)</a:t>
            </a:r>
            <a:endParaRPr lang="en-US" sz="1200" dirty="0"/>
          </a:p>
        </p:txBody>
      </p:sp>
      <p:sp>
        <p:nvSpPr>
          <p:cNvPr id="12" name="Split 테스트  2026"/>
          <p:cNvSpPr/>
          <p:nvPr/>
        </p:nvSpPr>
        <p:spPr>
          <a:xfrm>
            <a:off x="7523629" y="987552"/>
            <a:ext cx="1291187" cy="329184"/>
          </a:xfrm>
          <a:prstGeom prst="rect">
            <a:avLst/>
          </a:prstGeom>
          <a:noFill/>
          <a:ln w="9525"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테스트  2026</a:t>
            </a:r>
            <a:endParaRPr lang="en-US" sz="1200" dirty="0"/>
          </a:p>
        </p:txBody>
      </p:sp>
      <p:sp>
        <p:nvSpPr>
          <p:cNvPr id="13" name="Label 모델"/>
          <p:cNvSpPr txBox="1"/>
          <p:nvPr/>
        </p:nvSpPr>
        <p:spPr>
          <a:xfrm>
            <a:off x="274320" y="1463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모델</a:t>
            </a:r>
            <a:endParaRPr lang="en-US" sz="1300" dirty="0"/>
          </a:p>
        </p:txBody>
      </p:sp>
      <p:sp>
        <p:nvSpPr>
          <p:cNvPr id="14" name="Label 평가 지표"/>
          <p:cNvSpPr txBox="1"/>
          <p:nvPr/>
        </p:nvSpPr>
        <p:spPr>
          <a:xfrm>
            <a:off x="5440680" y="1463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평가 지표</a:t>
            </a:r>
            <a:endParaRPr lang="en-US" sz="1300" dirty="0"/>
          </a:p>
        </p:txBody>
      </p:sp>
      <p:graphicFrame>
        <p:nvGraphicFramePr>
          <p:cNvPr id="14" name="Model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783080"/>
          <a:ext cx="68580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325880"/>
                <a:gridCol w="274320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구분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모델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설명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비교 기준선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1. 무작위 점수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우연 수준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 vMerge="1">
                  <a:tcPr/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2. 단순 규칙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평소보다 구속이 X mph 이상 떨어지면 경보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 vMerge="1">
                  <a:tcPr/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3. 부하 규칙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ACWR이 ±33%를 벗어나면 경보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시계열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4. EWMA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표준화 구속의 점진적 하락을 누적 탐지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 vMerge="1">
                  <a:tcPr/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5. ARIMAX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휴식일·누적 투구 수를 반영한 기대 구속 대비 잔차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추가 검증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6. 머신러닝 방법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시계열 구조를 쓰지 않는 방법과 같은 기준으로 비교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확장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7. MEWMA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구속·변동성·릴리스를 동시에 감시 (다변량)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7" name="Metric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40680" y="1783080"/>
          <a:ext cx="685800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4688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질문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지표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정확도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오경보를 투수-시즌당 1회 이하로 둘 때 재현율·정밀도 (주 지표 F1)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오경보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투수-시즌당 오경보 횟수, 대조군 경보율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조기성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첫 경보 → IL 등재 선행 일수 (중앙값·분포)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전체 성능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등판 단위 AUPRC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참고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구속 예측 오차 MAE, RMSE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828032"/>
            <a:ext cx="6858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3" type="title" hasCustomPrompt="1"/>
          </p:nvPr>
        </p:nvSpPr>
        <p:spPr>
          <a:xfrm>
            <a:off x="182880" y="45720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탐색적 데이터 분석 (EDA)</a:t>
            </a:r>
            <a:endParaRPr lang="en-US" sz="2200" dirty="0"/>
          </a:p>
        </p:txBody>
      </p:sp>
      <p:sp>
        <p:nvSpPr>
          <p:cNvPr id="3" name="Text 0"/>
          <p:cNvSpPr/>
          <p:nvPr>
            <p:ph idx="104" type="body" hasCustomPrompt="1"/>
          </p:nvPr>
        </p:nvSpPr>
        <p:spPr>
          <a:xfrm>
            <a:off x="274320" y="512064"/>
            <a:ext cx="6217920" cy="3236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(1) 리그 구속 추세와 IL 규모</a:t>
            </a:r>
            <a:endParaRPr lang="en-US" sz="1600" dirty="0"/>
          </a:p>
        </p:txBody>
      </p:sp>
      <p:sp>
        <p:nvSpPr>
          <p:cNvPr id="4" name="Section tracker 1"/>
          <p:cNvSpPr/>
          <p:nvPr/>
        </p:nvSpPr>
        <p:spPr>
          <a:xfrm>
            <a:off x="4791456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연구 배경</a:t>
            </a:r>
            <a:endParaRPr lang="en-US" sz="900" dirty="0"/>
          </a:p>
        </p:txBody>
      </p:sp>
      <p:sp>
        <p:nvSpPr>
          <p:cNvPr id="5" name="Section tracker 2"/>
          <p:cNvSpPr/>
          <p:nvPr/>
        </p:nvSpPr>
        <p:spPr>
          <a:xfrm>
            <a:off x="5632704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선행 연구</a:t>
            </a:r>
            <a:endParaRPr lang="en-US" sz="900" dirty="0"/>
          </a:p>
        </p:txBody>
      </p:sp>
      <p:sp>
        <p:nvSpPr>
          <p:cNvPr id="6" name="Section tracker 3"/>
          <p:cNvSpPr/>
          <p:nvPr/>
        </p:nvSpPr>
        <p:spPr>
          <a:xfrm>
            <a:off x="6473952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데이터</a:t>
            </a:r>
            <a:endParaRPr lang="en-US" sz="900" dirty="0"/>
          </a:p>
        </p:txBody>
      </p:sp>
      <p:sp>
        <p:nvSpPr>
          <p:cNvPr id="7" name="Section tracker 4"/>
          <p:cNvSpPr/>
          <p:nvPr/>
        </p:nvSpPr>
        <p:spPr>
          <a:xfrm>
            <a:off x="7315200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방법론</a:t>
            </a:r>
            <a:endParaRPr lang="en-US" sz="900" dirty="0"/>
          </a:p>
        </p:txBody>
      </p:sp>
      <p:sp>
        <p:nvSpPr>
          <p:cNvPr id="8" name="Section tracker 5"/>
          <p:cNvSpPr/>
          <p:nvPr/>
        </p:nvSpPr>
        <p:spPr>
          <a:xfrm>
            <a:off x="8156448" y="137160"/>
            <a:ext cx="804672" cy="246888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EDA</a:t>
            </a:r>
            <a:endParaRPr lang="en-US" sz="900" dirty="0"/>
          </a:p>
        </p:txBody>
      </p:sp>
      <p:pic>
        <p:nvPicPr>
          <p:cNvPr id="9" name="Velocity by year" descr="/tmp/claude-0/-home-user-timeseries/2d02c38b-48df-5b9a-b0cc-ec9424e3cff2/scratchpad/figs_ko/k01_veloc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41832"/>
            <a:ext cx="4206240" cy="2560320"/>
          </a:xfrm>
          <a:prstGeom prst="rect">
            <a:avLst/>
          </a:prstGeom>
        </p:spPr>
      </p:pic>
      <p:pic>
        <p:nvPicPr>
          <p:cNvPr id="10" name="IL pitchers by year" descr="/tmp/claude-0/-home-user-timeseries/2d02c38b-48df-5b9a-b0cc-ec9424e3cff2/scratchpad/figs_ko/k02_il_pitch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941832"/>
            <a:ext cx="4206240" cy="2560320"/>
          </a:xfrm>
          <a:prstGeom prst="rect">
            <a:avLst/>
          </a:prstGeom>
        </p:spPr>
      </p:pic>
      <p:sp>
        <p:nvSpPr>
          <p:cNvPr id="11" name="Caption"/>
          <p:cNvSpPr txBox="1"/>
          <p:nvPr/>
        </p:nvSpPr>
        <p:spPr>
          <a:xfrm>
            <a:off x="274320" y="3529584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연도별 포심 평균 구속 (투구 가중 평균, 왼쪽)과 IL 등재 고유 투수 수 (오른쪽), 2021–2026</a:t>
            </a:r>
            <a:endParaRPr lang="en-US" sz="950" dirty="0"/>
          </a:p>
        </p:txBody>
      </p:sp>
      <p:sp>
        <p:nvSpPr>
          <p:cNvPr id="12" name="Bullets"/>
          <p:cNvSpPr txBox="1"/>
          <p:nvPr/>
        </p:nvSpPr>
        <p:spPr>
          <a:xfrm>
            <a:off x="228600" y="3794760"/>
            <a:ext cx="8686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558800" indent="-279400">
              <a:spcBef>
                <a:spcPts val="300"/>
              </a:spcBef>
              <a:buSzPct val="100000"/>
              <a:buChar char="❏"/>
            </a:pPr>
            <a:r>
              <a:rPr lang="en-US" sz="1350" dirty="0">
                <a:solidFill>
                  <a:schemeClr val="tx1"/>
                </a:solidFill>
              </a:rPr>
              <a:t>리그 포심 구속이 6시즌 연속 상승: </a:t>
            </a:r>
            <a:r>
              <a:rPr lang="en-US" sz="1350" b="1" dirty="0">
                <a:solidFill>
                  <a:schemeClr val="tx1"/>
                </a:solidFill>
              </a:rPr>
              <a:t>93.69 → 94.77 mph</a:t>
            </a:r>
            <a:r>
              <a:rPr lang="en-US" sz="1350" dirty="0">
                <a:solidFill>
                  <a:schemeClr val="tx1"/>
                </a:solidFill>
              </a:rPr>
              <a:t> (+1.08) → 추세를 뺀 투수별 기준선이 필요</a:t>
            </a:r>
            <a:endParaRPr lang="en-US" sz="1350" dirty="0"/>
          </a:p>
          <a:p>
            <a:pPr lvl="1" marL="558800" indent="-279400">
              <a:spcBef>
                <a:spcPts val="300"/>
              </a:spcBef>
              <a:buSzPct val="100000"/>
              <a:buChar char="❏"/>
            </a:pPr>
            <a:r>
              <a:rPr lang="en-US" sz="1350" dirty="0">
                <a:solidFill>
                  <a:schemeClr val="tx1"/>
                </a:solidFill>
              </a:rPr>
              <a:t>IL 등재 투수는 연 </a:t>
            </a:r>
            <a:r>
              <a:rPr lang="en-US" sz="1350" b="1" dirty="0">
                <a:solidFill>
                  <a:schemeClr val="tx1"/>
                </a:solidFill>
              </a:rPr>
              <a:t>360–444명</a:t>
            </a:r>
            <a:r>
              <a:rPr lang="en-US" sz="1350" dirty="0">
                <a:solidFill>
                  <a:schemeClr val="tx1"/>
                </a:solidFill>
              </a:rPr>
              <a:t>. 2026년 기록은 9월 27일까지라 같은 기간으로 맞춰도 확인 (규모 확인용, 부상률 비교 아님)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828032"/>
            <a:ext cx="6858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3" type="title" hasCustomPrompt="1"/>
          </p:nvPr>
        </p:nvSpPr>
        <p:spPr>
          <a:xfrm>
            <a:off x="182880" y="45720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탐색적 데이터 분석 (EDA)</a:t>
            </a:r>
            <a:endParaRPr lang="en-US" sz="2200" dirty="0"/>
          </a:p>
        </p:txBody>
      </p:sp>
      <p:sp>
        <p:nvSpPr>
          <p:cNvPr id="3" name="Text 0"/>
          <p:cNvSpPr/>
          <p:nvPr>
            <p:ph idx="104" type="body" hasCustomPrompt="1"/>
          </p:nvPr>
        </p:nvSpPr>
        <p:spPr>
          <a:xfrm>
            <a:off x="274320" y="512064"/>
            <a:ext cx="6217920" cy="3236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(2) 부상 부위 구성</a:t>
            </a:r>
            <a:endParaRPr lang="en-US" sz="1600" dirty="0"/>
          </a:p>
        </p:txBody>
      </p:sp>
      <p:sp>
        <p:nvSpPr>
          <p:cNvPr id="4" name="Section tracker 1"/>
          <p:cNvSpPr/>
          <p:nvPr/>
        </p:nvSpPr>
        <p:spPr>
          <a:xfrm>
            <a:off x="4791456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연구 배경</a:t>
            </a:r>
            <a:endParaRPr lang="en-US" sz="900" dirty="0"/>
          </a:p>
        </p:txBody>
      </p:sp>
      <p:sp>
        <p:nvSpPr>
          <p:cNvPr id="5" name="Section tracker 2"/>
          <p:cNvSpPr/>
          <p:nvPr/>
        </p:nvSpPr>
        <p:spPr>
          <a:xfrm>
            <a:off x="5632704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선행 연구</a:t>
            </a:r>
            <a:endParaRPr lang="en-US" sz="900" dirty="0"/>
          </a:p>
        </p:txBody>
      </p:sp>
      <p:sp>
        <p:nvSpPr>
          <p:cNvPr id="6" name="Section tracker 3"/>
          <p:cNvSpPr/>
          <p:nvPr/>
        </p:nvSpPr>
        <p:spPr>
          <a:xfrm>
            <a:off x="6473952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데이터</a:t>
            </a:r>
            <a:endParaRPr lang="en-US" sz="900" dirty="0"/>
          </a:p>
        </p:txBody>
      </p:sp>
      <p:sp>
        <p:nvSpPr>
          <p:cNvPr id="7" name="Section tracker 4"/>
          <p:cNvSpPr/>
          <p:nvPr/>
        </p:nvSpPr>
        <p:spPr>
          <a:xfrm>
            <a:off x="7315200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방법론</a:t>
            </a:r>
            <a:endParaRPr lang="en-US" sz="900" dirty="0"/>
          </a:p>
        </p:txBody>
      </p:sp>
      <p:sp>
        <p:nvSpPr>
          <p:cNvPr id="8" name="Section tracker 5"/>
          <p:cNvSpPr/>
          <p:nvPr/>
        </p:nvSpPr>
        <p:spPr>
          <a:xfrm>
            <a:off x="8156448" y="137160"/>
            <a:ext cx="804672" cy="246888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EDA</a:t>
            </a:r>
            <a:endParaRPr lang="en-US" sz="900" dirty="0"/>
          </a:p>
        </p:txBody>
      </p:sp>
      <p:pic>
        <p:nvPicPr>
          <p:cNvPr id="9" name="Injury sites" descr="/tmp/claude-0/-home-user-timeseries/2d02c38b-48df-5b9a-b0cc-ec9424e3cff2/scratchpad/figs_ko/k03_sit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14400"/>
            <a:ext cx="4800600" cy="3200400"/>
          </a:xfrm>
          <a:prstGeom prst="rect">
            <a:avLst/>
          </a:prstGeom>
        </p:spPr>
      </p:pic>
      <p:pic>
        <p:nvPicPr>
          <p:cNvPr id="10" name="Site share by year" descr="/tmp/claude-0/-home-user-timeseries/2d02c38b-48df-5b9a-b0cc-ec9424e3cff2/scratchpad/figs_ko/k04_site_sha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914400"/>
            <a:ext cx="3657600" cy="3200400"/>
          </a:xfrm>
          <a:prstGeom prst="rect">
            <a:avLst/>
          </a:prstGeom>
        </p:spPr>
      </p:pic>
      <p:sp>
        <p:nvSpPr>
          <p:cNvPr id="11" name="Bullets"/>
          <p:cNvSpPr txBox="1"/>
          <p:nvPr/>
        </p:nvSpPr>
        <p:spPr>
          <a:xfrm>
            <a:off x="228600" y="4178808"/>
            <a:ext cx="8686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558800" indent="-279400">
              <a:spcBef>
                <a:spcPts val="300"/>
              </a:spcBef>
              <a:buSzPct val="100000"/>
              <a:buChar char="❏"/>
            </a:pPr>
            <a:r>
              <a:rPr lang="en-US" sz="1300" dirty="0">
                <a:solidFill>
                  <a:schemeClr val="tx1"/>
                </a:solidFill>
              </a:rPr>
              <a:t>어깨 17.7%, 팔꿈치 16.0%, 전완 6.4%로 팔 부위가 가장 큰 비중 (분모는 IL 등재 건수, 고유 투수 수 아님)</a:t>
            </a:r>
            <a:endParaRPr lang="en-US" sz="1300" dirty="0"/>
          </a:p>
          <a:p>
            <a:pPr lvl="1" marL="558800" indent="-279400">
              <a:spcBef>
                <a:spcPts val="300"/>
              </a:spcBef>
              <a:buSzPct val="100000"/>
              <a:buChar char="❏"/>
            </a:pPr>
            <a:r>
              <a:rPr lang="en-US" sz="1300" dirty="0">
                <a:solidFill>
                  <a:schemeClr val="tx1"/>
                </a:solidFill>
              </a:rPr>
              <a:t>팔꿈치 비중이 </a:t>
            </a:r>
            <a:r>
              <a:rPr lang="en-US" sz="1300" b="1" dirty="0">
                <a:solidFill>
                  <a:schemeClr val="tx1"/>
                </a:solidFill>
              </a:rPr>
              <a:t>10% (2021) → 22% (2026)</a:t>
            </a:r>
            <a:r>
              <a:rPr lang="en-US" sz="1300" dirty="0">
                <a:solidFill>
                  <a:schemeClr val="tx1"/>
                </a:solidFill>
              </a:rPr>
              <a:t>로 증가 → 팔 관련 IL을 주 분석 사건으로 정의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828032"/>
            <a:ext cx="6858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3" type="title" hasCustomPrompt="1"/>
          </p:nvPr>
        </p:nvSpPr>
        <p:spPr>
          <a:xfrm>
            <a:off x="182880" y="45720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탐색적 데이터 분석 (EDA)</a:t>
            </a:r>
            <a:endParaRPr lang="en-US" sz="2200" dirty="0"/>
          </a:p>
        </p:txBody>
      </p:sp>
      <p:sp>
        <p:nvSpPr>
          <p:cNvPr id="3" name="Text 0"/>
          <p:cNvSpPr/>
          <p:nvPr>
            <p:ph idx="104" type="body" hasCustomPrompt="1"/>
          </p:nvPr>
        </p:nvSpPr>
        <p:spPr>
          <a:xfrm>
            <a:off x="274320" y="512064"/>
            <a:ext cx="6217920" cy="3236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(3) IL 직전 구속 변화</a:t>
            </a:r>
            <a:endParaRPr lang="en-US" sz="1600" dirty="0"/>
          </a:p>
        </p:txBody>
      </p:sp>
      <p:sp>
        <p:nvSpPr>
          <p:cNvPr id="4" name="Section tracker 1"/>
          <p:cNvSpPr/>
          <p:nvPr/>
        </p:nvSpPr>
        <p:spPr>
          <a:xfrm>
            <a:off x="4791456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연구 배경</a:t>
            </a:r>
            <a:endParaRPr lang="en-US" sz="900" dirty="0"/>
          </a:p>
        </p:txBody>
      </p:sp>
      <p:sp>
        <p:nvSpPr>
          <p:cNvPr id="5" name="Section tracker 2"/>
          <p:cNvSpPr/>
          <p:nvPr/>
        </p:nvSpPr>
        <p:spPr>
          <a:xfrm>
            <a:off x="5632704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선행 연구</a:t>
            </a:r>
            <a:endParaRPr lang="en-US" sz="900" dirty="0"/>
          </a:p>
        </p:txBody>
      </p:sp>
      <p:sp>
        <p:nvSpPr>
          <p:cNvPr id="6" name="Section tracker 3"/>
          <p:cNvSpPr/>
          <p:nvPr/>
        </p:nvSpPr>
        <p:spPr>
          <a:xfrm>
            <a:off x="6473952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데이터</a:t>
            </a:r>
            <a:endParaRPr lang="en-US" sz="900" dirty="0"/>
          </a:p>
        </p:txBody>
      </p:sp>
      <p:sp>
        <p:nvSpPr>
          <p:cNvPr id="7" name="Section tracker 4"/>
          <p:cNvSpPr/>
          <p:nvPr/>
        </p:nvSpPr>
        <p:spPr>
          <a:xfrm>
            <a:off x="7315200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방법론</a:t>
            </a:r>
            <a:endParaRPr lang="en-US" sz="900" dirty="0"/>
          </a:p>
        </p:txBody>
      </p:sp>
      <p:sp>
        <p:nvSpPr>
          <p:cNvPr id="8" name="Section tracker 5"/>
          <p:cNvSpPr/>
          <p:nvPr/>
        </p:nvSpPr>
        <p:spPr>
          <a:xfrm>
            <a:off x="8156448" y="137160"/>
            <a:ext cx="804672" cy="246888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EDA</a:t>
            </a:r>
            <a:endParaRPr lang="en-US" sz="900" dirty="0"/>
          </a:p>
        </p:txBody>
      </p:sp>
      <p:pic>
        <p:nvPicPr>
          <p:cNvPr id="9" name="Velocity diff" descr="/tmp/claude-0/-home-user-timeseries/2d02c38b-48df-5b9a-b0cc-ec9424e3cff2/scratchpad/figs_ko/k05_velocity_di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32688"/>
            <a:ext cx="5577840" cy="2478024"/>
          </a:xfrm>
          <a:prstGeom prst="rect">
            <a:avLst/>
          </a:prstGeom>
        </p:spPr>
      </p:pic>
      <p:graphicFrame>
        <p:nvGraphicFramePr>
          <p:cNvPr id="17" name="Event count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35040" y="1545336"/>
          <a:ext cx="68580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868680"/>
                <a:gridCol w="96012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사건 수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전체 IL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팔 관련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직전 1등판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1,479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663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직전 3등판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1,066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460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직전 5등판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786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329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Caption"/>
          <p:cNvSpPr txBox="1"/>
          <p:nvPr/>
        </p:nvSpPr>
        <p:spPr>
          <a:xfrm>
            <a:off x="182880" y="3456432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같은 투수의 현재 IL 구간 안에서 직전 N등판 평균 − 그 이전 등판 평균 (점: 차이, 선: 95% CI, 선수 단위 부트스트랩 2,000회)</a:t>
            </a:r>
            <a:endParaRPr lang="en-US" sz="950" dirty="0"/>
          </a:p>
        </p:txBody>
      </p:sp>
      <p:sp>
        <p:nvSpPr>
          <p:cNvPr id="12" name="Bullets"/>
          <p:cNvSpPr txBox="1"/>
          <p:nvPr/>
        </p:nvSpPr>
        <p:spPr>
          <a:xfrm>
            <a:off x="228600" y="3730752"/>
            <a:ext cx="8686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558800" indent="-279400">
              <a:spcBef>
                <a:spcPts val="300"/>
              </a:spcBef>
              <a:buSzPct val="100000"/>
              <a:buChar char="❏"/>
            </a:pPr>
            <a:r>
              <a:rPr lang="en-US" sz="1300" b="1" dirty="0">
                <a:solidFill>
                  <a:schemeClr val="tx1"/>
                </a:solidFill>
              </a:rPr>
              <a:t>같은 투수 내부 비교</a:t>
            </a:r>
            <a:r>
              <a:rPr lang="en-US" sz="1300" dirty="0">
                <a:solidFill>
                  <a:schemeClr val="tx1"/>
                </a:solidFill>
              </a:rPr>
              <a:t>다. 건강한 투수 집단과의 비교가 아니다</a:t>
            </a:r>
            <a:endParaRPr lang="en-US" sz="1300" dirty="0"/>
          </a:p>
          <a:p>
            <a:pPr lvl="1" marL="558800" indent="-279400">
              <a:spcBef>
                <a:spcPts val="300"/>
              </a:spcBef>
              <a:buSzPct val="100000"/>
              <a:buChar char="❏"/>
            </a:pPr>
            <a:r>
              <a:rPr lang="en-US" sz="1300" dirty="0">
                <a:solidFill>
                  <a:schemeClr val="tx1"/>
                </a:solidFill>
              </a:rPr>
              <a:t>직전 1등판에서 가장 크게 떨어지고 (전체 −0.26, 팔 관련 −0.37 mph), N이 커질수록 차이가 줄어든다. 팔 관련 IL이 모든 구간에서 더 크게 하락</a:t>
            </a:r>
            <a:endParaRPr lang="en-US" sz="1300" dirty="0"/>
          </a:p>
          <a:p>
            <a:pPr lvl="1" marL="457200" indent="-228600">
              <a:spcBef>
                <a:spcPts val="400"/>
              </a:spcBef>
              <a:buSzPct val="100000"/>
              <a:buChar char="➡"/>
            </a:pPr>
            <a:r>
              <a:rPr lang="en-US" sz="1300" dirty="0">
                <a:solidFill>
                  <a:schemeClr val="tx1"/>
                </a:solidFill>
              </a:rPr>
              <a:t>하락은 IL 직전에 몰린다 → 경보창은 짧게 (직전 3등판 기준, 2·5등판으로 확인)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828032"/>
            <a:ext cx="6858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3" type="title" hasCustomPrompt="1"/>
          </p:nvPr>
        </p:nvSpPr>
        <p:spPr>
          <a:xfrm>
            <a:off x="182880" y="45720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탐색적 데이터 분석 (EDA)</a:t>
            </a:r>
            <a:endParaRPr lang="en-US" sz="2200" dirty="0"/>
          </a:p>
        </p:txBody>
      </p:sp>
      <p:sp>
        <p:nvSpPr>
          <p:cNvPr id="3" name="Text 0"/>
          <p:cNvSpPr/>
          <p:nvPr>
            <p:ph idx="104" type="body" hasCustomPrompt="1"/>
          </p:nvPr>
        </p:nvSpPr>
        <p:spPr>
          <a:xfrm>
            <a:off x="274320" y="512064"/>
            <a:ext cx="6217920" cy="3236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(4) IL 직전 회전수와 회전수/구속 비율</a:t>
            </a:r>
            <a:endParaRPr lang="en-US" sz="1600" dirty="0"/>
          </a:p>
        </p:txBody>
      </p:sp>
      <p:sp>
        <p:nvSpPr>
          <p:cNvPr id="4" name="Section tracker 1"/>
          <p:cNvSpPr/>
          <p:nvPr/>
        </p:nvSpPr>
        <p:spPr>
          <a:xfrm>
            <a:off x="4791456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연구 배경</a:t>
            </a:r>
            <a:endParaRPr lang="en-US" sz="900" dirty="0"/>
          </a:p>
        </p:txBody>
      </p:sp>
      <p:sp>
        <p:nvSpPr>
          <p:cNvPr id="5" name="Section tracker 2"/>
          <p:cNvSpPr/>
          <p:nvPr/>
        </p:nvSpPr>
        <p:spPr>
          <a:xfrm>
            <a:off x="5632704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선행 연구</a:t>
            </a:r>
            <a:endParaRPr lang="en-US" sz="900" dirty="0"/>
          </a:p>
        </p:txBody>
      </p:sp>
      <p:sp>
        <p:nvSpPr>
          <p:cNvPr id="6" name="Section tracker 3"/>
          <p:cNvSpPr/>
          <p:nvPr/>
        </p:nvSpPr>
        <p:spPr>
          <a:xfrm>
            <a:off x="6473952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데이터</a:t>
            </a:r>
            <a:endParaRPr lang="en-US" sz="900" dirty="0"/>
          </a:p>
        </p:txBody>
      </p:sp>
      <p:sp>
        <p:nvSpPr>
          <p:cNvPr id="7" name="Section tracker 4"/>
          <p:cNvSpPr/>
          <p:nvPr/>
        </p:nvSpPr>
        <p:spPr>
          <a:xfrm>
            <a:off x="7315200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방법론</a:t>
            </a:r>
            <a:endParaRPr lang="en-US" sz="900" dirty="0"/>
          </a:p>
        </p:txBody>
      </p:sp>
      <p:sp>
        <p:nvSpPr>
          <p:cNvPr id="8" name="Section tracker 5"/>
          <p:cNvSpPr/>
          <p:nvPr/>
        </p:nvSpPr>
        <p:spPr>
          <a:xfrm>
            <a:off x="8156448" y="137160"/>
            <a:ext cx="804672" cy="246888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EDA</a:t>
            </a:r>
            <a:endParaRPr lang="en-US" sz="900" dirty="0"/>
          </a:p>
        </p:txBody>
      </p:sp>
      <p:pic>
        <p:nvPicPr>
          <p:cNvPr id="9" name="Spin diff" descr="/tmp/claude-0/-home-user-timeseries/2d02c38b-48df-5b9a-b0cc-ec9424e3cff2/scratchpad/figs_ko/k06_spin_di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14400"/>
            <a:ext cx="4206240" cy="2743200"/>
          </a:xfrm>
          <a:prstGeom prst="rect">
            <a:avLst/>
          </a:prstGeom>
        </p:spPr>
      </p:pic>
      <p:pic>
        <p:nvPicPr>
          <p:cNvPr id="10" name="Ratio diff" descr="/tmp/claude-0/-home-user-timeseries/2d02c38b-48df-5b9a-b0cc-ec9424e3cff2/scratchpad/figs_ko/k07_ratio_di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914400"/>
            <a:ext cx="4206240" cy="2743200"/>
          </a:xfrm>
          <a:prstGeom prst="rect">
            <a:avLst/>
          </a:prstGeom>
        </p:spPr>
      </p:pic>
      <p:sp>
        <p:nvSpPr>
          <p:cNvPr id="11" name="Caption"/>
          <p:cNvSpPr txBox="1"/>
          <p:nvPr/>
        </p:nvSpPr>
        <p:spPr>
          <a:xfrm>
            <a:off x="182880" y="370332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직전 N등판 − 이전 등판 (같은 투수 내부 비교). 채운 점 = 95% CI가 0을 포함하지 않음, 빈 점 = 0을 포함</a:t>
            </a:r>
            <a:endParaRPr lang="en-US" sz="950" dirty="0"/>
          </a:p>
        </p:txBody>
      </p:sp>
      <p:sp>
        <p:nvSpPr>
          <p:cNvPr id="12" name="Bullets"/>
          <p:cNvSpPr txBox="1"/>
          <p:nvPr/>
        </p:nvSpPr>
        <p:spPr>
          <a:xfrm>
            <a:off x="228600" y="4005072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558800" indent="-279400">
              <a:spcBef>
                <a:spcPts val="300"/>
              </a:spcBef>
              <a:buSzPct val="100000"/>
              <a:buChar char="❏"/>
            </a:pPr>
            <a:r>
              <a:rPr lang="en-US" sz="1300" dirty="0">
                <a:solidFill>
                  <a:schemeClr val="tx1"/>
                </a:solidFill>
              </a:rPr>
              <a:t>회전수: 직전 1등판 약 </a:t>
            </a:r>
            <a:r>
              <a:rPr lang="en-US" sz="1300" b="1" dirty="0">
                <a:solidFill>
                  <a:schemeClr val="tx1"/>
                </a:solidFill>
              </a:rPr>
              <a:t>−10 rpm</a:t>
            </a:r>
            <a:r>
              <a:rPr lang="en-US" sz="1300" dirty="0">
                <a:solidFill>
                  <a:schemeClr val="tx1"/>
                </a:solidFill>
              </a:rPr>
              <a:t> (전체 −10.4, 팔 관련 −10.9). 5등판으로 넓히면 95% CI가 0을 포함</a:t>
            </a:r>
            <a:endParaRPr lang="en-US" sz="1300" dirty="0"/>
          </a:p>
          <a:p>
            <a:pPr lvl="1" marL="558800" indent="-279400">
              <a:spcBef>
                <a:spcPts val="300"/>
              </a:spcBef>
              <a:buSzPct val="100000"/>
              <a:buChar char="❏"/>
            </a:pPr>
            <a:r>
              <a:rPr lang="en-US" sz="1300" dirty="0">
                <a:solidFill>
                  <a:schemeClr val="tx1"/>
                </a:solidFill>
              </a:rPr>
              <a:t>회전수/구속 비율: 전체 IL의 직전 1등판만 0보다 작고 (−0.045), 팔 관련 IL은 모든 구간에서 0을 포함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828032"/>
            <a:ext cx="6858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3" type="title" hasCustomPrompt="1"/>
          </p:nvPr>
        </p:nvSpPr>
        <p:spPr>
          <a:xfrm>
            <a:off x="182880" y="45720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탐색적 데이터 분석 (EDA)</a:t>
            </a:r>
            <a:endParaRPr lang="en-US" sz="2200" dirty="0"/>
          </a:p>
        </p:txBody>
      </p:sp>
      <p:sp>
        <p:nvSpPr>
          <p:cNvPr id="3" name="Text 0"/>
          <p:cNvSpPr/>
          <p:nvPr>
            <p:ph idx="104" type="body" hasCustomPrompt="1"/>
          </p:nvPr>
        </p:nvSpPr>
        <p:spPr>
          <a:xfrm>
            <a:off x="274320" y="512064"/>
            <a:ext cx="6217920" cy="3236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(5) 구속 집단별 같은 해 IL 등재율</a:t>
            </a:r>
            <a:endParaRPr lang="en-US" sz="1600" dirty="0"/>
          </a:p>
        </p:txBody>
      </p:sp>
      <p:sp>
        <p:nvSpPr>
          <p:cNvPr id="4" name="Section tracker 1"/>
          <p:cNvSpPr/>
          <p:nvPr/>
        </p:nvSpPr>
        <p:spPr>
          <a:xfrm>
            <a:off x="4791456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연구 배경</a:t>
            </a:r>
            <a:endParaRPr lang="en-US" sz="900" dirty="0"/>
          </a:p>
        </p:txBody>
      </p:sp>
      <p:sp>
        <p:nvSpPr>
          <p:cNvPr id="5" name="Section tracker 2"/>
          <p:cNvSpPr/>
          <p:nvPr/>
        </p:nvSpPr>
        <p:spPr>
          <a:xfrm>
            <a:off x="5632704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선행 연구</a:t>
            </a:r>
            <a:endParaRPr lang="en-US" sz="900" dirty="0"/>
          </a:p>
        </p:txBody>
      </p:sp>
      <p:sp>
        <p:nvSpPr>
          <p:cNvPr id="6" name="Section tracker 3"/>
          <p:cNvSpPr/>
          <p:nvPr/>
        </p:nvSpPr>
        <p:spPr>
          <a:xfrm>
            <a:off x="6473952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데이터</a:t>
            </a:r>
            <a:endParaRPr lang="en-US" sz="900" dirty="0"/>
          </a:p>
        </p:txBody>
      </p:sp>
      <p:sp>
        <p:nvSpPr>
          <p:cNvPr id="7" name="Section tracker 4"/>
          <p:cNvSpPr/>
          <p:nvPr/>
        </p:nvSpPr>
        <p:spPr>
          <a:xfrm>
            <a:off x="7315200" y="137160"/>
            <a:ext cx="804672" cy="246888"/>
          </a:xfrm>
          <a:prstGeom prst="rect">
            <a:avLst/>
          </a:prstGeom>
          <a:noFill/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방법론</a:t>
            </a:r>
            <a:endParaRPr lang="en-US" sz="900" dirty="0"/>
          </a:p>
        </p:txBody>
      </p:sp>
      <p:sp>
        <p:nvSpPr>
          <p:cNvPr id="8" name="Section tracker 5"/>
          <p:cNvSpPr/>
          <p:nvPr/>
        </p:nvSpPr>
        <p:spPr>
          <a:xfrm>
            <a:off x="8156448" y="137160"/>
            <a:ext cx="804672" cy="246888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EDA</a:t>
            </a:r>
            <a:endParaRPr lang="en-US" sz="900" dirty="0"/>
          </a:p>
        </p:txBody>
      </p:sp>
      <p:pic>
        <p:nvPicPr>
          <p:cNvPr id="9" name="Velocity group IL rate" descr="/tmp/claude-0/-home-user-timeseries/2d02c38b-48df-5b9a-b0cc-ec9424e3cff2/scratchpad/figs_ko/k11_velocity_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14400"/>
            <a:ext cx="5760720" cy="3374136"/>
          </a:xfrm>
          <a:prstGeom prst="rect">
            <a:avLst/>
          </a:prstGeom>
        </p:spPr>
      </p:pic>
      <p:sp>
        <p:nvSpPr>
          <p:cNvPr id="10" name="Caption"/>
          <p:cNvSpPr txBox="1"/>
          <p:nvPr/>
        </p:nvSpPr>
        <p:spPr>
          <a:xfrm>
            <a:off x="274320" y="4343400"/>
            <a:ext cx="5760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같은 해·같은 투구손 평균보다 빠른 투수(빨강)와 느린 투수(파랑)의 같은 해 IL 등재율</a:t>
            </a:r>
            <a:endParaRPr lang="en-US" sz="950" dirty="0"/>
          </a:p>
        </p:txBody>
      </p:sp>
      <p:sp>
        <p:nvSpPr>
          <p:cNvPr id="11" name="Bullets"/>
          <p:cNvSpPr txBox="1"/>
          <p:nvPr/>
        </p:nvSpPr>
        <p:spPr>
          <a:xfrm>
            <a:off x="6263640" y="914400"/>
            <a:ext cx="2606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1" marL="558800" indent="-279400">
              <a:spcBef>
                <a:spcPts val="1200"/>
              </a:spcBef>
              <a:buSzPct val="100000"/>
              <a:buChar char="❏"/>
            </a:pPr>
            <a:r>
              <a:rPr lang="en-US" sz="1400" dirty="0">
                <a:solidFill>
                  <a:schemeClr val="tx1"/>
                </a:solidFill>
              </a:rPr>
              <a:t>투수 집단끼리 비교: 연도·투구손별 평균 구속보다 빠른가 느린가</a:t>
            </a:r>
            <a:endParaRPr lang="en-US" sz="1400" dirty="0"/>
          </a:p>
          <a:p>
            <a:pPr lvl="1" marL="558800" indent="-279400">
              <a:spcBef>
                <a:spcPts val="1200"/>
              </a:spcBef>
              <a:buSzPct val="100000"/>
              <a:buChar char="❏"/>
            </a:pPr>
            <a:r>
              <a:rPr lang="en-US" sz="1400" dirty="0">
                <a:solidFill>
                  <a:schemeClr val="tx1"/>
                </a:solidFill>
              </a:rPr>
              <a:t>빠른 집단이 더 높은 경우는 </a:t>
            </a:r>
            <a:r>
              <a:rPr lang="en-US" sz="1400" b="1" dirty="0">
                <a:solidFill>
                  <a:schemeClr val="tx1"/>
                </a:solidFill>
              </a:rPr>
              <a:t>24개 조합 중 12개</a:t>
            </a:r>
            <a:r>
              <a:rPr lang="en-US" sz="1400" dirty="0">
                <a:solidFill>
                  <a:schemeClr val="tx1"/>
                </a:solidFill>
              </a:rPr>
              <a:t>. 방향이 일관되지 않다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828032"/>
            <a:ext cx="6858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5" type="title" hasCustomPrompt="1"/>
          </p:nvPr>
        </p:nvSpPr>
        <p:spPr>
          <a:xfrm>
            <a:off x="457200" y="1417320"/>
            <a:ext cx="822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감사합니다</a:t>
            </a:r>
            <a:endParaRPr lang="en-US" sz="3200" dirty="0"/>
          </a:p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Thank you</a:t>
            </a:r>
            <a:endParaRPr lang="en-US" sz="3200" dirty="0"/>
          </a:p>
        </p:txBody>
      </p:sp>
      <p:sp>
        <p:nvSpPr>
          <p:cNvPr id="3" name="Text 0"/>
          <p:cNvSpPr/>
          <p:nvPr>
            <p:ph idx="106" type="body" hasCustomPrompt="1"/>
          </p:nvPr>
        </p:nvSpPr>
        <p:spPr>
          <a:xfrm>
            <a:off x="914400" y="3063240"/>
            <a:ext cx="7315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Q &amp; A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데이터사이언스전공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김소연 · 정민서 · 강동한 · 최민석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itcher Injury Proposal">
  <a:themeElements>
    <a:clrScheme name="Pitcher Injury Proposal">
      <a:dk1>
        <a:srgbClr val="000000"/>
      </a:dk1>
      <a:lt1>
        <a:srgbClr val="FFFFFF"/>
      </a:lt1>
      <a:dk2>
        <a:srgbClr val="0F2D5C"/>
      </a:dk2>
      <a:lt2>
        <a:srgbClr val="DCE6F2"/>
      </a:lt2>
      <a:accent1>
        <a:srgbClr val="2E6DB4"/>
      </a:accent1>
      <a:accent2>
        <a:srgbClr val="C0504D"/>
      </a:accent2>
      <a:accent3>
        <a:srgbClr val="F6D5D5"/>
      </a:accent3>
      <a:accent4>
        <a:srgbClr val="555555"/>
      </a:accent4>
      <a:accent5>
        <a:srgbClr val="666666"/>
      </a:accent5>
      <a:accent6>
        <a:srgbClr val="F2F2F2"/>
      </a:accent6>
      <a:hlink>
        <a:srgbClr val="2E6DB4"/>
      </a:hlink>
      <a:folHlink>
        <a:srgbClr val="0F2D5C"/>
      </a:folHlink>
    </a:clrScheme>
    <a:fontScheme name="Pitcher Injury Proposal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투구 트래킹 시계열 기반 투수 부상 조기 경보</dc:title>
  <dc:subject>PptxGenJS Presentation</dc:subject>
  <dc:creator>PptxGenJS</dc:creator>
  <cp:lastModifiedBy>PptxGenJS</cp:lastModifiedBy>
  <cp:revision>1</cp:revision>
  <dcterms:created xsi:type="dcterms:W3CDTF">2026-10-23T09:24:17Z</dcterms:created>
  <dcterms:modified xsi:type="dcterms:W3CDTF">2026-10-23T09:24:17Z</dcterms:modified>
</cp:coreProperties>
</file>