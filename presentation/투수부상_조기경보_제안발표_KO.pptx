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c2e6ef04-2b4b-7fd5-110a-7cdf342f8666}">
          <p14:sldIdLst>
            <p14:sldId id="256"/>
          </p14:sldIdLst>
        </p14:section>
        <p14:section name="목차" id="{606bed46-f897-9b41-2d9b-7e99200a345e}">
          <p14:sldIdLst>
            <p14:sldId id="257"/>
          </p14:sldIdLst>
        </p14:section>
        <p14:section name="연구 배경" id="{0514fbd0-8748-e3a0-13a1-45ad1c0495ef}">
          <p14:sldIdLst>
            <p14:sldId id="258"/>
            <p14:sldId id="259"/>
          </p14:sldIdLst>
        </p14:section>
        <p14:section name="선행 연구" id="{68d3d268-289a-1790-9c80-205d0c66224b}">
          <p14:sldIdLst>
            <p14:sldId id="260"/>
            <p14:sldId id="261"/>
            <p14:sldId id="262"/>
            <p14:sldId id="263"/>
          </p14:sldIdLst>
        </p14:section>
        <p14:section name="데이터" id="{16a25919-8215-5e9e-eabd-08519bb4d312}">
          <p14:sldIdLst>
            <p14:sldId id="264"/>
            <p14:sldId id="265"/>
          </p14:sldIdLst>
        </p14:section>
        <p14:section name="EDA" id="{ace018f0-d3f6-6a4c-447a-420ac81c8e9a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방법론" id="{a49092da-5943-1de9-f1d0-32f0a657551f}">
          <p14:sldIdLst>
            <p14:sldId id="272"/>
            <p14:sldId id="273"/>
            <p14:sldId id="274"/>
            <p14:sldId id="275"/>
          </p14:sldIdLst>
        </p14:section>
        <p14:section name="기대 효과" id="{45267d9c-132c-9bb9-8220-bcff32aa1c8c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D5C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2D5C"/>
                </a:solidFill>
                <a:latin typeface="+mn-lt"/>
              </a:rPr>
              <a:t>IL 등재 건수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 등재 건수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504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2005</c:v>
                  </c:pt>
                  <c:pt idx="1">
                    <c:v>2024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212</c:v>
                </c:pt>
                <c:pt idx="1">
                  <c:v>485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3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D5C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2D5C"/>
                </a:solidFill>
                <a:latin typeface="+mn-lt"/>
              </a:rPr>
              <a:t>IL 체류 일수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 체류 일수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504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2005</c:v>
                  </c:pt>
                  <c:pt idx="1">
                    <c:v>2024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13666</c:v>
                </c:pt>
                <c:pt idx="1">
                  <c:v>32257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193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D5C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2D5C"/>
                </a:solidFill>
                <a:latin typeface="+mn-lt"/>
              </a:rPr>
              <a:t>팔꿈치 부상 IL 일수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팔꿈치 부상 IL 일수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504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2005</c:v>
                  </c:pt>
                  <c:pt idx="1">
                    <c:v>2024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3940</c:v>
                </c:pt>
                <c:pt idx="1">
                  <c:v>12185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84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4" Type="http://schemas.openxmlformats.org/officeDocument/2006/relationships/image" Target="../media/image-1002-4.png"/><Relationship Id="rId5" Type="http://schemas.openxmlformats.org/officeDocument/2006/relationships/image" Target="../media/image-1002-5.png"/><Relationship Id="rId6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imeseries/2d02c38b-48df-5b9a-b0cc-ec9424e3cff2/scratchpad/build/cover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77240"/>
          </a:xfrm>
          <a:prstGeom prst="rect">
            <a:avLst/>
          </a:prstGeom>
        </p:spPr>
      </p:pic>
      <p:pic>
        <p:nvPicPr>
          <p:cNvPr id="3" name="Image 1" descr="/tmp/claude-0/-home-user-timeseries/2d02c38b-48df-5b9a-b0cc-ec9424e3cff2/scratchpad/build/cover_fa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7240"/>
            <a:ext cx="9144000" cy="457200"/>
          </a:xfrm>
          <a:prstGeom prst="rect">
            <a:avLst/>
          </a:prstGeom>
        </p:spPr>
      </p:pic>
      <p:pic>
        <p:nvPicPr>
          <p:cNvPr id="4" name="Image 2" descr="/tmp/claude-0/-home-user-timeseries/2d02c38b-48df-5b9a-b0cc-ec9424e3cff2/scratchpad/build/cover_b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15184"/>
            <a:ext cx="9144000" cy="118872"/>
          </a:xfrm>
          <a:prstGeom prst="rect">
            <a:avLst/>
          </a:prstGeom>
        </p:spPr>
      </p:pic>
      <p:pic>
        <p:nvPicPr>
          <p:cNvPr id="5" name="Image 3" descr="/tmp/claude-0/-home-user-timeseries/2d02c38b-48df-5b9a-b0cc-ec9424e3cff2/scratchpad/build/cover_bar_fa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734056"/>
            <a:ext cx="9144000" cy="137160"/>
          </a:xfrm>
          <a:prstGeom prst="rect">
            <a:avLst/>
          </a:prstGeom>
        </p:spPr>
      </p:pic>
      <p:pic>
        <p:nvPicPr>
          <p:cNvPr id="6" name="Image 4" descr="/tmp/claude-0/-home-user-timeseries/2d02c38b-48df-5b9a-b0cc-ec9424e3cff2/scratchpad/build/fo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08753"/>
            <a:ext cx="9144000" cy="34747"/>
          </a:xfrm>
          <a:prstGeom prst="rect">
            <a:avLst/>
          </a:prstGeom>
        </p:spPr>
      </p:pic>
      <p:sp>
        <p:nvSpPr>
          <p:cNvPr id="7" name="Text 0"/>
          <p:cNvSpPr/>
          <p:nvPr>
            <p:ph idx="105" type="title" hasCustomPrompt="1"/>
          </p:nvPr>
        </p:nvSpPr>
        <p:spPr>
          <a:xfrm>
            <a:off x="457200" y="1417320"/>
            <a:ext cx="822960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ctr" indent="0" marL="0">
              <a:buNone/>
            </a:pPr>
            <a:endParaRPr lang="en-US" sz="3200" dirty="0"/>
          </a:p>
        </p:txBody>
      </p:sp>
      <p:sp>
        <p:nvSpPr>
          <p:cNvPr id="8" name="Text 0"/>
          <p:cNvSpPr/>
          <p:nvPr>
            <p:ph idx="106" type="body" hasCustomPrompt="1"/>
          </p:nvPr>
        </p:nvSpPr>
        <p:spPr>
          <a:xfrm>
            <a:off x="914400" y="3063240"/>
            <a:ext cx="73152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5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imeseries/2d02c38b-48df-5b9a-b0cc-ec9424e3cff2/scratchpad/logos/foot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12064"/>
            <a:ext cx="6537960" cy="323698"/>
          </a:xfrm>
          <a:prstGeom prst="rect">
            <a:avLst/>
          </a:prstGeom>
        </p:spPr>
      </p:pic>
      <p:pic>
        <p:nvPicPr>
          <p:cNvPr id="3" name="Image 1" descr="/tmp/claude-0/-home-user-timeseries/2d02c38b-48df-5b9a-b0cc-ec9424e3cff2/scratchpad/build/ru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1248"/>
            <a:ext cx="8503920" cy="32004"/>
          </a:xfrm>
          <a:prstGeom prst="rect">
            <a:avLst/>
          </a:prstGeom>
        </p:spPr>
      </p:pic>
      <p:pic>
        <p:nvPicPr>
          <p:cNvPr id="4" name="Image 2" descr="/tmp/claude-0/-home-user-timeseries/2d02c38b-48df-5b9a-b0cc-ec9424e3cff2/scratchpad/build/fo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08753"/>
            <a:ext cx="9144000" cy="34747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5" type="title" hasCustomPrompt="1"/>
          </p:nvPr>
        </p:nvSpPr>
        <p:spPr>
          <a:xfrm>
            <a:off x="457200" y="141732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투구 트래킹 시계열 기반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투수 부상 조기 경보</a:t>
            </a:r>
            <a:endParaRPr lang="en-US" sz="3200" dirty="0"/>
          </a:p>
        </p:txBody>
      </p:sp>
      <p:sp>
        <p:nvSpPr>
          <p:cNvPr id="3" name="Text 0"/>
          <p:cNvSpPr/>
          <p:nvPr>
            <p:ph idx="106" type="body" hasCustomPrompt="1"/>
          </p:nvPr>
        </p:nvSpPr>
        <p:spPr>
          <a:xfrm>
            <a:off x="914400" y="306324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MLB Statcast 2021–2026 정규시즌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2026.MM.DD</a:t>
            </a:r>
            <a:endParaRPr lang="en-US" sz="15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데이터사이언스전공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김소연 · 정민서 · 강동한 · 최민석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목차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Contents</a:t>
            </a:r>
            <a:endParaRPr lang="en-US" sz="1600" dirty="0"/>
          </a:p>
        </p:txBody>
      </p:sp>
      <p:sp>
        <p:nvSpPr>
          <p:cNvPr id="4" name="Agenda number 1"/>
          <p:cNvSpPr/>
          <p:nvPr/>
        </p:nvSpPr>
        <p:spPr>
          <a:xfrm>
            <a:off x="822960" y="1088136"/>
            <a:ext cx="420624" cy="420624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01</a:t>
            </a:r>
            <a:endParaRPr lang="en-US" sz="1300" dirty="0"/>
          </a:p>
        </p:txBody>
      </p:sp>
      <p:sp>
        <p:nvSpPr>
          <p:cNvPr id="5" name="Agenda item 1"/>
          <p:cNvSpPr txBox="1"/>
          <p:nvPr/>
        </p:nvSpPr>
        <p:spPr>
          <a:xfrm>
            <a:off x="1417320" y="1051560"/>
            <a:ext cx="5852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연구 배경</a:t>
            </a:r>
            <a:r>
              <a:rPr lang="en-US" sz="1250" dirty="0">
                <a:solidFill>
                  <a:schemeClr val="accent5"/>
                </a:solidFill>
              </a:rPr>
              <a:t>   투수 부상 현황, 부상 위험을 시계열로 보는 이유</a:t>
            </a:r>
            <a:endParaRPr lang="en-US" sz="1700" dirty="0"/>
          </a:p>
        </p:txBody>
      </p:sp>
      <p:sp>
        <p:nvSpPr>
          <p:cNvPr id="6" name="Agenda rule"/>
          <p:cNvSpPr/>
          <p:nvPr/>
        </p:nvSpPr>
        <p:spPr>
          <a:xfrm>
            <a:off x="1417320" y="1581912"/>
            <a:ext cx="69494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7" name="Agenda page 1"/>
          <p:cNvSpPr txBox="1"/>
          <p:nvPr/>
        </p:nvSpPr>
        <p:spPr>
          <a:xfrm>
            <a:off x="7269480" y="1051560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p. 3–4</a:t>
            </a:r>
            <a:endParaRPr lang="en-US" sz="1400" dirty="0"/>
          </a:p>
        </p:txBody>
      </p:sp>
      <p:sp>
        <p:nvSpPr>
          <p:cNvPr id="8" name="Agenda number 2"/>
          <p:cNvSpPr/>
          <p:nvPr/>
        </p:nvSpPr>
        <p:spPr>
          <a:xfrm>
            <a:off x="822960" y="1691640"/>
            <a:ext cx="420624" cy="42062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02</a:t>
            </a:r>
            <a:endParaRPr lang="en-US" sz="1300" dirty="0"/>
          </a:p>
        </p:txBody>
      </p:sp>
      <p:sp>
        <p:nvSpPr>
          <p:cNvPr id="9" name="Agenda item 2"/>
          <p:cNvSpPr txBox="1"/>
          <p:nvPr/>
        </p:nvSpPr>
        <p:spPr>
          <a:xfrm>
            <a:off x="1417320" y="1655064"/>
            <a:ext cx="5852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선행 연구</a:t>
            </a:r>
            <a:r>
              <a:rPr lang="en-US" sz="1250" dirty="0">
                <a:solidFill>
                  <a:schemeClr val="accent5"/>
                </a:solidFill>
              </a:rPr>
              <a:t>   관련 연구 6편, 한계와 본 연구의 차별점</a:t>
            </a:r>
            <a:endParaRPr lang="en-US" sz="1700" dirty="0"/>
          </a:p>
        </p:txBody>
      </p:sp>
      <p:sp>
        <p:nvSpPr>
          <p:cNvPr id="10" name="Agenda rule"/>
          <p:cNvSpPr/>
          <p:nvPr/>
        </p:nvSpPr>
        <p:spPr>
          <a:xfrm>
            <a:off x="1417320" y="2185416"/>
            <a:ext cx="69494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1" name="Agenda page 2"/>
          <p:cNvSpPr txBox="1"/>
          <p:nvPr/>
        </p:nvSpPr>
        <p:spPr>
          <a:xfrm>
            <a:off x="7269480" y="1655064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p. 5–8</a:t>
            </a:r>
            <a:endParaRPr lang="en-US" sz="1400" dirty="0"/>
          </a:p>
        </p:txBody>
      </p:sp>
      <p:sp>
        <p:nvSpPr>
          <p:cNvPr id="12" name="Agenda number 3"/>
          <p:cNvSpPr/>
          <p:nvPr/>
        </p:nvSpPr>
        <p:spPr>
          <a:xfrm>
            <a:off x="822960" y="2295144"/>
            <a:ext cx="420624" cy="420624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03</a:t>
            </a:r>
            <a:endParaRPr lang="en-US" sz="1300" dirty="0"/>
          </a:p>
        </p:txBody>
      </p:sp>
      <p:sp>
        <p:nvSpPr>
          <p:cNvPr id="13" name="Agenda item 3"/>
          <p:cNvSpPr txBox="1"/>
          <p:nvPr/>
        </p:nvSpPr>
        <p:spPr>
          <a:xfrm>
            <a:off x="1417320" y="2258568"/>
            <a:ext cx="5852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데이터</a:t>
            </a:r>
            <a:r>
              <a:rPr lang="en-US" sz="1250" dirty="0">
                <a:solidFill>
                  <a:schemeClr val="accent5"/>
                </a:solidFill>
              </a:rPr>
              <a:t>   MLB Statcast 2021–2026, 분석 단위와 변수</a:t>
            </a:r>
            <a:endParaRPr lang="en-US" sz="1700" dirty="0"/>
          </a:p>
        </p:txBody>
      </p:sp>
      <p:sp>
        <p:nvSpPr>
          <p:cNvPr id="14" name="Agenda rule"/>
          <p:cNvSpPr/>
          <p:nvPr/>
        </p:nvSpPr>
        <p:spPr>
          <a:xfrm>
            <a:off x="1417320" y="2788920"/>
            <a:ext cx="69494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5" name="Agenda page 3"/>
          <p:cNvSpPr txBox="1"/>
          <p:nvPr/>
        </p:nvSpPr>
        <p:spPr>
          <a:xfrm>
            <a:off x="7269480" y="2258568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p. 9–10</a:t>
            </a:r>
            <a:endParaRPr lang="en-US" sz="1400" dirty="0"/>
          </a:p>
        </p:txBody>
      </p:sp>
      <p:sp>
        <p:nvSpPr>
          <p:cNvPr id="16" name="Agenda number 4"/>
          <p:cNvSpPr/>
          <p:nvPr/>
        </p:nvSpPr>
        <p:spPr>
          <a:xfrm>
            <a:off x="822960" y="2898648"/>
            <a:ext cx="420624" cy="42062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04</a:t>
            </a:r>
            <a:endParaRPr lang="en-US" sz="1300" dirty="0"/>
          </a:p>
        </p:txBody>
      </p:sp>
      <p:sp>
        <p:nvSpPr>
          <p:cNvPr id="17" name="Agenda item 4"/>
          <p:cNvSpPr txBox="1"/>
          <p:nvPr/>
        </p:nvSpPr>
        <p:spPr>
          <a:xfrm>
            <a:off x="1417320" y="2862072"/>
            <a:ext cx="5852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EDA</a:t>
            </a:r>
            <a:r>
              <a:rPr lang="en-US" sz="1250" dirty="0">
                <a:solidFill>
                  <a:schemeClr val="accent5"/>
                </a:solidFill>
              </a:rPr>
              <a:t>   구속 추세, 부상 부위, IL 직전 구속·회전수 변화</a:t>
            </a:r>
            <a:endParaRPr lang="en-US" sz="1700" dirty="0"/>
          </a:p>
        </p:txBody>
      </p:sp>
      <p:sp>
        <p:nvSpPr>
          <p:cNvPr id="18" name="Agenda rule"/>
          <p:cNvSpPr/>
          <p:nvPr/>
        </p:nvSpPr>
        <p:spPr>
          <a:xfrm>
            <a:off x="1417320" y="3392424"/>
            <a:ext cx="69494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9" name="Agenda page 4"/>
          <p:cNvSpPr txBox="1"/>
          <p:nvPr/>
        </p:nvSpPr>
        <p:spPr>
          <a:xfrm>
            <a:off x="7269480" y="2862072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p. 11–16</a:t>
            </a:r>
            <a:endParaRPr lang="en-US" sz="1400" dirty="0"/>
          </a:p>
        </p:txBody>
      </p:sp>
      <p:sp>
        <p:nvSpPr>
          <p:cNvPr id="20" name="Agenda number 5"/>
          <p:cNvSpPr/>
          <p:nvPr/>
        </p:nvSpPr>
        <p:spPr>
          <a:xfrm>
            <a:off x="822960" y="3502152"/>
            <a:ext cx="420624" cy="420624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05</a:t>
            </a:r>
            <a:endParaRPr lang="en-US" sz="1300" dirty="0"/>
          </a:p>
        </p:txBody>
      </p:sp>
      <p:sp>
        <p:nvSpPr>
          <p:cNvPr id="21" name="Agenda item 5"/>
          <p:cNvSpPr txBox="1"/>
          <p:nvPr/>
        </p:nvSpPr>
        <p:spPr>
          <a:xfrm>
            <a:off x="1417320" y="3465576"/>
            <a:ext cx="5852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방법론</a:t>
            </a:r>
            <a:r>
              <a:rPr lang="en-US" sz="1250" dirty="0">
                <a:solidFill>
                  <a:schemeClr val="accent5"/>
                </a:solidFill>
              </a:rPr>
              <a:t>   접근 방식, 연구 질문, 모델, 평가</a:t>
            </a:r>
            <a:endParaRPr lang="en-US" sz="1700" dirty="0"/>
          </a:p>
        </p:txBody>
      </p:sp>
      <p:sp>
        <p:nvSpPr>
          <p:cNvPr id="22" name="Agenda rule"/>
          <p:cNvSpPr/>
          <p:nvPr/>
        </p:nvSpPr>
        <p:spPr>
          <a:xfrm>
            <a:off x="1417320" y="3995928"/>
            <a:ext cx="69494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3" name="Agenda page 5"/>
          <p:cNvSpPr txBox="1"/>
          <p:nvPr/>
        </p:nvSpPr>
        <p:spPr>
          <a:xfrm>
            <a:off x="7269480" y="3465576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p. 17–20</a:t>
            </a:r>
            <a:endParaRPr lang="en-US" sz="1400" dirty="0"/>
          </a:p>
        </p:txBody>
      </p:sp>
      <p:sp>
        <p:nvSpPr>
          <p:cNvPr id="24" name="Agenda number 6"/>
          <p:cNvSpPr/>
          <p:nvPr/>
        </p:nvSpPr>
        <p:spPr>
          <a:xfrm>
            <a:off x="822960" y="4105656"/>
            <a:ext cx="420624" cy="42062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06</a:t>
            </a:r>
            <a:endParaRPr lang="en-US" sz="1300" dirty="0"/>
          </a:p>
        </p:txBody>
      </p:sp>
      <p:sp>
        <p:nvSpPr>
          <p:cNvPr id="25" name="Agenda item 6"/>
          <p:cNvSpPr txBox="1"/>
          <p:nvPr/>
        </p:nvSpPr>
        <p:spPr>
          <a:xfrm>
            <a:off x="1417320" y="4069080"/>
            <a:ext cx="5852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기대 효과</a:t>
            </a:r>
            <a:r>
              <a:rPr lang="en-US" sz="1250" dirty="0">
                <a:solidFill>
                  <a:schemeClr val="accent5"/>
                </a:solidFill>
              </a:rPr>
              <a:t>   본 연구가 더하는 것</a:t>
            </a:r>
            <a:endParaRPr lang="en-US" sz="1700" dirty="0"/>
          </a:p>
        </p:txBody>
      </p:sp>
      <p:sp>
        <p:nvSpPr>
          <p:cNvPr id="26" name="Agenda rule"/>
          <p:cNvSpPr/>
          <p:nvPr/>
        </p:nvSpPr>
        <p:spPr>
          <a:xfrm>
            <a:off x="1417320" y="4599432"/>
            <a:ext cx="69494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7" name="Agenda page 6"/>
          <p:cNvSpPr txBox="1"/>
          <p:nvPr/>
        </p:nvSpPr>
        <p:spPr>
          <a:xfrm>
            <a:off x="7269480" y="4069080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p. 21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연구 배경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투수 부상은 늘고 있고, 비용이 크다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1830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tx2"/>
          </a:solidFill>
          <a:ln w="63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연구 배경</a:t>
            </a:r>
            <a:endParaRPr lang="en-US" sz="900" dirty="0"/>
          </a:p>
        </p:txBody>
      </p:sp>
      <p:sp>
        <p:nvSpPr>
          <p:cNvPr id="5" name="Section tracker 2"/>
          <p:cNvSpPr/>
          <p:nvPr/>
        </p:nvSpPr>
        <p:spPr>
          <a:xfrm>
            <a:off x="5431536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선행 연구</a:t>
            </a:r>
            <a:endParaRPr lang="en-US" sz="900" dirty="0"/>
          </a:p>
        </p:txBody>
      </p:sp>
      <p:sp>
        <p:nvSpPr>
          <p:cNvPr id="6" name="Section tracker 3"/>
          <p:cNvSpPr/>
          <p:nvPr/>
        </p:nvSpPr>
        <p:spPr>
          <a:xfrm>
            <a:off x="6144768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데이터</a:t>
            </a:r>
            <a:endParaRPr lang="en-US" sz="900" dirty="0"/>
          </a:p>
        </p:txBody>
      </p:sp>
      <p:sp>
        <p:nvSpPr>
          <p:cNvPr id="7" name="Section tracker 4"/>
          <p:cNvSpPr/>
          <p:nvPr/>
        </p:nvSpPr>
        <p:spPr>
          <a:xfrm>
            <a:off x="6858000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EDA</a:t>
            </a:r>
            <a:endParaRPr lang="en-US" sz="900" dirty="0"/>
          </a:p>
        </p:txBody>
      </p:sp>
      <p:sp>
        <p:nvSpPr>
          <p:cNvPr id="8" name="Section tracker 5"/>
          <p:cNvSpPr/>
          <p:nvPr/>
        </p:nvSpPr>
        <p:spPr>
          <a:xfrm>
            <a:off x="7571232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방법론</a:t>
            </a:r>
            <a:endParaRPr lang="en-US" sz="900" dirty="0"/>
          </a:p>
        </p:txBody>
      </p:sp>
      <p:sp>
        <p:nvSpPr>
          <p:cNvPr id="9" name="Section tracker 6"/>
          <p:cNvSpPr/>
          <p:nvPr/>
        </p:nvSpPr>
        <p:spPr>
          <a:xfrm>
            <a:off x="828446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기대 효과</a:t>
            </a:r>
            <a:endParaRPr lang="en-US" sz="900" dirty="0"/>
          </a:p>
        </p:txBody>
      </p:sp>
      <p:graphicFrame>
        <p:nvGraphicFramePr>
          <p:cNvPr id="10" name="Chart IL 등재 건수" descr=""/>
          <p:cNvGraphicFramePr/>
          <p:nvPr/>
        </p:nvGraphicFramePr>
        <p:xfrm>
          <a:off x="274320" y="960120"/>
          <a:ext cx="274320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Multiplier 1"/>
          <p:cNvSpPr/>
          <p:nvPr/>
        </p:nvSpPr>
        <p:spPr>
          <a:xfrm>
            <a:off x="502920" y="1353312"/>
            <a:ext cx="868680" cy="274320"/>
          </a:xfrm>
          <a:prstGeom prst="roundRect">
            <a:avLst>
              <a:gd name="adj" fmla="val 33333"/>
            </a:avLst>
          </a:prstGeom>
          <a:solidFill>
            <a:schemeClr val="accent3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약 2.3배</a:t>
            </a:r>
            <a:endParaRPr lang="en-US" sz="1100" dirty="0"/>
          </a:p>
        </p:txBody>
      </p:sp>
      <p:graphicFrame>
        <p:nvGraphicFramePr>
          <p:cNvPr id="12" name="Chart IL 체류 일수" descr=""/>
          <p:cNvGraphicFramePr/>
          <p:nvPr/>
        </p:nvGraphicFramePr>
        <p:xfrm>
          <a:off x="3172968" y="960120"/>
          <a:ext cx="274320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Multiplier 2"/>
          <p:cNvSpPr/>
          <p:nvPr/>
        </p:nvSpPr>
        <p:spPr>
          <a:xfrm>
            <a:off x="3401568" y="1353312"/>
            <a:ext cx="868680" cy="274320"/>
          </a:xfrm>
          <a:prstGeom prst="roundRect">
            <a:avLst>
              <a:gd name="adj" fmla="val 33333"/>
            </a:avLst>
          </a:prstGeom>
          <a:solidFill>
            <a:schemeClr val="accent3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약 2.4배</a:t>
            </a:r>
            <a:endParaRPr lang="en-US" sz="1100" dirty="0"/>
          </a:p>
        </p:txBody>
      </p:sp>
      <p:graphicFrame>
        <p:nvGraphicFramePr>
          <p:cNvPr id="14" name="Chart 팔꿈치 부상 IL 일수" descr=""/>
          <p:cNvGraphicFramePr/>
          <p:nvPr/>
        </p:nvGraphicFramePr>
        <p:xfrm>
          <a:off x="6071616" y="960120"/>
          <a:ext cx="274320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Multiplier 3"/>
          <p:cNvSpPr/>
          <p:nvPr/>
        </p:nvSpPr>
        <p:spPr>
          <a:xfrm>
            <a:off x="6300216" y="1353312"/>
            <a:ext cx="868680" cy="274320"/>
          </a:xfrm>
          <a:prstGeom prst="roundRect">
            <a:avLst>
              <a:gd name="adj" fmla="val 33333"/>
            </a:avLst>
          </a:prstGeom>
          <a:solidFill>
            <a:schemeClr val="accent3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약 3배</a:t>
            </a:r>
            <a:endParaRPr lang="en-US" sz="1100" dirty="0"/>
          </a:p>
        </p:txBody>
      </p:sp>
      <p:sp>
        <p:nvSpPr>
          <p:cNvPr id="16" name="Caption"/>
          <p:cNvSpPr txBox="1"/>
          <p:nvPr/>
        </p:nvSpPr>
        <p:spPr>
          <a:xfrm>
            <a:off x="274320" y="28346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MLB 투수 부상 추이, 2005년 vs 2024년 (AP 보도)</a:t>
            </a:r>
            <a:endParaRPr lang="en-US" sz="950" dirty="0"/>
          </a:p>
        </p:txBody>
      </p:sp>
      <p:sp>
        <p:nvSpPr>
          <p:cNvPr id="17" name="Cost stat 1"/>
          <p:cNvSpPr/>
          <p:nvPr/>
        </p:nvSpPr>
        <p:spPr>
          <a:xfrm>
            <a:off x="502920" y="3127248"/>
            <a:ext cx="251460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1,122명</a:t>
            </a:r>
            <a:endParaRPr lang="en-US" sz="12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어깨·팔꿈치 부상 투수</a:t>
            </a:r>
            <a:endParaRPr lang="en-US" sz="1200" dirty="0"/>
          </a:p>
        </p:txBody>
      </p:sp>
      <p:sp>
        <p:nvSpPr>
          <p:cNvPr id="18" name="Cost stat 2"/>
          <p:cNvSpPr/>
          <p:nvPr/>
        </p:nvSpPr>
        <p:spPr>
          <a:xfrm>
            <a:off x="3291840" y="3127248"/>
            <a:ext cx="251460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2,365건</a:t>
            </a:r>
            <a:endParaRPr lang="en-US" sz="12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IL 등재</a:t>
            </a:r>
            <a:endParaRPr lang="en-US" sz="1200" dirty="0"/>
          </a:p>
        </p:txBody>
      </p:sp>
      <p:sp>
        <p:nvSpPr>
          <p:cNvPr id="19" name="Cost stat 3"/>
          <p:cNvSpPr/>
          <p:nvPr/>
        </p:nvSpPr>
        <p:spPr>
          <a:xfrm>
            <a:off x="6080760" y="3127248"/>
            <a:ext cx="251460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약 33.3억 달러</a:t>
            </a:r>
            <a:endParaRPr lang="en-US" sz="12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급여 손실 추정</a:t>
            </a:r>
            <a:endParaRPr lang="en-US" sz="1200" dirty="0"/>
          </a:p>
        </p:txBody>
      </p:sp>
      <p:sp>
        <p:nvSpPr>
          <p:cNvPr id="20" name="Caption"/>
          <p:cNvSpPr txBox="1"/>
          <p:nvPr/>
        </p:nvSpPr>
        <p:spPr>
          <a:xfrm>
            <a:off x="274320" y="390448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2015–2025년 MLB 투수 어깨·팔꿈치 부상 분석 (Dillon et al., OJSM)</a:t>
            </a:r>
            <a:endParaRPr lang="en-US" sz="950" dirty="0"/>
          </a:p>
        </p:txBody>
      </p:sp>
      <p:sp>
        <p:nvSpPr>
          <p:cNvPr id="21" name="Takeaway"/>
          <p:cNvSpPr txBox="1"/>
          <p:nvPr/>
        </p:nvSpPr>
        <p:spPr>
          <a:xfrm>
            <a:off x="274320" y="422452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➡"/>
            </a:pPr>
            <a:r>
              <a:rPr lang="en-US" sz="1400" b="1" dirty="0">
                <a:solidFill>
                  <a:schemeClr val="tx1"/>
                </a:solidFill>
                <a:highlight>
                  <a:srgbClr val="FFFF00"/>
                </a:highlight>
              </a:rPr>
              <a:t>부상 확인 후엔 이미 손실 → 징후를 미리 잡아 등판 간격·투구 부하·휴식을 조정해야 한다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연구 배경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부상 위험은 시계열 문제다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1830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tx2"/>
          </a:solidFill>
          <a:ln w="63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연구 배경</a:t>
            </a:r>
            <a:endParaRPr lang="en-US" sz="900" dirty="0"/>
          </a:p>
        </p:txBody>
      </p:sp>
      <p:sp>
        <p:nvSpPr>
          <p:cNvPr id="5" name="Section tracker 2"/>
          <p:cNvSpPr/>
          <p:nvPr/>
        </p:nvSpPr>
        <p:spPr>
          <a:xfrm>
            <a:off x="5431536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선행 연구</a:t>
            </a:r>
            <a:endParaRPr lang="en-US" sz="900" dirty="0"/>
          </a:p>
        </p:txBody>
      </p:sp>
      <p:sp>
        <p:nvSpPr>
          <p:cNvPr id="6" name="Section tracker 3"/>
          <p:cNvSpPr/>
          <p:nvPr/>
        </p:nvSpPr>
        <p:spPr>
          <a:xfrm>
            <a:off x="6144768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데이터</a:t>
            </a:r>
            <a:endParaRPr lang="en-US" sz="900" dirty="0"/>
          </a:p>
        </p:txBody>
      </p:sp>
      <p:sp>
        <p:nvSpPr>
          <p:cNvPr id="7" name="Section tracker 4"/>
          <p:cNvSpPr/>
          <p:nvPr/>
        </p:nvSpPr>
        <p:spPr>
          <a:xfrm>
            <a:off x="6858000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EDA</a:t>
            </a:r>
            <a:endParaRPr lang="en-US" sz="900" dirty="0"/>
          </a:p>
        </p:txBody>
      </p:sp>
      <p:sp>
        <p:nvSpPr>
          <p:cNvPr id="8" name="Section tracker 5"/>
          <p:cNvSpPr/>
          <p:nvPr/>
        </p:nvSpPr>
        <p:spPr>
          <a:xfrm>
            <a:off x="7571232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방법론</a:t>
            </a:r>
            <a:endParaRPr lang="en-US" sz="900" dirty="0"/>
          </a:p>
        </p:txBody>
      </p:sp>
      <p:sp>
        <p:nvSpPr>
          <p:cNvPr id="9" name="Section tracker 6"/>
          <p:cNvSpPr/>
          <p:nvPr/>
        </p:nvSpPr>
        <p:spPr>
          <a:xfrm>
            <a:off x="828446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기대 효과</a:t>
            </a:r>
            <a:endParaRPr lang="en-US" sz="900" dirty="0"/>
          </a:p>
        </p:txBody>
      </p:sp>
      <p:sp>
        <p:nvSpPr>
          <p:cNvPr id="10" name="자기상관"/>
          <p:cNvSpPr/>
          <p:nvPr/>
        </p:nvSpPr>
        <p:spPr>
          <a:xfrm>
            <a:off x="320040" y="1051560"/>
            <a:ext cx="411480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자기상관</a:t>
            </a:r>
            <a:endParaRPr lang="en-US" sz="1200" dirty="0"/>
          </a:p>
          <a:p>
            <a:pPr algn="l" indent="0" marL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신호는 투수 자신의 과거 대비 편차다. 등판 순서를 섞으면 신호가 사라진다</a:t>
            </a:r>
            <a:endParaRPr lang="en-US" sz="1200" dirty="0"/>
          </a:p>
        </p:txBody>
      </p:sp>
      <p:sp>
        <p:nvSpPr>
          <p:cNvPr id="11" name="추세"/>
          <p:cNvSpPr/>
          <p:nvPr/>
        </p:nvSpPr>
        <p:spPr>
          <a:xfrm>
            <a:off x="4617720" y="1051560"/>
            <a:ext cx="411480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추세</a:t>
            </a:r>
            <a:endParaRPr lang="en-US" sz="1200" dirty="0"/>
          </a:p>
          <a:p>
            <a:pPr algn="l" indent="0" marL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'구속 혁명': 리그 포심 평균 93.69 → 94.77 mph (2021→2026, 6시즌 연속 상승)</a:t>
            </a:r>
            <a:endParaRPr lang="en-US" sz="1200" dirty="0"/>
          </a:p>
        </p:txBody>
      </p:sp>
      <p:sp>
        <p:nvSpPr>
          <p:cNvPr id="12" name="계절성"/>
          <p:cNvSpPr/>
          <p:nvPr/>
        </p:nvSpPr>
        <p:spPr>
          <a:xfrm>
            <a:off x="320040" y="2350008"/>
            <a:ext cx="411480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계절성</a:t>
            </a:r>
            <a:endParaRPr lang="en-US" sz="1200" dirty="0"/>
          </a:p>
          <a:p>
            <a:pPr algn="l" indent="0" marL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시즌 후반으로 갈수록 구속이 높다 (2025년 4월 94.18 → 6월 94.61 mph)</a:t>
            </a:r>
            <a:endParaRPr lang="en-US" sz="1200" dirty="0"/>
          </a:p>
        </p:txBody>
      </p:sp>
      <p:sp>
        <p:nvSpPr>
          <p:cNvPr id="13" name="외생 변수"/>
          <p:cNvSpPr/>
          <p:nvPr/>
        </p:nvSpPr>
        <p:spPr>
          <a:xfrm>
            <a:off x="4617720" y="2350008"/>
            <a:ext cx="411480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외생 변수</a:t>
            </a:r>
            <a:endParaRPr lang="en-US" sz="1200" dirty="0"/>
          </a:p>
          <a:p>
            <a:pPr algn="l" indent="0" marL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등판 간격, 최근 7·14·28일 누적 투구 수, ACWR</a:t>
            </a:r>
            <a:endParaRPr lang="en-US" sz="1200" dirty="0"/>
          </a:p>
        </p:txBody>
      </p:sp>
      <p:sp>
        <p:nvSpPr>
          <p:cNvPr id="14" name="Takeaway"/>
          <p:cNvSpPr txBox="1"/>
          <p:nvPr/>
        </p:nvSpPr>
        <p:spPr>
          <a:xfrm>
            <a:off x="274320" y="37490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➡"/>
            </a:pPr>
            <a:r>
              <a:rPr lang="en-US" sz="1500" b="1" dirty="0">
                <a:solidFill>
                  <a:schemeClr val="tx1"/>
                </a:solidFill>
                <a:highlight>
                  <a:srgbClr val="FFFF00"/>
                </a:highlight>
              </a:rPr>
              <a:t>투수의 평소 수준을 예측할 수 있다면, 거기서 벗어난 정도가 곧 경고가 된다</a:t>
            </a:r>
            <a:endParaRPr lang="en-US" sz="1500" dirty="0"/>
          </a:p>
        </p:txBody>
      </p:sp>
      <p:sp>
        <p:nvSpPr>
          <p:cNvPr id="15" name="Course link"/>
          <p:cNvSpPr txBox="1"/>
          <p:nvPr/>
        </p:nvSpPr>
        <p:spPr>
          <a:xfrm>
            <a:off x="566928" y="41605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→ 수업에서 다루는 ARIMA / ARIMAX, EWMA, 잔차 기반 이상 탐지와 바로 연결된다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선행 연구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(1) 구속은 부상 신호인가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1830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연구 배경</a:t>
            </a:r>
            <a:endParaRPr lang="en-US" sz="900" dirty="0"/>
          </a:p>
        </p:txBody>
      </p:sp>
      <p:sp>
        <p:nvSpPr>
          <p:cNvPr id="5" name="Section tracker 2"/>
          <p:cNvSpPr/>
          <p:nvPr/>
        </p:nvSpPr>
        <p:spPr>
          <a:xfrm>
            <a:off x="5431536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tx2"/>
          </a:solidFill>
          <a:ln w="63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선행 연구</a:t>
            </a:r>
            <a:endParaRPr lang="en-US" sz="900" dirty="0"/>
          </a:p>
        </p:txBody>
      </p:sp>
      <p:sp>
        <p:nvSpPr>
          <p:cNvPr id="6" name="Section tracker 3"/>
          <p:cNvSpPr/>
          <p:nvPr/>
        </p:nvSpPr>
        <p:spPr>
          <a:xfrm>
            <a:off x="6144768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데이터</a:t>
            </a:r>
            <a:endParaRPr lang="en-US" sz="900" dirty="0"/>
          </a:p>
        </p:txBody>
      </p:sp>
      <p:sp>
        <p:nvSpPr>
          <p:cNvPr id="7" name="Section tracker 4"/>
          <p:cNvSpPr/>
          <p:nvPr/>
        </p:nvSpPr>
        <p:spPr>
          <a:xfrm>
            <a:off x="6858000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EDA</a:t>
            </a:r>
            <a:endParaRPr lang="en-US" sz="900" dirty="0"/>
          </a:p>
        </p:txBody>
      </p:sp>
      <p:sp>
        <p:nvSpPr>
          <p:cNvPr id="8" name="Section tracker 5"/>
          <p:cNvSpPr/>
          <p:nvPr/>
        </p:nvSpPr>
        <p:spPr>
          <a:xfrm>
            <a:off x="7571232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방법론</a:t>
            </a:r>
            <a:endParaRPr lang="en-US" sz="900" dirty="0"/>
          </a:p>
        </p:txBody>
      </p:sp>
      <p:sp>
        <p:nvSpPr>
          <p:cNvPr id="9" name="Section tracker 6"/>
          <p:cNvSpPr/>
          <p:nvPr/>
        </p:nvSpPr>
        <p:spPr>
          <a:xfrm>
            <a:off x="828446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기대 효과</a:t>
            </a:r>
            <a:endParaRPr lang="en-US" sz="900" dirty="0"/>
          </a:p>
        </p:txBody>
      </p:sp>
      <p:graphicFrame>
        <p:nvGraphicFramePr>
          <p:cNvPr id="6" name="Related work 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24128"/>
          <a:ext cx="68580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331720"/>
                <a:gridCol w="2606040"/>
                <a:gridCol w="23317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연구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대상 · 방법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핵심 결과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한계 (우리와의 차이)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Prodromo 외 (2016)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UCLR 투수 vs 같은 나이 대조군 (2002–2015)</a:t>
                      </a:r>
                      <a:endParaRPr lang="en-US" sz="1050" dirty="0"/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사례-대조, 조건부 로지스틱 회귀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수술 전 시즌 평균 구속이 더 높았고, 속구 평균 구속이 유의한 변수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투수끼리 비교, 시즌 평균 사용 → 변화 시점을 알 수 없음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Mayo 외 (2021)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UCLR 투수 223명의 수술 전 15경기</a:t>
                      </a:r>
                      <a:endParaRPr lang="en-US" sz="1050" dirty="0"/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Mann-Kendall 추세검정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포심 구속 경기당 약 0.1 mph 하락 (tau = −0.657, P &lt; .001), 회전수 경기당 약 5 rpm 감소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건강한 대조군 없음, 경보 규칙 없음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Mastroianni 외 (2026)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UCL 수술 투수 78명 vs 매칭 대조군 156명</a:t>
                      </a:r>
                      <a:endParaRPr lang="en-US" sz="1050" dirty="0"/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투수 내 변화 분석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마지막 5등판 구속 점진 하락 (P = .019), 수평 릴리스 변동성 큼 (P = .005)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사후 분석, AUC·선행 일수 미보고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" name="Takeaway"/>
          <p:cNvSpPr txBox="1"/>
          <p:nvPr/>
        </p:nvSpPr>
        <p:spPr>
          <a:xfrm>
            <a:off x="274320" y="40690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➡"/>
            </a:pPr>
            <a:r>
              <a:rPr lang="en-US" sz="1450" b="1" dirty="0">
                <a:solidFill>
                  <a:schemeClr val="tx1"/>
                </a:solidFill>
                <a:highlight>
                  <a:srgbClr val="FFFF00"/>
                </a:highlight>
              </a:rPr>
              <a:t>부상 전 구속 하락은 실재하는 신호지만, 이를 경보로 바꾸고 성능을 평가한 연구는 없다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선행 연구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(2) 탐지 방법과 투구 부하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1830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연구 배경</a:t>
            </a:r>
            <a:endParaRPr lang="en-US" sz="900" dirty="0"/>
          </a:p>
        </p:txBody>
      </p:sp>
      <p:sp>
        <p:nvSpPr>
          <p:cNvPr id="5" name="Section tracker 2"/>
          <p:cNvSpPr/>
          <p:nvPr/>
        </p:nvSpPr>
        <p:spPr>
          <a:xfrm>
            <a:off x="5431536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tx2"/>
          </a:solidFill>
          <a:ln w="63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선행 연구</a:t>
            </a:r>
            <a:endParaRPr lang="en-US" sz="900" dirty="0"/>
          </a:p>
        </p:txBody>
      </p:sp>
      <p:sp>
        <p:nvSpPr>
          <p:cNvPr id="6" name="Section tracker 3"/>
          <p:cNvSpPr/>
          <p:nvPr/>
        </p:nvSpPr>
        <p:spPr>
          <a:xfrm>
            <a:off x="6144768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데이터</a:t>
            </a:r>
            <a:endParaRPr lang="en-US" sz="900" dirty="0"/>
          </a:p>
        </p:txBody>
      </p:sp>
      <p:sp>
        <p:nvSpPr>
          <p:cNvPr id="7" name="Section tracker 4"/>
          <p:cNvSpPr/>
          <p:nvPr/>
        </p:nvSpPr>
        <p:spPr>
          <a:xfrm>
            <a:off x="6858000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EDA</a:t>
            </a:r>
            <a:endParaRPr lang="en-US" sz="900" dirty="0"/>
          </a:p>
        </p:txBody>
      </p:sp>
      <p:sp>
        <p:nvSpPr>
          <p:cNvPr id="8" name="Section tracker 5"/>
          <p:cNvSpPr/>
          <p:nvPr/>
        </p:nvSpPr>
        <p:spPr>
          <a:xfrm>
            <a:off x="7571232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방법론</a:t>
            </a:r>
            <a:endParaRPr lang="en-US" sz="900" dirty="0"/>
          </a:p>
        </p:txBody>
      </p:sp>
      <p:sp>
        <p:nvSpPr>
          <p:cNvPr id="9" name="Section tracker 6"/>
          <p:cNvSpPr/>
          <p:nvPr/>
        </p:nvSpPr>
        <p:spPr>
          <a:xfrm>
            <a:off x="828446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기대 효과</a:t>
            </a:r>
            <a:endParaRPr lang="en-US" sz="900" dirty="0"/>
          </a:p>
        </p:txBody>
      </p:sp>
      <p:graphicFrame>
        <p:nvGraphicFramePr>
          <p:cNvPr id="7" name="Related work 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24128"/>
          <a:ext cx="68580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331720"/>
                <a:gridCol w="2606040"/>
                <a:gridCol w="23317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연구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대상 · 방법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핵심 결과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한계 (우리와의 차이)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Ozaki (2026, 석사논문)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UCLR 투수 46명 (2016–2024)</a:t>
                      </a:r>
                      <a:endParaRPr lang="en-US" sz="1050" dirty="0"/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오토인코더 이상 탐지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부상이 가까울수록 이상 정도 2.7배. 코드와 매칭 대조군 45쌍 공개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건강한 투수도 경보 (73% vs 66%), 시간 순서를 일부러 무시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Bright 외 (2026)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중계 영상으로 3차원 자세 추정</a:t>
                      </a:r>
                      <a:endParaRPr lang="en-US" sz="1050" dirty="0"/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투수 7,348명 선별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토미 존 수술 AUC 0.811, 중증 팔 부상 AUC 0.825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영상 추정값 사용, 개인 시계열 경보가 아님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Slowik 외 (2021)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대학 투수 17명</a:t>
                      </a:r>
                      <a:endParaRPr lang="en-US" sz="1050" dirty="0"/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ACWR, ROC로 기준 선정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ACWR이 ±33% 넘게 변하면 다음 주 부상 위험 8.3배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표본이 작음 (95% CI 1.8–54.1), 만성 구간 3주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" name="Takeaway"/>
          <p:cNvSpPr txBox="1"/>
          <p:nvPr/>
        </p:nvSpPr>
        <p:spPr>
          <a:xfrm>
            <a:off x="274320" y="40690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➡"/>
            </a:pPr>
            <a:r>
              <a:rPr lang="en-US" sz="1450" b="1" dirty="0">
                <a:solidFill>
                  <a:schemeClr val="tx1"/>
                </a:solidFill>
                <a:highlight>
                  <a:srgbClr val="FFFF00"/>
                </a:highlight>
              </a:rPr>
              <a:t>기존 탐지는 시간 순서를 버리거나 추정값에 의존했고, 투구 부하(ACWR)는 함께 볼 외생 신호다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선행 연구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선행 연구의 한계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1830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연구 배경</a:t>
            </a:r>
            <a:endParaRPr lang="en-US" sz="900" dirty="0"/>
          </a:p>
        </p:txBody>
      </p:sp>
      <p:sp>
        <p:nvSpPr>
          <p:cNvPr id="5" name="Section tracker 2"/>
          <p:cNvSpPr/>
          <p:nvPr/>
        </p:nvSpPr>
        <p:spPr>
          <a:xfrm>
            <a:off x="5431536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tx2"/>
          </a:solidFill>
          <a:ln w="63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선행 연구</a:t>
            </a:r>
            <a:endParaRPr lang="en-US" sz="900" dirty="0"/>
          </a:p>
        </p:txBody>
      </p:sp>
      <p:sp>
        <p:nvSpPr>
          <p:cNvPr id="6" name="Section tracker 3"/>
          <p:cNvSpPr/>
          <p:nvPr/>
        </p:nvSpPr>
        <p:spPr>
          <a:xfrm>
            <a:off x="6144768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데이터</a:t>
            </a:r>
            <a:endParaRPr lang="en-US" sz="900" dirty="0"/>
          </a:p>
        </p:txBody>
      </p:sp>
      <p:sp>
        <p:nvSpPr>
          <p:cNvPr id="7" name="Section tracker 4"/>
          <p:cNvSpPr/>
          <p:nvPr/>
        </p:nvSpPr>
        <p:spPr>
          <a:xfrm>
            <a:off x="6858000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EDA</a:t>
            </a:r>
            <a:endParaRPr lang="en-US" sz="900" dirty="0"/>
          </a:p>
        </p:txBody>
      </p:sp>
      <p:sp>
        <p:nvSpPr>
          <p:cNvPr id="8" name="Section tracker 5"/>
          <p:cNvSpPr/>
          <p:nvPr/>
        </p:nvSpPr>
        <p:spPr>
          <a:xfrm>
            <a:off x="7571232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방법론</a:t>
            </a:r>
            <a:endParaRPr lang="en-US" sz="900" dirty="0"/>
          </a:p>
        </p:txBody>
      </p:sp>
      <p:sp>
        <p:nvSpPr>
          <p:cNvPr id="9" name="Section tracker 6"/>
          <p:cNvSpPr/>
          <p:nvPr/>
        </p:nvSpPr>
        <p:spPr>
          <a:xfrm>
            <a:off x="828446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기대 효과</a:t>
            </a:r>
            <a:endParaRPr lang="en-US" sz="900" dirty="0"/>
          </a:p>
        </p:txBody>
      </p:sp>
      <p:sp>
        <p:nvSpPr>
          <p:cNvPr id="10" name="Limit label"/>
          <p:cNvSpPr txBox="1"/>
          <p:nvPr/>
        </p:nvSpPr>
        <p:spPr>
          <a:xfrm>
            <a:off x="320040" y="10241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한계 1</a:t>
            </a:r>
            <a:endParaRPr lang="en-US" sz="1200" dirty="0"/>
          </a:p>
        </p:txBody>
      </p:sp>
      <p:sp>
        <p:nvSpPr>
          <p:cNvPr id="11" name="Limit 1"/>
          <p:cNvSpPr/>
          <p:nvPr/>
        </p:nvSpPr>
        <p:spPr>
          <a:xfrm>
            <a:off x="320040" y="1325880"/>
            <a:ext cx="269748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시즌 평균으로 부상 투수와 건강한 투수를 비교</a:t>
            </a:r>
            <a:endParaRPr lang="en-US" sz="1200" dirty="0"/>
          </a:p>
        </p:txBody>
      </p:sp>
      <p:sp>
        <p:nvSpPr>
          <p:cNvPr id="12" name="Arrow"/>
          <p:cNvSpPr/>
          <p:nvPr/>
        </p:nvSpPr>
        <p:spPr>
          <a:xfrm>
            <a:off x="1481328" y="2560320"/>
            <a:ext cx="365760" cy="365760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Need label"/>
          <p:cNvSpPr txBox="1"/>
          <p:nvPr/>
        </p:nvSpPr>
        <p:spPr>
          <a:xfrm>
            <a:off x="320040" y="29718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필요</a:t>
            </a:r>
            <a:endParaRPr lang="en-US" sz="1200" dirty="0"/>
          </a:p>
        </p:txBody>
      </p:sp>
      <p:sp>
        <p:nvSpPr>
          <p:cNvPr id="14" name="Need 1"/>
          <p:cNvSpPr/>
          <p:nvPr/>
        </p:nvSpPr>
        <p:spPr>
          <a:xfrm>
            <a:off x="320040" y="3273552"/>
            <a:ext cx="2697480" cy="11430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9050">
            <a:solidFill>
              <a:schemeClr val="accent2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투수 개인의 시계열을 기준으로 변화를 읽어야 한다</a:t>
            </a:r>
            <a:endParaRPr lang="en-US" sz="1200" dirty="0"/>
          </a:p>
        </p:txBody>
      </p:sp>
      <p:sp>
        <p:nvSpPr>
          <p:cNvPr id="15" name="Limit label"/>
          <p:cNvSpPr txBox="1"/>
          <p:nvPr/>
        </p:nvSpPr>
        <p:spPr>
          <a:xfrm>
            <a:off x="3200400" y="10241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한계 2</a:t>
            </a:r>
            <a:endParaRPr lang="en-US" sz="1200" dirty="0"/>
          </a:p>
        </p:txBody>
      </p:sp>
      <p:sp>
        <p:nvSpPr>
          <p:cNvPr id="16" name="Limit 2"/>
          <p:cNvSpPr/>
          <p:nvPr/>
        </p:nvSpPr>
        <p:spPr>
          <a:xfrm>
            <a:off x="3200400" y="1325880"/>
            <a:ext cx="269748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추세 검정에 그쳐 경보 규칙과 오경보 집계가 없음</a:t>
            </a:r>
            <a:endParaRPr lang="en-US" sz="1200" dirty="0"/>
          </a:p>
        </p:txBody>
      </p:sp>
      <p:sp>
        <p:nvSpPr>
          <p:cNvPr id="17" name="Arrow"/>
          <p:cNvSpPr/>
          <p:nvPr/>
        </p:nvSpPr>
        <p:spPr>
          <a:xfrm>
            <a:off x="4361688" y="2560320"/>
            <a:ext cx="365760" cy="365760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Need label"/>
          <p:cNvSpPr txBox="1"/>
          <p:nvPr/>
        </p:nvSpPr>
        <p:spPr>
          <a:xfrm>
            <a:off x="3200400" y="29718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필요</a:t>
            </a:r>
            <a:endParaRPr lang="en-US" sz="1200" dirty="0"/>
          </a:p>
        </p:txBody>
      </p:sp>
      <p:sp>
        <p:nvSpPr>
          <p:cNvPr id="19" name="Need 2"/>
          <p:cNvSpPr/>
          <p:nvPr/>
        </p:nvSpPr>
        <p:spPr>
          <a:xfrm>
            <a:off x="3200400" y="3273552"/>
            <a:ext cx="2697480" cy="11430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9050">
            <a:solidFill>
              <a:schemeClr val="accent2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선행 시간과 오경보로 평가하는 경보 시스템이 필요하다</a:t>
            </a:r>
            <a:endParaRPr lang="en-US" sz="1200" dirty="0"/>
          </a:p>
        </p:txBody>
      </p:sp>
      <p:sp>
        <p:nvSpPr>
          <p:cNvPr id="20" name="Limit label"/>
          <p:cNvSpPr txBox="1"/>
          <p:nvPr/>
        </p:nvSpPr>
        <p:spPr>
          <a:xfrm>
            <a:off x="6080760" y="10241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한계 3</a:t>
            </a:r>
            <a:endParaRPr lang="en-US" sz="1200" dirty="0"/>
          </a:p>
        </p:txBody>
      </p:sp>
      <p:sp>
        <p:nvSpPr>
          <p:cNvPr id="21" name="Limit 3"/>
          <p:cNvSpPr/>
          <p:nvPr/>
        </p:nvSpPr>
        <p:spPr>
          <a:xfrm>
            <a:off x="6080760" y="1325880"/>
            <a:ext cx="269748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느린 하락이 기준선에 흡수될까 봐 시계열 모델을 피함</a:t>
            </a:r>
            <a:endParaRPr lang="en-US" sz="1200" dirty="0"/>
          </a:p>
        </p:txBody>
      </p:sp>
      <p:sp>
        <p:nvSpPr>
          <p:cNvPr id="22" name="Arrow"/>
          <p:cNvSpPr/>
          <p:nvPr/>
        </p:nvSpPr>
        <p:spPr>
          <a:xfrm>
            <a:off x="7242048" y="2560320"/>
            <a:ext cx="365760" cy="365760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Need label"/>
          <p:cNvSpPr txBox="1"/>
          <p:nvPr/>
        </p:nvSpPr>
        <p:spPr>
          <a:xfrm>
            <a:off x="6080760" y="29718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필요</a:t>
            </a:r>
            <a:endParaRPr lang="en-US" sz="1200" dirty="0"/>
          </a:p>
        </p:txBody>
      </p:sp>
      <p:sp>
        <p:nvSpPr>
          <p:cNvPr id="24" name="Need 3"/>
          <p:cNvSpPr/>
          <p:nvPr/>
        </p:nvSpPr>
        <p:spPr>
          <a:xfrm>
            <a:off x="6080760" y="3273552"/>
            <a:ext cx="2697480" cy="11430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9050">
            <a:solidFill>
              <a:schemeClr val="accent2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한 걸음 앞 예측의 잔차를 감시하면 기준선이 따라가도 신호가 남는다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선행 연구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본 연구의 차별점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1830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연구 배경</a:t>
            </a:r>
            <a:endParaRPr lang="en-US" sz="900" dirty="0"/>
          </a:p>
        </p:txBody>
      </p:sp>
      <p:sp>
        <p:nvSpPr>
          <p:cNvPr id="5" name="Section tracker 2"/>
          <p:cNvSpPr/>
          <p:nvPr/>
        </p:nvSpPr>
        <p:spPr>
          <a:xfrm>
            <a:off x="5431536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tx2"/>
          </a:solidFill>
          <a:ln w="63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선행 연구</a:t>
            </a:r>
            <a:endParaRPr lang="en-US" sz="900" dirty="0"/>
          </a:p>
        </p:txBody>
      </p:sp>
      <p:sp>
        <p:nvSpPr>
          <p:cNvPr id="6" name="Section tracker 3"/>
          <p:cNvSpPr/>
          <p:nvPr/>
        </p:nvSpPr>
        <p:spPr>
          <a:xfrm>
            <a:off x="6144768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데이터</a:t>
            </a:r>
            <a:endParaRPr lang="en-US" sz="900" dirty="0"/>
          </a:p>
        </p:txBody>
      </p:sp>
      <p:sp>
        <p:nvSpPr>
          <p:cNvPr id="7" name="Section tracker 4"/>
          <p:cNvSpPr/>
          <p:nvPr/>
        </p:nvSpPr>
        <p:spPr>
          <a:xfrm>
            <a:off x="6858000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EDA</a:t>
            </a:r>
            <a:endParaRPr lang="en-US" sz="900" dirty="0"/>
          </a:p>
        </p:txBody>
      </p:sp>
      <p:sp>
        <p:nvSpPr>
          <p:cNvPr id="8" name="Section tracker 5"/>
          <p:cNvSpPr/>
          <p:nvPr/>
        </p:nvSpPr>
        <p:spPr>
          <a:xfrm>
            <a:off x="7571232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방법론</a:t>
            </a:r>
            <a:endParaRPr lang="en-US" sz="900" dirty="0"/>
          </a:p>
        </p:txBody>
      </p:sp>
      <p:sp>
        <p:nvSpPr>
          <p:cNvPr id="9" name="Section tracker 6"/>
          <p:cNvSpPr/>
          <p:nvPr/>
        </p:nvSpPr>
        <p:spPr>
          <a:xfrm>
            <a:off x="828446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기대 효과</a:t>
            </a:r>
            <a:endParaRPr lang="en-US" sz="900" dirty="0"/>
          </a:p>
        </p:txBody>
      </p:sp>
      <p:sp>
        <p:nvSpPr>
          <p:cNvPr id="10" name="Core idea"/>
          <p:cNvSpPr/>
          <p:nvPr/>
        </p:nvSpPr>
        <p:spPr>
          <a:xfrm>
            <a:off x="320040" y="1024128"/>
            <a:ext cx="850392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9050">
            <a:solidFill>
              <a:schemeClr val="tx2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E699"/>
                </a:solidFill>
              </a:rPr>
              <a:t>핵심 아이디어  </a:t>
            </a:r>
            <a:r>
              <a:rPr lang="en-US" sz="1400" b="1" dirty="0">
                <a:solidFill>
                  <a:schemeClr val="bg1"/>
                </a:solidFill>
              </a:rPr>
              <a:t>투수별 시계열 기준선: 자기 과거로 예측한 기대 구속과 실제 구속의 차이(잔차)를 감시한다</a:t>
            </a:r>
            <a:endParaRPr lang="en-US" sz="1200" dirty="0"/>
          </a:p>
        </p:txBody>
      </p:sp>
      <p:sp>
        <p:nvSpPr>
          <p:cNvPr id="11" name="Novelty card 1"/>
          <p:cNvSpPr/>
          <p:nvPr/>
        </p:nvSpPr>
        <p:spPr>
          <a:xfrm>
            <a:off x="320040" y="1783080"/>
            <a:ext cx="4160520" cy="288036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22225">
            <a:solidFill>
              <a:schemeClr val="accent1"/>
            </a:solidFill>
            <a:prstDash val="solid"/>
          </a:ln>
        </p:spPr>
      </p:sp>
      <p:sp>
        <p:nvSpPr>
          <p:cNvPr id="12" name="Novelty number 1"/>
          <p:cNvSpPr/>
          <p:nvPr/>
        </p:nvSpPr>
        <p:spPr>
          <a:xfrm>
            <a:off x="502920" y="1938528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3" name="Novelty title 1"/>
          <p:cNvSpPr txBox="1"/>
          <p:nvPr/>
        </p:nvSpPr>
        <p:spPr>
          <a:xfrm>
            <a:off x="1069848" y="1920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공개 데이터 기반 다변량 시계열</a:t>
            </a:r>
            <a:endParaRPr lang="en-US" sz="1600" dirty="0"/>
          </a:p>
        </p:txBody>
      </p:sp>
      <p:sp>
        <p:nvSpPr>
          <p:cNvPr id="14" name="Novelty chip"/>
          <p:cNvSpPr/>
          <p:nvPr/>
        </p:nvSpPr>
        <p:spPr>
          <a:xfrm>
            <a:off x="502920" y="2560320"/>
            <a:ext cx="379476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성능 지표   </a:t>
            </a:r>
            <a:r>
              <a:rPr lang="en-US" sz="1300" dirty="0">
                <a:solidFill>
                  <a:schemeClr val="tx1"/>
                </a:solidFill>
              </a:rPr>
              <a:t>구속 · 변동성 · 릴리스</a:t>
            </a:r>
            <a:endParaRPr lang="en-US" sz="1200" dirty="0"/>
          </a:p>
        </p:txBody>
      </p:sp>
      <p:sp>
        <p:nvSpPr>
          <p:cNvPr id="15" name="Novelty chip"/>
          <p:cNvSpPr/>
          <p:nvPr/>
        </p:nvSpPr>
        <p:spPr>
          <a:xfrm>
            <a:off x="502920" y="3218688"/>
            <a:ext cx="379476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부하 지표   </a:t>
            </a:r>
            <a:r>
              <a:rPr lang="en-US" sz="1300" dirty="0">
                <a:solidFill>
                  <a:schemeClr val="tx1"/>
                </a:solidFill>
              </a:rPr>
              <a:t>등판 간격 · 누적 투구 수 · ACWR</a:t>
            </a:r>
            <a:endParaRPr lang="en-US" sz="1200" dirty="0"/>
          </a:p>
        </p:txBody>
      </p:sp>
      <p:sp>
        <p:nvSpPr>
          <p:cNvPr id="16" name="Novelty note 1"/>
          <p:cNvSpPr txBox="1"/>
          <p:nvPr/>
        </p:nvSpPr>
        <p:spPr>
          <a:xfrm>
            <a:off x="502920" y="39319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누구나 접근할 수 있는 Statcast와 MLB 기록만 사용 → 재현 가능한 결론</a:t>
            </a:r>
            <a:endParaRPr lang="en-US" sz="1200" dirty="0"/>
          </a:p>
        </p:txBody>
      </p:sp>
      <p:sp>
        <p:nvSpPr>
          <p:cNvPr id="17" name="Novelty card 2"/>
          <p:cNvSpPr/>
          <p:nvPr/>
        </p:nvSpPr>
        <p:spPr>
          <a:xfrm>
            <a:off x="4663440" y="1783080"/>
            <a:ext cx="4160520" cy="288036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22225">
            <a:solidFill>
              <a:schemeClr val="accent2"/>
            </a:solidFill>
            <a:prstDash val="solid"/>
          </a:ln>
        </p:spPr>
      </p:sp>
      <p:sp>
        <p:nvSpPr>
          <p:cNvPr id="18" name="Novelty number 2"/>
          <p:cNvSpPr/>
          <p:nvPr/>
        </p:nvSpPr>
        <p:spPr>
          <a:xfrm>
            <a:off x="4846320" y="1938528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9" name="Novelty title 2"/>
          <p:cNvSpPr txBox="1"/>
          <p:nvPr/>
        </p:nvSpPr>
        <p:spPr>
          <a:xfrm>
            <a:off x="5413248" y="1920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통계 검정을 넘어 실제 경보 시스템 평가</a:t>
            </a:r>
            <a:endParaRPr lang="en-US" sz="1600" dirty="0"/>
          </a:p>
        </p:txBody>
      </p:sp>
      <p:sp>
        <p:nvSpPr>
          <p:cNvPr id="20" name="Novelty chip"/>
          <p:cNvSpPr/>
          <p:nvPr/>
        </p:nvSpPr>
        <p:spPr>
          <a:xfrm>
            <a:off x="4846320" y="2560320"/>
            <a:ext cx="3794760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9050">
            <a:solidFill>
              <a:schemeClr val="accent2"/>
            </a:solidFill>
            <a:prstDash val="solid"/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얼마나 일찍?   </a:t>
            </a:r>
            <a:r>
              <a:rPr lang="en-US" sz="1300" dirty="0">
                <a:solidFill>
                  <a:schemeClr val="tx1"/>
                </a:solidFill>
              </a:rPr>
              <a:t>IL 등재 며칠 전에 울리는가</a:t>
            </a:r>
            <a:endParaRPr lang="en-US" sz="1200" dirty="0"/>
          </a:p>
        </p:txBody>
      </p:sp>
      <p:sp>
        <p:nvSpPr>
          <p:cNvPr id="21" name="Novelty chip"/>
          <p:cNvSpPr/>
          <p:nvPr/>
        </p:nvSpPr>
        <p:spPr>
          <a:xfrm>
            <a:off x="4846320" y="3218688"/>
            <a:ext cx="3794760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9050">
            <a:solidFill>
              <a:schemeClr val="accent2"/>
            </a:solidFill>
            <a:prstDash val="solid"/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얼마나 자주 헛울리나?   </a:t>
            </a:r>
            <a:r>
              <a:rPr lang="en-US" sz="1300" dirty="0">
                <a:solidFill>
                  <a:schemeClr val="tx1"/>
                </a:solidFill>
              </a:rPr>
              <a:t>오경보 빈도</a:t>
            </a:r>
            <a:endParaRPr lang="en-US" sz="1200" dirty="0"/>
          </a:p>
        </p:txBody>
      </p:sp>
      <p:sp>
        <p:nvSpPr>
          <p:cNvPr id="22" name="Novelty note 2"/>
          <p:cNvSpPr txBox="1"/>
          <p:nvPr/>
        </p:nvSpPr>
        <p:spPr>
          <a:xfrm>
            <a:off x="4846320" y="39319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조사한 선행 연구 중 선행 일수와 오경보 빈도를 함께 보고한 사례는 없다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데이터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데이터셋: MLB Statcast (2021–2026)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1830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연구 배경</a:t>
            </a:r>
            <a:endParaRPr lang="en-US" sz="900" dirty="0"/>
          </a:p>
        </p:txBody>
      </p:sp>
      <p:sp>
        <p:nvSpPr>
          <p:cNvPr id="5" name="Section tracker 2"/>
          <p:cNvSpPr/>
          <p:nvPr/>
        </p:nvSpPr>
        <p:spPr>
          <a:xfrm>
            <a:off x="5431536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선행 연구</a:t>
            </a:r>
            <a:endParaRPr lang="en-US" sz="900" dirty="0"/>
          </a:p>
        </p:txBody>
      </p:sp>
      <p:sp>
        <p:nvSpPr>
          <p:cNvPr id="6" name="Section tracker 3"/>
          <p:cNvSpPr/>
          <p:nvPr/>
        </p:nvSpPr>
        <p:spPr>
          <a:xfrm>
            <a:off x="6144768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tx2"/>
          </a:solidFill>
          <a:ln w="63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데이터</a:t>
            </a:r>
            <a:endParaRPr lang="en-US" sz="900" dirty="0"/>
          </a:p>
        </p:txBody>
      </p:sp>
      <p:sp>
        <p:nvSpPr>
          <p:cNvPr id="7" name="Section tracker 4"/>
          <p:cNvSpPr/>
          <p:nvPr/>
        </p:nvSpPr>
        <p:spPr>
          <a:xfrm>
            <a:off x="6858000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EDA</a:t>
            </a:r>
            <a:endParaRPr lang="en-US" sz="900" dirty="0"/>
          </a:p>
        </p:txBody>
      </p:sp>
      <p:sp>
        <p:nvSpPr>
          <p:cNvPr id="8" name="Section tracker 5"/>
          <p:cNvSpPr/>
          <p:nvPr/>
        </p:nvSpPr>
        <p:spPr>
          <a:xfrm>
            <a:off x="7571232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방법론</a:t>
            </a:r>
            <a:endParaRPr lang="en-US" sz="900" dirty="0"/>
          </a:p>
        </p:txBody>
      </p:sp>
      <p:sp>
        <p:nvSpPr>
          <p:cNvPr id="9" name="Section tracker 6"/>
          <p:cNvSpPr/>
          <p:nvPr/>
        </p:nvSpPr>
        <p:spPr>
          <a:xfrm>
            <a:off x="828446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기대 효과</a:t>
            </a:r>
            <a:endParaRPr lang="en-US" sz="900" dirty="0"/>
          </a:p>
        </p:txBody>
      </p:sp>
      <p:graphicFrame>
        <p:nvGraphicFramePr>
          <p:cNvPr id="10" name="Datase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24128"/>
          <a:ext cx="68580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448056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출처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Baseball Savant Statcast 투구 단위 데이터 + MLB 공식 API 부상자 명단(IL) 기록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기간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2021–2026 정규시즌 (6시즌)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규모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투구 약 438만 개 · 시즌당 투수 855–909명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부상 사건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투수 IL 등재 3,340건, 그중 팔 관련 1,683건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빈도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투구를 투수 × 등판 단위로 집계 (등판 간격은 불규칙)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핵심 변수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구속, 릴리스 좌우·높이, 익스텐션, 회전수, 구종, 투수, 날짜, 경기 번호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외생 변수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등판 간격, 최근 7·14·28일 누적 투구 수, ACWR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" name="Period rationale"/>
          <p:cNvSpPr/>
          <p:nvPr/>
        </p:nvSpPr>
        <p:spPr>
          <a:xfrm>
            <a:off x="6126480" y="1024128"/>
            <a:ext cx="2743200" cy="35204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Period text"/>
          <p:cNvSpPr txBox="1"/>
          <p:nvPr/>
        </p:nvSpPr>
        <p:spPr>
          <a:xfrm>
            <a:off x="6309360" y="1143000"/>
            <a:ext cx="2423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왜 2021년부터?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2017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공식 구속 정의 변경 (55ft 지점 → 릴리스 최대 속도)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2020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TrackMan → Hawk-Eye 전환, 구장별 보정 편차 보고. 60경기 단축 시즌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→ 측정 시스템 경계를 피해 2021–2026을 사용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데이터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분석 단위와 변수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1830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연구 배경</a:t>
            </a:r>
            <a:endParaRPr lang="en-US" sz="900" dirty="0"/>
          </a:p>
        </p:txBody>
      </p:sp>
      <p:sp>
        <p:nvSpPr>
          <p:cNvPr id="5" name="Section tracker 2"/>
          <p:cNvSpPr/>
          <p:nvPr/>
        </p:nvSpPr>
        <p:spPr>
          <a:xfrm>
            <a:off x="5431536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선행 연구</a:t>
            </a:r>
            <a:endParaRPr lang="en-US" sz="900" dirty="0"/>
          </a:p>
        </p:txBody>
      </p:sp>
      <p:sp>
        <p:nvSpPr>
          <p:cNvPr id="6" name="Section tracker 3"/>
          <p:cNvSpPr/>
          <p:nvPr/>
        </p:nvSpPr>
        <p:spPr>
          <a:xfrm>
            <a:off x="6144768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tx2"/>
          </a:solidFill>
          <a:ln w="63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데이터</a:t>
            </a:r>
            <a:endParaRPr lang="en-US" sz="900" dirty="0"/>
          </a:p>
        </p:txBody>
      </p:sp>
      <p:sp>
        <p:nvSpPr>
          <p:cNvPr id="7" name="Section tracker 4"/>
          <p:cNvSpPr/>
          <p:nvPr/>
        </p:nvSpPr>
        <p:spPr>
          <a:xfrm>
            <a:off x="6858000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EDA</a:t>
            </a:r>
            <a:endParaRPr lang="en-US" sz="900" dirty="0"/>
          </a:p>
        </p:txBody>
      </p:sp>
      <p:sp>
        <p:nvSpPr>
          <p:cNvPr id="8" name="Section tracker 5"/>
          <p:cNvSpPr/>
          <p:nvPr/>
        </p:nvSpPr>
        <p:spPr>
          <a:xfrm>
            <a:off x="7571232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방법론</a:t>
            </a:r>
            <a:endParaRPr lang="en-US" sz="900" dirty="0"/>
          </a:p>
        </p:txBody>
      </p:sp>
      <p:sp>
        <p:nvSpPr>
          <p:cNvPr id="9" name="Section tracker 6"/>
          <p:cNvSpPr/>
          <p:nvPr/>
        </p:nvSpPr>
        <p:spPr>
          <a:xfrm>
            <a:off x="828446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기대 효과</a:t>
            </a:r>
            <a:endParaRPr lang="en-US" sz="900" dirty="0"/>
          </a:p>
        </p:txBody>
      </p:sp>
      <p:graphicFrame>
        <p:nvGraphicFramePr>
          <p:cNvPr id="11" name="Variabl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6858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737360"/>
                <a:gridCol w="566928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그룹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변수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정의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65176">
                <a:tc row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투구 지표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구속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등판 내 패스트볼 평균·최고 구속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5176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구속 변동성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등판 내 패스트볼 구속의 표준편차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5176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릴리스 포인트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수평·수직 릴리스 위치의 평균과 표준편차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5176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보조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회전수, 익스텐션, 경기 내 투구 수에 따른 구속 하락 기울기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5176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부하 지표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등판 간격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직전 등판 이후 일수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5176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최근 투구량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최근 7·14·28일 누적 투구 수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5176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ACWR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7일 평균 ÷ 28일 평균 투구량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" name="분석 단위"/>
          <p:cNvSpPr/>
          <p:nvPr/>
        </p:nvSpPr>
        <p:spPr>
          <a:xfrm>
            <a:off x="274320" y="3456432"/>
            <a:ext cx="274320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분석 단위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투수 × 등판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시간축 = 등판 순번</a:t>
            </a:r>
            <a:endParaRPr lang="en-US" sz="1200" dirty="0"/>
          </a:p>
        </p:txBody>
      </p:sp>
      <p:sp>
        <p:nvSpPr>
          <p:cNvPr id="12" name="부상 사건"/>
          <p:cNvSpPr/>
          <p:nvPr/>
        </p:nvSpPr>
        <p:spPr>
          <a:xfrm>
            <a:off x="3172968" y="3456432"/>
            <a:ext cx="274320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부상 사건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팔 관련 사유로 IL 등재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(팔꿈치·UCL·전완·굴곡근·어깨)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기준일 = IL 등재 공시일</a:t>
            </a:r>
            <a:endParaRPr lang="en-US" sz="1200" dirty="0"/>
          </a:p>
        </p:txBody>
      </p:sp>
      <p:sp>
        <p:nvSpPr>
          <p:cNvPr id="13" name="감시 대상"/>
          <p:cNvSpPr/>
          <p:nvPr/>
        </p:nvSpPr>
        <p:spPr>
          <a:xfrm>
            <a:off x="6071616" y="3456432"/>
            <a:ext cx="274320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감시 대상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주 분석은 평균 구속 하나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나머지는 하나씩 추가해 비교</a:t>
            </a:r>
            <a:endParaRPr lang="en-US" sz="1200" dirty="0"/>
          </a:p>
        </p:txBody>
      </p:sp>
      <p:sp>
        <p:nvSpPr>
          <p:cNvPr id="14" name="Takeaway"/>
          <p:cNvSpPr txBox="1"/>
          <p:nvPr/>
        </p:nvSpPr>
        <p:spPr>
          <a:xfrm>
            <a:off x="274320" y="4425696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➡"/>
            </a:pPr>
            <a:r>
              <a:rPr lang="en-US" sz="1400" b="1" dirty="0">
                <a:solidFill>
                  <a:schemeClr val="tx1"/>
                </a:solidFill>
                <a:highlight>
                  <a:srgbClr val="FFFF00"/>
                </a:highlight>
              </a:rPr>
              <a:t>IL 기록은 평가(정답)에만 쓰고, 학습에는 쓰지 않는다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탐색적 데이터 분석 (EDA)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(1) 리그 구속 추세와 IL 규모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1830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연구 배경</a:t>
            </a:r>
            <a:endParaRPr lang="en-US" sz="900" dirty="0"/>
          </a:p>
        </p:txBody>
      </p:sp>
      <p:sp>
        <p:nvSpPr>
          <p:cNvPr id="5" name="Section tracker 2"/>
          <p:cNvSpPr/>
          <p:nvPr/>
        </p:nvSpPr>
        <p:spPr>
          <a:xfrm>
            <a:off x="5431536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선행 연구</a:t>
            </a:r>
            <a:endParaRPr lang="en-US" sz="900" dirty="0"/>
          </a:p>
        </p:txBody>
      </p:sp>
      <p:sp>
        <p:nvSpPr>
          <p:cNvPr id="6" name="Section tracker 3"/>
          <p:cNvSpPr/>
          <p:nvPr/>
        </p:nvSpPr>
        <p:spPr>
          <a:xfrm>
            <a:off x="6144768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데이터</a:t>
            </a:r>
            <a:endParaRPr lang="en-US" sz="900" dirty="0"/>
          </a:p>
        </p:txBody>
      </p:sp>
      <p:sp>
        <p:nvSpPr>
          <p:cNvPr id="7" name="Section tracker 4"/>
          <p:cNvSpPr/>
          <p:nvPr/>
        </p:nvSpPr>
        <p:spPr>
          <a:xfrm>
            <a:off x="6858000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tx2"/>
          </a:solidFill>
          <a:ln w="63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EDA</a:t>
            </a:r>
            <a:endParaRPr lang="en-US" sz="900" dirty="0"/>
          </a:p>
        </p:txBody>
      </p:sp>
      <p:sp>
        <p:nvSpPr>
          <p:cNvPr id="8" name="Section tracker 5"/>
          <p:cNvSpPr/>
          <p:nvPr/>
        </p:nvSpPr>
        <p:spPr>
          <a:xfrm>
            <a:off x="7571232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방법론</a:t>
            </a:r>
            <a:endParaRPr lang="en-US" sz="900" dirty="0"/>
          </a:p>
        </p:txBody>
      </p:sp>
      <p:sp>
        <p:nvSpPr>
          <p:cNvPr id="9" name="Section tracker 6"/>
          <p:cNvSpPr/>
          <p:nvPr/>
        </p:nvSpPr>
        <p:spPr>
          <a:xfrm>
            <a:off x="828446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기대 효과</a:t>
            </a:r>
            <a:endParaRPr lang="en-US" sz="900" dirty="0"/>
          </a:p>
        </p:txBody>
      </p:sp>
      <p:pic>
        <p:nvPicPr>
          <p:cNvPr id="10" name="Velocity by year" descr="/tmp/claude-0/-home-user-timeseries/2d02c38b-48df-5b9a-b0cc-ec9424e3cff2/scratchpad/figs_ko/k01_veloc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41832"/>
            <a:ext cx="4160520" cy="2532888"/>
          </a:xfrm>
          <a:prstGeom prst="rect">
            <a:avLst/>
          </a:prstGeom>
        </p:spPr>
      </p:pic>
      <p:pic>
        <p:nvPicPr>
          <p:cNvPr id="11" name="IL pitchers by year" descr="/tmp/claude-0/-home-user-timeseries/2d02c38b-48df-5b9a-b0cc-ec9424e3cff2/scratchpad/figs_ko/k02_il_pitch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941832"/>
            <a:ext cx="4160520" cy="2532888"/>
          </a:xfrm>
          <a:prstGeom prst="rect">
            <a:avLst/>
          </a:prstGeom>
        </p:spPr>
      </p:pic>
      <p:sp>
        <p:nvSpPr>
          <p:cNvPr id="12" name="Caption"/>
          <p:cNvSpPr txBox="1"/>
          <p:nvPr/>
        </p:nvSpPr>
        <p:spPr>
          <a:xfrm>
            <a:off x="274320" y="34930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연도별 포심 평균 구속 (투구 가중 평균, 왼쪽)과 IL 등재 고유 투수 수 (오른쪽), 2021–2026</a:t>
            </a:r>
            <a:endParaRPr lang="en-US" sz="950" dirty="0"/>
          </a:p>
        </p:txBody>
      </p:sp>
      <p:sp>
        <p:nvSpPr>
          <p:cNvPr id="13" name="Bullets"/>
          <p:cNvSpPr txBox="1"/>
          <p:nvPr/>
        </p:nvSpPr>
        <p:spPr>
          <a:xfrm>
            <a:off x="228600" y="374904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558800" indent="-279400">
              <a:spcBef>
                <a:spcPts val="300"/>
              </a:spcBef>
              <a:buSzPct val="100000"/>
              <a:buChar char="❏"/>
            </a:pPr>
            <a:r>
              <a:rPr lang="en-US" sz="1350" dirty="0">
                <a:solidFill>
                  <a:schemeClr val="tx1"/>
                </a:solidFill>
              </a:rPr>
              <a:t>리그 포심 구속이 6시즌 연속 상승: </a:t>
            </a:r>
            <a:r>
              <a:rPr lang="en-US" sz="1350" b="1" dirty="0">
                <a:solidFill>
                  <a:schemeClr val="tx1"/>
                </a:solidFill>
              </a:rPr>
              <a:t>93.69 → 94.77 mph</a:t>
            </a:r>
            <a:r>
              <a:rPr lang="en-US" sz="1350" dirty="0">
                <a:solidFill>
                  <a:schemeClr val="tx1"/>
                </a:solidFill>
              </a:rPr>
              <a:t> (+1.08) → </a:t>
            </a:r>
            <a:r>
              <a:rPr lang="en-US" sz="1350" dirty="0">
                <a:solidFill>
                  <a:schemeClr val="tx1"/>
                </a:solidFill>
                <a:highlight>
                  <a:srgbClr val="FFFF00"/>
                </a:highlight>
              </a:rPr>
              <a:t>추세를 뺀 투수별 기준선이 필요</a:t>
            </a:r>
            <a:endParaRPr lang="en-US" sz="1350" dirty="0"/>
          </a:p>
          <a:p>
            <a:pPr lvl="1" marL="558800" indent="-279400">
              <a:spcBef>
                <a:spcPts val="300"/>
              </a:spcBef>
              <a:buSzPct val="100000"/>
              <a:buChar char="❏"/>
            </a:pPr>
            <a:r>
              <a:rPr lang="en-US" sz="1350" dirty="0">
                <a:solidFill>
                  <a:schemeClr val="tx1"/>
                </a:solidFill>
              </a:rPr>
              <a:t>IL 등재 투수는 연 </a:t>
            </a:r>
            <a:r>
              <a:rPr lang="en-US" sz="1350" b="1" dirty="0">
                <a:solidFill>
                  <a:schemeClr val="tx1"/>
                </a:solidFill>
              </a:rPr>
              <a:t>360–444명</a:t>
            </a:r>
            <a:r>
              <a:rPr lang="en-US" sz="1350" dirty="0">
                <a:solidFill>
                  <a:schemeClr val="tx1"/>
                </a:solidFill>
              </a:rPr>
              <a:t>. 2026년 기록은 9월 27일까지라 같은 기간으로 맞춰도 확인 (규모 확인용, 부상률 비교 아님)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탐색적 데이터 분석 (EDA)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(2) 부상 부위 구성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1830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연구 배경</a:t>
            </a:r>
            <a:endParaRPr lang="en-US" sz="900" dirty="0"/>
          </a:p>
        </p:txBody>
      </p:sp>
      <p:sp>
        <p:nvSpPr>
          <p:cNvPr id="5" name="Section tracker 2"/>
          <p:cNvSpPr/>
          <p:nvPr/>
        </p:nvSpPr>
        <p:spPr>
          <a:xfrm>
            <a:off x="5431536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선행 연구</a:t>
            </a:r>
            <a:endParaRPr lang="en-US" sz="900" dirty="0"/>
          </a:p>
        </p:txBody>
      </p:sp>
      <p:sp>
        <p:nvSpPr>
          <p:cNvPr id="6" name="Section tracker 3"/>
          <p:cNvSpPr/>
          <p:nvPr/>
        </p:nvSpPr>
        <p:spPr>
          <a:xfrm>
            <a:off x="6144768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데이터</a:t>
            </a:r>
            <a:endParaRPr lang="en-US" sz="900" dirty="0"/>
          </a:p>
        </p:txBody>
      </p:sp>
      <p:sp>
        <p:nvSpPr>
          <p:cNvPr id="7" name="Section tracker 4"/>
          <p:cNvSpPr/>
          <p:nvPr/>
        </p:nvSpPr>
        <p:spPr>
          <a:xfrm>
            <a:off x="6858000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tx2"/>
          </a:solidFill>
          <a:ln w="63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EDA</a:t>
            </a:r>
            <a:endParaRPr lang="en-US" sz="900" dirty="0"/>
          </a:p>
        </p:txBody>
      </p:sp>
      <p:sp>
        <p:nvSpPr>
          <p:cNvPr id="8" name="Section tracker 5"/>
          <p:cNvSpPr/>
          <p:nvPr/>
        </p:nvSpPr>
        <p:spPr>
          <a:xfrm>
            <a:off x="7571232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방법론</a:t>
            </a:r>
            <a:endParaRPr lang="en-US" sz="900" dirty="0"/>
          </a:p>
        </p:txBody>
      </p:sp>
      <p:sp>
        <p:nvSpPr>
          <p:cNvPr id="9" name="Section tracker 6"/>
          <p:cNvSpPr/>
          <p:nvPr/>
        </p:nvSpPr>
        <p:spPr>
          <a:xfrm>
            <a:off x="828446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기대 효과</a:t>
            </a:r>
            <a:endParaRPr lang="en-US" sz="900" dirty="0"/>
          </a:p>
        </p:txBody>
      </p:sp>
      <p:pic>
        <p:nvPicPr>
          <p:cNvPr id="10" name="Injury sites" descr="/tmp/claude-0/-home-user-timeseries/2d02c38b-48df-5b9a-b0cc-ec9424e3cff2/scratchpad/figs_ko/k03_si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4087368" cy="3127248"/>
          </a:xfrm>
          <a:prstGeom prst="rect">
            <a:avLst/>
          </a:prstGeom>
        </p:spPr>
      </p:pic>
      <p:pic>
        <p:nvPicPr>
          <p:cNvPr id="11" name="Site share by year" descr="/tmp/claude-0/-home-user-timeseries/2d02c38b-48df-5b9a-b0cc-ec9424e3cff2/scratchpad/figs_ko/k04_site_sh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914400"/>
            <a:ext cx="3337560" cy="3127248"/>
          </a:xfrm>
          <a:prstGeom prst="rect">
            <a:avLst/>
          </a:prstGeom>
        </p:spPr>
      </p:pic>
      <p:sp>
        <p:nvSpPr>
          <p:cNvPr id="12" name="Share callout"/>
          <p:cNvSpPr txBox="1"/>
          <p:nvPr/>
        </p:nvSpPr>
        <p:spPr>
          <a:xfrm>
            <a:off x="7909560" y="1463040"/>
            <a:ext cx="1051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어깨·팔꿈치</a:t>
            </a:r>
            <a:endParaRPr lang="en-US" sz="12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33.7%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전체 IL 등재 중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(584 + 529건)</a:t>
            </a:r>
            <a:endParaRPr lang="en-US" sz="1200" dirty="0"/>
          </a:p>
        </p:txBody>
      </p:sp>
      <p:sp>
        <p:nvSpPr>
          <p:cNvPr id="13" name="Bullets"/>
          <p:cNvSpPr txBox="1"/>
          <p:nvPr/>
        </p:nvSpPr>
        <p:spPr>
          <a:xfrm>
            <a:off x="228600" y="4096512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558800" indent="-279400">
              <a:spcBef>
                <a:spcPts val="300"/>
              </a:spcBef>
              <a:buSzPct val="100000"/>
              <a:buChar char="❏"/>
            </a:pPr>
            <a:r>
              <a:rPr lang="en-US" sz="1300" dirty="0">
                <a:solidFill>
                  <a:schemeClr val="tx1"/>
                </a:solidFill>
              </a:rPr>
              <a:t>어깨 17.7%, 팔꿈치 16.0%, 전완 6.4%로 팔 부위가 가장 큰 비중 (분모는 IL 등재 건수, 고유 투수 수 아님)</a:t>
            </a:r>
            <a:endParaRPr lang="en-US" sz="1300" dirty="0"/>
          </a:p>
          <a:p>
            <a:pPr lvl="1" marL="558800" indent="-279400">
              <a:spcBef>
                <a:spcPts val="300"/>
              </a:spcBef>
              <a:buSzPct val="100000"/>
              <a:buChar char="❏"/>
            </a:pPr>
            <a:r>
              <a:rPr lang="en-US" sz="1300" dirty="0">
                <a:solidFill>
                  <a:schemeClr val="tx1"/>
                </a:solidFill>
              </a:rPr>
              <a:t>팔꿈치 비중이 </a:t>
            </a:r>
            <a:r>
              <a:rPr lang="en-US" sz="1300" b="1" dirty="0">
                <a:solidFill>
                  <a:schemeClr val="tx1"/>
                </a:solidFill>
              </a:rPr>
              <a:t>10% (2021) → 22% (2026)</a:t>
            </a:r>
            <a:r>
              <a:rPr lang="en-US" sz="1300" dirty="0">
                <a:solidFill>
                  <a:schemeClr val="tx1"/>
                </a:solidFill>
              </a:rPr>
              <a:t>로 증가 → </a:t>
            </a:r>
            <a:r>
              <a:rPr lang="en-US" sz="1300" dirty="0">
                <a:solidFill>
                  <a:schemeClr val="tx1"/>
                </a:solidFill>
                <a:highlight>
                  <a:srgbClr val="FFFF00"/>
                </a:highlight>
              </a:rPr>
              <a:t>팔 관련 IL을 주 분석 사건으로 정의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탐색적 데이터 분석 (EDA)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(3) IL 직전 구속 변화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1830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연구 배경</a:t>
            </a:r>
            <a:endParaRPr lang="en-US" sz="900" dirty="0"/>
          </a:p>
        </p:txBody>
      </p:sp>
      <p:sp>
        <p:nvSpPr>
          <p:cNvPr id="5" name="Section tracker 2"/>
          <p:cNvSpPr/>
          <p:nvPr/>
        </p:nvSpPr>
        <p:spPr>
          <a:xfrm>
            <a:off x="5431536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선행 연구</a:t>
            </a:r>
            <a:endParaRPr lang="en-US" sz="900" dirty="0"/>
          </a:p>
        </p:txBody>
      </p:sp>
      <p:sp>
        <p:nvSpPr>
          <p:cNvPr id="6" name="Section tracker 3"/>
          <p:cNvSpPr/>
          <p:nvPr/>
        </p:nvSpPr>
        <p:spPr>
          <a:xfrm>
            <a:off x="6144768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데이터</a:t>
            </a:r>
            <a:endParaRPr lang="en-US" sz="900" dirty="0"/>
          </a:p>
        </p:txBody>
      </p:sp>
      <p:sp>
        <p:nvSpPr>
          <p:cNvPr id="7" name="Section tracker 4"/>
          <p:cNvSpPr/>
          <p:nvPr/>
        </p:nvSpPr>
        <p:spPr>
          <a:xfrm>
            <a:off x="6858000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tx2"/>
          </a:solidFill>
          <a:ln w="63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EDA</a:t>
            </a:r>
            <a:endParaRPr lang="en-US" sz="900" dirty="0"/>
          </a:p>
        </p:txBody>
      </p:sp>
      <p:sp>
        <p:nvSpPr>
          <p:cNvPr id="8" name="Section tracker 5"/>
          <p:cNvSpPr/>
          <p:nvPr/>
        </p:nvSpPr>
        <p:spPr>
          <a:xfrm>
            <a:off x="7571232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방법론</a:t>
            </a:r>
            <a:endParaRPr lang="en-US" sz="900" dirty="0"/>
          </a:p>
        </p:txBody>
      </p:sp>
      <p:sp>
        <p:nvSpPr>
          <p:cNvPr id="9" name="Section tracker 6"/>
          <p:cNvSpPr/>
          <p:nvPr/>
        </p:nvSpPr>
        <p:spPr>
          <a:xfrm>
            <a:off x="828446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기대 효과</a:t>
            </a:r>
            <a:endParaRPr lang="en-US" sz="900" dirty="0"/>
          </a:p>
        </p:txBody>
      </p:sp>
      <p:pic>
        <p:nvPicPr>
          <p:cNvPr id="10" name="Velocity diff" descr="/tmp/claude-0/-home-user-timeseries/2d02c38b-48df-5b9a-b0cc-ec9424e3cff2/scratchpad/figs_ko/k05_velocity_di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32688"/>
            <a:ext cx="5577840" cy="2478024"/>
          </a:xfrm>
          <a:prstGeom prst="rect">
            <a:avLst/>
          </a:prstGeom>
        </p:spPr>
      </p:pic>
      <p:graphicFrame>
        <p:nvGraphicFramePr>
          <p:cNvPr id="14" name="Event coun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1051560"/>
          <a:ext cx="6858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868680"/>
                <a:gridCol w="86868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사건 수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전체 IL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팔 관련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직전 1등판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1,479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663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직전 3등판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1,066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460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직전 5등판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786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329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2" name="Key diff"/>
          <p:cNvSpPr txBox="1"/>
          <p:nvPr/>
        </p:nvSpPr>
        <p:spPr>
          <a:xfrm>
            <a:off x="6080760" y="237744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직전 1등판 − 이전 등판</a:t>
            </a:r>
            <a:endParaRPr lang="en-US" sz="11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전체 IL  −0.26 mph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[95% CI −0.31, −0.22]</a:t>
            </a:r>
            <a:endParaRPr lang="en-US" sz="11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팔 관련  −0.37 mph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[95% CI −0.45, −0.30]</a:t>
            </a:r>
            <a:endParaRPr lang="en-US" sz="1100" dirty="0"/>
          </a:p>
        </p:txBody>
      </p:sp>
      <p:sp>
        <p:nvSpPr>
          <p:cNvPr id="13" name="Caption"/>
          <p:cNvSpPr txBox="1"/>
          <p:nvPr/>
        </p:nvSpPr>
        <p:spPr>
          <a:xfrm>
            <a:off x="182880" y="3456432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같은 투수의 현재 IL 구간 안에서 직전 N등판 평균 − 그 이전 등판 평균 (점: 차이, 선: 95% CI, 선수 단위 부트스트랩 2,000회)</a:t>
            </a:r>
            <a:endParaRPr lang="en-US" sz="950" dirty="0"/>
          </a:p>
        </p:txBody>
      </p:sp>
      <p:sp>
        <p:nvSpPr>
          <p:cNvPr id="14" name="Bullets"/>
          <p:cNvSpPr txBox="1"/>
          <p:nvPr/>
        </p:nvSpPr>
        <p:spPr>
          <a:xfrm>
            <a:off x="228600" y="3730752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558800" indent="-279400">
              <a:spcBef>
                <a:spcPts val="300"/>
              </a:spcBef>
              <a:buSzPct val="100000"/>
              <a:buChar char="❏"/>
            </a:pPr>
            <a:r>
              <a:rPr lang="en-US" sz="1300" b="1" dirty="0">
                <a:solidFill>
                  <a:schemeClr val="tx1"/>
                </a:solidFill>
              </a:rPr>
              <a:t>같은 투수 내부 비교</a:t>
            </a:r>
            <a:r>
              <a:rPr lang="en-US" sz="1300" dirty="0">
                <a:solidFill>
                  <a:schemeClr val="tx1"/>
                </a:solidFill>
              </a:rPr>
              <a:t>다. 건강한 투수 집단과의 비교가 아니다</a:t>
            </a:r>
            <a:endParaRPr lang="en-US" sz="1300" dirty="0"/>
          </a:p>
          <a:p>
            <a:pPr lvl="1" marL="558800" indent="-279400">
              <a:spcBef>
                <a:spcPts val="300"/>
              </a:spcBef>
              <a:buSzPct val="100000"/>
              <a:buChar char="❏"/>
            </a:pPr>
            <a:r>
              <a:rPr lang="en-US" sz="1300" dirty="0">
                <a:solidFill>
                  <a:schemeClr val="tx1"/>
                </a:solidFill>
              </a:rPr>
              <a:t>직전 1등판에서 가장 크게 떨어지고, N이 커질수록 차이가 줄어든다. 팔 관련 IL이 모든 구간에서 더 크게 하락</a:t>
            </a:r>
            <a:endParaRPr lang="en-US" sz="1300" dirty="0"/>
          </a:p>
          <a:p>
            <a:pPr lvl="1" marL="457200" indent="-228600">
              <a:spcBef>
                <a:spcPts val="400"/>
              </a:spcBef>
              <a:buSzPct val="100000"/>
              <a:buChar char="➡"/>
            </a:pPr>
            <a:r>
              <a:rPr lang="en-US" sz="1300" dirty="0">
                <a:solidFill>
                  <a:schemeClr val="tx1"/>
                </a:solidFill>
                <a:highlight>
                  <a:srgbClr val="FFFF00"/>
                </a:highlight>
              </a:rPr>
              <a:t>하락은 IL 직전에 몰린다 → 경보창은 짧게 (직전 3등판 기준, 2·5등판으로 확인)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탐색적 데이터 분석 (EDA)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(4) IL 직전 회전수와 회전수/구속 비율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1830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연구 배경</a:t>
            </a:r>
            <a:endParaRPr lang="en-US" sz="900" dirty="0"/>
          </a:p>
        </p:txBody>
      </p:sp>
      <p:sp>
        <p:nvSpPr>
          <p:cNvPr id="5" name="Section tracker 2"/>
          <p:cNvSpPr/>
          <p:nvPr/>
        </p:nvSpPr>
        <p:spPr>
          <a:xfrm>
            <a:off x="5431536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선행 연구</a:t>
            </a:r>
            <a:endParaRPr lang="en-US" sz="900" dirty="0"/>
          </a:p>
        </p:txBody>
      </p:sp>
      <p:sp>
        <p:nvSpPr>
          <p:cNvPr id="6" name="Section tracker 3"/>
          <p:cNvSpPr/>
          <p:nvPr/>
        </p:nvSpPr>
        <p:spPr>
          <a:xfrm>
            <a:off x="6144768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데이터</a:t>
            </a:r>
            <a:endParaRPr lang="en-US" sz="900" dirty="0"/>
          </a:p>
        </p:txBody>
      </p:sp>
      <p:sp>
        <p:nvSpPr>
          <p:cNvPr id="7" name="Section tracker 4"/>
          <p:cNvSpPr/>
          <p:nvPr/>
        </p:nvSpPr>
        <p:spPr>
          <a:xfrm>
            <a:off x="6858000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tx2"/>
          </a:solidFill>
          <a:ln w="63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EDA</a:t>
            </a:r>
            <a:endParaRPr lang="en-US" sz="900" dirty="0"/>
          </a:p>
        </p:txBody>
      </p:sp>
      <p:sp>
        <p:nvSpPr>
          <p:cNvPr id="8" name="Section tracker 5"/>
          <p:cNvSpPr/>
          <p:nvPr/>
        </p:nvSpPr>
        <p:spPr>
          <a:xfrm>
            <a:off x="7571232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방법론</a:t>
            </a:r>
            <a:endParaRPr lang="en-US" sz="900" dirty="0"/>
          </a:p>
        </p:txBody>
      </p:sp>
      <p:sp>
        <p:nvSpPr>
          <p:cNvPr id="9" name="Section tracker 6"/>
          <p:cNvSpPr/>
          <p:nvPr/>
        </p:nvSpPr>
        <p:spPr>
          <a:xfrm>
            <a:off x="828446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기대 효과</a:t>
            </a:r>
            <a:endParaRPr lang="en-US" sz="900" dirty="0"/>
          </a:p>
        </p:txBody>
      </p:sp>
      <p:pic>
        <p:nvPicPr>
          <p:cNvPr id="10" name="Spin diff" descr="/tmp/claude-0/-home-user-timeseries/2d02c38b-48df-5b9a-b0cc-ec9424e3cff2/scratchpad/figs_ko/k06_spin_di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32688"/>
            <a:ext cx="4160520" cy="2487168"/>
          </a:xfrm>
          <a:prstGeom prst="rect">
            <a:avLst/>
          </a:prstGeom>
        </p:spPr>
      </p:pic>
      <p:pic>
        <p:nvPicPr>
          <p:cNvPr id="11" name="Ratio diff" descr="/tmp/claude-0/-home-user-timeseries/2d02c38b-48df-5b9a-b0cc-ec9424e3cff2/scratchpad/figs_ko/k07_ratio_di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932688"/>
            <a:ext cx="4160520" cy="2487168"/>
          </a:xfrm>
          <a:prstGeom prst="rect">
            <a:avLst/>
          </a:prstGeom>
        </p:spPr>
      </p:pic>
      <p:sp>
        <p:nvSpPr>
          <p:cNvPr id="12" name="Caption"/>
          <p:cNvSpPr txBox="1"/>
          <p:nvPr/>
        </p:nvSpPr>
        <p:spPr>
          <a:xfrm>
            <a:off x="182880" y="344728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직전 N등판 − 이전 등판 (같은 투수 내부 비교). 채운 점 = 95% CI가 0을 포함하지 않음, 빈 점 = 0을 포함</a:t>
            </a:r>
            <a:endParaRPr lang="en-US" sz="950" dirty="0"/>
          </a:p>
        </p:txBody>
      </p:sp>
      <p:sp>
        <p:nvSpPr>
          <p:cNvPr id="13" name="Bullets"/>
          <p:cNvSpPr txBox="1"/>
          <p:nvPr/>
        </p:nvSpPr>
        <p:spPr>
          <a:xfrm>
            <a:off x="228600" y="3730752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558800" indent="-279400">
              <a:spcBef>
                <a:spcPts val="300"/>
              </a:spcBef>
              <a:buSzPct val="100000"/>
              <a:buChar char="❏"/>
            </a:pPr>
            <a:r>
              <a:rPr lang="en-US" sz="1300" dirty="0">
                <a:solidFill>
                  <a:schemeClr val="tx1"/>
                </a:solidFill>
              </a:rPr>
              <a:t>회전수: 직전 1등판 약 </a:t>
            </a:r>
            <a:r>
              <a:rPr lang="en-US" sz="1300" b="1" dirty="0">
                <a:solidFill>
                  <a:schemeClr val="tx1"/>
                </a:solidFill>
              </a:rPr>
              <a:t>−10 rpm</a:t>
            </a:r>
            <a:r>
              <a:rPr lang="en-US" sz="1300" dirty="0">
                <a:solidFill>
                  <a:schemeClr val="tx1"/>
                </a:solidFill>
              </a:rPr>
              <a:t> (전체 −10.4, 팔 관련 −10.9). 5등판으로 넓히면 95% CI가 0을 포함</a:t>
            </a:r>
            <a:endParaRPr lang="en-US" sz="1300" dirty="0"/>
          </a:p>
          <a:p>
            <a:pPr lvl="1" marL="558800" indent="-279400">
              <a:spcBef>
                <a:spcPts val="300"/>
              </a:spcBef>
              <a:buSzPct val="100000"/>
              <a:buChar char="❏"/>
            </a:pPr>
            <a:r>
              <a:rPr lang="en-US" sz="1300" dirty="0">
                <a:solidFill>
                  <a:schemeClr val="tx1"/>
                </a:solidFill>
              </a:rPr>
              <a:t>회전수/구속 비율: 전체 IL의 직전 1등판만 0보다 작고 (−0.045), 팔 관련 IL은 모든 구간에서 0을 포함</a:t>
            </a:r>
            <a:endParaRPr lang="en-US" sz="1300" dirty="0"/>
          </a:p>
          <a:p>
            <a:pPr lvl="1" marL="457200" indent="-228600">
              <a:spcBef>
                <a:spcPts val="400"/>
              </a:spcBef>
              <a:buSzPct val="100000"/>
              <a:buChar char="➡"/>
            </a:pPr>
            <a:r>
              <a:rPr lang="en-US" sz="1300" dirty="0">
                <a:solidFill>
                  <a:schemeClr val="tx1"/>
                </a:solidFill>
                <a:highlight>
                  <a:srgbClr val="FFFF00"/>
                </a:highlight>
              </a:rPr>
              <a:t>회전수 계열 신호는 구속보다 약하고 불안정 → 보조 변수로만 사용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탐색적 데이터 분석 (EDA)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(5) 구속 집단별 같은 해 IL 등재율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1830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연구 배경</a:t>
            </a:r>
            <a:endParaRPr lang="en-US" sz="900" dirty="0"/>
          </a:p>
        </p:txBody>
      </p:sp>
      <p:sp>
        <p:nvSpPr>
          <p:cNvPr id="5" name="Section tracker 2"/>
          <p:cNvSpPr/>
          <p:nvPr/>
        </p:nvSpPr>
        <p:spPr>
          <a:xfrm>
            <a:off x="5431536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선행 연구</a:t>
            </a:r>
            <a:endParaRPr lang="en-US" sz="900" dirty="0"/>
          </a:p>
        </p:txBody>
      </p:sp>
      <p:sp>
        <p:nvSpPr>
          <p:cNvPr id="6" name="Section tracker 3"/>
          <p:cNvSpPr/>
          <p:nvPr/>
        </p:nvSpPr>
        <p:spPr>
          <a:xfrm>
            <a:off x="6144768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데이터</a:t>
            </a:r>
            <a:endParaRPr lang="en-US" sz="900" dirty="0"/>
          </a:p>
        </p:txBody>
      </p:sp>
      <p:sp>
        <p:nvSpPr>
          <p:cNvPr id="7" name="Section tracker 4"/>
          <p:cNvSpPr/>
          <p:nvPr/>
        </p:nvSpPr>
        <p:spPr>
          <a:xfrm>
            <a:off x="6858000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tx2"/>
          </a:solidFill>
          <a:ln w="63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EDA</a:t>
            </a:r>
            <a:endParaRPr lang="en-US" sz="900" dirty="0"/>
          </a:p>
        </p:txBody>
      </p:sp>
      <p:sp>
        <p:nvSpPr>
          <p:cNvPr id="8" name="Section tracker 5"/>
          <p:cNvSpPr/>
          <p:nvPr/>
        </p:nvSpPr>
        <p:spPr>
          <a:xfrm>
            <a:off x="7571232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방법론</a:t>
            </a:r>
            <a:endParaRPr lang="en-US" sz="900" dirty="0"/>
          </a:p>
        </p:txBody>
      </p:sp>
      <p:sp>
        <p:nvSpPr>
          <p:cNvPr id="9" name="Section tracker 6"/>
          <p:cNvSpPr/>
          <p:nvPr/>
        </p:nvSpPr>
        <p:spPr>
          <a:xfrm>
            <a:off x="828446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기대 효과</a:t>
            </a:r>
            <a:endParaRPr lang="en-US" sz="900" dirty="0"/>
          </a:p>
        </p:txBody>
      </p:sp>
      <p:pic>
        <p:nvPicPr>
          <p:cNvPr id="10" name="Velocity group IL rate" descr="/tmp/claude-0/-home-user-timeseries/2d02c38b-48df-5b9a-b0cc-ec9424e3cff2/scratchpad/figs_ko/k11_velocity_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14400"/>
            <a:ext cx="5669280" cy="3191256"/>
          </a:xfrm>
          <a:prstGeom prst="rect">
            <a:avLst/>
          </a:prstGeom>
        </p:spPr>
      </p:pic>
      <p:sp>
        <p:nvSpPr>
          <p:cNvPr id="11" name="Caption"/>
          <p:cNvSpPr txBox="1"/>
          <p:nvPr/>
        </p:nvSpPr>
        <p:spPr>
          <a:xfrm>
            <a:off x="228600" y="413308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같은 해·같은 투구손 평균보다 빠른 투수(빨강)와 느린 투수(파랑)의 같은 해 IL 등재율</a:t>
            </a:r>
            <a:endParaRPr lang="en-US" sz="950" dirty="0"/>
          </a:p>
        </p:txBody>
      </p:sp>
      <p:sp>
        <p:nvSpPr>
          <p:cNvPr id="12" name="Bullets"/>
          <p:cNvSpPr txBox="1"/>
          <p:nvPr/>
        </p:nvSpPr>
        <p:spPr>
          <a:xfrm>
            <a:off x="6080760" y="1005840"/>
            <a:ext cx="2834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558800" indent="-279400">
              <a:spcBef>
                <a:spcPts val="300"/>
              </a:spcBef>
              <a:buSzPct val="100000"/>
              <a:buChar char="❏"/>
            </a:pPr>
            <a:r>
              <a:rPr lang="en-US" sz="1300" dirty="0">
                <a:solidFill>
                  <a:schemeClr val="tx1"/>
                </a:solidFill>
              </a:rPr>
              <a:t>투수 집단끼리 비교: 연도·투구손별 평균 구속보다 빠른가 느린가</a:t>
            </a:r>
            <a:endParaRPr lang="en-US" sz="1300" dirty="0"/>
          </a:p>
          <a:p>
            <a:pPr lvl="1" marL="558800" indent="-279400">
              <a:spcBef>
                <a:spcPts val="300"/>
              </a:spcBef>
              <a:buSzPct val="100000"/>
              <a:buChar char="❏"/>
            </a:pPr>
            <a:r>
              <a:rPr lang="en-US" sz="1300" dirty="0">
                <a:solidFill>
                  <a:schemeClr val="tx1"/>
                </a:solidFill>
              </a:rPr>
              <a:t>빠른 집단이 더 높은 경우는 </a:t>
            </a:r>
            <a:r>
              <a:rPr lang="en-US" sz="1300" b="1" dirty="0">
                <a:solidFill>
                  <a:schemeClr val="tx1"/>
                </a:solidFill>
              </a:rPr>
              <a:t>24개 조합 중 12개</a:t>
            </a:r>
            <a:r>
              <a:rPr lang="en-US" sz="1300" dirty="0">
                <a:solidFill>
                  <a:schemeClr val="tx1"/>
                </a:solidFill>
              </a:rPr>
              <a:t>. 방향이 일관되지 않다</a:t>
            </a:r>
            <a:endParaRPr lang="en-US" sz="1300" dirty="0"/>
          </a:p>
          <a:p>
            <a:pPr lvl="1" marL="558800" indent="-279400">
              <a:spcBef>
                <a:spcPts val="300"/>
              </a:spcBef>
              <a:buSzPct val="100000"/>
              <a:buChar char="❏"/>
            </a:pPr>
            <a:r>
              <a:rPr lang="en-US" sz="1300" dirty="0">
                <a:solidFill>
                  <a:schemeClr val="tx1"/>
                </a:solidFill>
              </a:rPr>
              <a:t>시즌 전체 평균 구속이라 부상 전후 등판이 섞여 있다 (인과·예측 분석 아님)</a:t>
            </a:r>
            <a:endParaRPr lang="en-US" sz="1300" dirty="0"/>
          </a:p>
          <a:p>
            <a:pPr marL="228600" indent="-228600">
              <a:spcBef>
                <a:spcPts val="400"/>
              </a:spcBef>
              <a:buSzPct val="100000"/>
              <a:buChar char="➡"/>
            </a:pPr>
            <a:r>
              <a:rPr lang="en-US" sz="1300" dirty="0">
                <a:solidFill>
                  <a:schemeClr val="tx1"/>
                </a:solidFill>
                <a:highlight>
                  <a:srgbClr val="FFFF00"/>
                </a:highlight>
              </a:rPr>
              <a:t>집단 비교로는 신호가 약하다 → 투수 개인 내부의 변화에 집중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탐색적 데이터 분석 (EDA)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EDA 요약과 모델링 시사점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1830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연구 배경</a:t>
            </a:r>
            <a:endParaRPr lang="en-US" sz="900" dirty="0"/>
          </a:p>
        </p:txBody>
      </p:sp>
      <p:sp>
        <p:nvSpPr>
          <p:cNvPr id="5" name="Section tracker 2"/>
          <p:cNvSpPr/>
          <p:nvPr/>
        </p:nvSpPr>
        <p:spPr>
          <a:xfrm>
            <a:off x="5431536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선행 연구</a:t>
            </a:r>
            <a:endParaRPr lang="en-US" sz="900" dirty="0"/>
          </a:p>
        </p:txBody>
      </p:sp>
      <p:sp>
        <p:nvSpPr>
          <p:cNvPr id="6" name="Section tracker 3"/>
          <p:cNvSpPr/>
          <p:nvPr/>
        </p:nvSpPr>
        <p:spPr>
          <a:xfrm>
            <a:off x="6144768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데이터</a:t>
            </a:r>
            <a:endParaRPr lang="en-US" sz="900" dirty="0"/>
          </a:p>
        </p:txBody>
      </p:sp>
      <p:sp>
        <p:nvSpPr>
          <p:cNvPr id="7" name="Section tracker 4"/>
          <p:cNvSpPr/>
          <p:nvPr/>
        </p:nvSpPr>
        <p:spPr>
          <a:xfrm>
            <a:off x="6858000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tx2"/>
          </a:solidFill>
          <a:ln w="63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EDA</a:t>
            </a:r>
            <a:endParaRPr lang="en-US" sz="900" dirty="0"/>
          </a:p>
        </p:txBody>
      </p:sp>
      <p:sp>
        <p:nvSpPr>
          <p:cNvPr id="8" name="Section tracker 5"/>
          <p:cNvSpPr/>
          <p:nvPr/>
        </p:nvSpPr>
        <p:spPr>
          <a:xfrm>
            <a:off x="7571232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방법론</a:t>
            </a:r>
            <a:endParaRPr lang="en-US" sz="900" dirty="0"/>
          </a:p>
        </p:txBody>
      </p:sp>
      <p:sp>
        <p:nvSpPr>
          <p:cNvPr id="9" name="Section tracker 6"/>
          <p:cNvSpPr/>
          <p:nvPr/>
        </p:nvSpPr>
        <p:spPr>
          <a:xfrm>
            <a:off x="828446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기대 효과</a:t>
            </a:r>
            <a:endParaRPr lang="en-US" sz="900" dirty="0"/>
          </a:p>
        </p:txBody>
      </p:sp>
      <p:graphicFrame>
        <p:nvGraphicFramePr>
          <p:cNvPr id="17" name="EDA summar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685800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4297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EDA에서 확인한 것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모델링에 반영할 것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리그 포심 구속이 6시즌 연속 상승 (+1.08 mph)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추세를 제거한 투수별 기준선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IL 등재 중 어깨·팔꿈치가 33.7%, 팔꿈치 비중 증가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팔 관련 IL을 주 분석 사건으로 정의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IL 직전 1–3등판에서 구속 하락, 팔 관련에서 더 큼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짧은 경보창 (직전 3등판, 2·5등판으로 확인)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직전 하락 폭이 0.1–0.4 mph로 작음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단일 임계값보다 누적형 탐지 (EWMA) + 오경보 평가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회전수·비율 신호는 약하고 구간에 따라 불안정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회전수는 보조 변수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빠른/느린 집단의 IL 등재율 차이가 일관되지 않음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집단 비교 대신 개인 내부의 시계열 이상 탐지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방법론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접근 방식: 시계열 이상 탐지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1830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연구 배경</a:t>
            </a:r>
            <a:endParaRPr lang="en-US" sz="900" dirty="0"/>
          </a:p>
        </p:txBody>
      </p:sp>
      <p:sp>
        <p:nvSpPr>
          <p:cNvPr id="5" name="Section tracker 2"/>
          <p:cNvSpPr/>
          <p:nvPr/>
        </p:nvSpPr>
        <p:spPr>
          <a:xfrm>
            <a:off x="5431536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선행 연구</a:t>
            </a:r>
            <a:endParaRPr lang="en-US" sz="900" dirty="0"/>
          </a:p>
        </p:txBody>
      </p:sp>
      <p:sp>
        <p:nvSpPr>
          <p:cNvPr id="6" name="Section tracker 3"/>
          <p:cNvSpPr/>
          <p:nvPr/>
        </p:nvSpPr>
        <p:spPr>
          <a:xfrm>
            <a:off x="6144768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데이터</a:t>
            </a:r>
            <a:endParaRPr lang="en-US" sz="900" dirty="0"/>
          </a:p>
        </p:txBody>
      </p:sp>
      <p:sp>
        <p:nvSpPr>
          <p:cNvPr id="7" name="Section tracker 4"/>
          <p:cNvSpPr/>
          <p:nvPr/>
        </p:nvSpPr>
        <p:spPr>
          <a:xfrm>
            <a:off x="6858000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EDA</a:t>
            </a:r>
            <a:endParaRPr lang="en-US" sz="900" dirty="0"/>
          </a:p>
        </p:txBody>
      </p:sp>
      <p:sp>
        <p:nvSpPr>
          <p:cNvPr id="8" name="Section tracker 5"/>
          <p:cNvSpPr/>
          <p:nvPr/>
        </p:nvSpPr>
        <p:spPr>
          <a:xfrm>
            <a:off x="7571232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tx2"/>
          </a:solidFill>
          <a:ln w="63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방법론</a:t>
            </a:r>
            <a:endParaRPr lang="en-US" sz="900" dirty="0"/>
          </a:p>
        </p:txBody>
      </p:sp>
      <p:sp>
        <p:nvSpPr>
          <p:cNvPr id="9" name="Section tracker 6"/>
          <p:cNvSpPr/>
          <p:nvPr/>
        </p:nvSpPr>
        <p:spPr>
          <a:xfrm>
            <a:off x="828446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기대 효과</a:t>
            </a:r>
            <a:endParaRPr lang="en-US" sz="900" dirty="0"/>
          </a:p>
        </p:txBody>
      </p:sp>
      <p:sp>
        <p:nvSpPr>
          <p:cNvPr id="10" name="Step 1"/>
          <p:cNvSpPr/>
          <p:nvPr/>
        </p:nvSpPr>
        <p:spPr>
          <a:xfrm>
            <a:off x="274320" y="1097280"/>
            <a:ext cx="141732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등판 단위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데이터</a:t>
            </a:r>
            <a:endParaRPr lang="en-US" sz="1200" dirty="0"/>
          </a:p>
        </p:txBody>
      </p:sp>
      <p:sp>
        <p:nvSpPr>
          <p:cNvPr id="11" name="Arrow"/>
          <p:cNvSpPr/>
          <p:nvPr/>
        </p:nvSpPr>
        <p:spPr>
          <a:xfrm>
            <a:off x="1737360" y="1389888"/>
            <a:ext cx="256032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Step 2"/>
          <p:cNvSpPr/>
          <p:nvPr/>
        </p:nvSpPr>
        <p:spPr>
          <a:xfrm>
            <a:off x="2029968" y="1097280"/>
            <a:ext cx="141732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기대 구속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예측</a:t>
            </a:r>
            <a:endParaRPr lang="en-US" sz="1200" dirty="0"/>
          </a:p>
        </p:txBody>
      </p:sp>
      <p:sp>
        <p:nvSpPr>
          <p:cNvPr id="13" name="Arrow"/>
          <p:cNvSpPr/>
          <p:nvPr/>
        </p:nvSpPr>
        <p:spPr>
          <a:xfrm>
            <a:off x="3493008" y="1389888"/>
            <a:ext cx="256032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tep 3"/>
          <p:cNvSpPr/>
          <p:nvPr/>
        </p:nvSpPr>
        <p:spPr>
          <a:xfrm>
            <a:off x="3785616" y="1097280"/>
            <a:ext cx="141732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잔차 계산</a:t>
            </a:r>
            <a:endParaRPr lang="en-US" sz="1200" dirty="0"/>
          </a:p>
        </p:txBody>
      </p:sp>
      <p:sp>
        <p:nvSpPr>
          <p:cNvPr id="15" name="Arrow"/>
          <p:cNvSpPr/>
          <p:nvPr/>
        </p:nvSpPr>
        <p:spPr>
          <a:xfrm>
            <a:off x="5248656" y="1389888"/>
            <a:ext cx="256032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Step 4"/>
          <p:cNvSpPr/>
          <p:nvPr/>
        </p:nvSpPr>
        <p:spPr>
          <a:xfrm>
            <a:off x="5541264" y="1097280"/>
            <a:ext cx="141732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표준화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이상 점수</a:t>
            </a:r>
            <a:endParaRPr lang="en-US" sz="1200" dirty="0"/>
          </a:p>
        </p:txBody>
      </p:sp>
      <p:sp>
        <p:nvSpPr>
          <p:cNvPr id="17" name="Arrow"/>
          <p:cNvSpPr/>
          <p:nvPr/>
        </p:nvSpPr>
        <p:spPr>
          <a:xfrm>
            <a:off x="7004304" y="1389888"/>
            <a:ext cx="256032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tep 5"/>
          <p:cNvSpPr/>
          <p:nvPr/>
        </p:nvSpPr>
        <p:spPr>
          <a:xfrm>
            <a:off x="7296912" y="1097280"/>
            <a:ext cx="1417320" cy="868680"/>
          </a:xfrm>
          <a:prstGeom prst="roundRect">
            <a:avLst>
              <a:gd name="adj" fmla="val 10526"/>
            </a:avLst>
          </a:prstGeom>
          <a:solidFill>
            <a:schemeClr val="accent3"/>
          </a:solidFill>
          <a:ln w="19050">
            <a:solidFill>
              <a:schemeClr val="accent2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경보</a:t>
            </a:r>
            <a:endParaRPr lang="en-US" sz="1200" dirty="0"/>
          </a:p>
        </p:txBody>
      </p:sp>
      <p:sp>
        <p:nvSpPr>
          <p:cNvPr id="19" name="Approach line"/>
          <p:cNvSpPr txBox="1"/>
          <p:nvPr/>
        </p:nvSpPr>
        <p:spPr>
          <a:xfrm>
            <a:off x="274320" y="21031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단순히 "구속이 떨어지면 경보"가 아니라, 다음 등판 구속을 먼저 예측하고 실제와의 차이를 본다</a:t>
            </a:r>
            <a:endParaRPr lang="en-US" sz="1350" dirty="0"/>
          </a:p>
        </p:txBody>
      </p:sp>
      <p:sp>
        <p:nvSpPr>
          <p:cNvPr id="20" name="외생 변수 X"/>
          <p:cNvSpPr/>
          <p:nvPr/>
        </p:nvSpPr>
        <p:spPr>
          <a:xfrm>
            <a:off x="274320" y="2697480"/>
            <a:ext cx="274320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외생 변수 X</a:t>
            </a:r>
            <a:endParaRPr lang="en-US" sz="1200" dirty="0"/>
          </a:p>
          <a:p>
            <a:pPr algn="l" indent="0" marL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등판 간격 · 최근 7·14·28일 누적 투구 수 · ACWR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→ 휴식·부하로 설명되는 변화를 부상 신호로 착각하지 않는다</a:t>
            </a:r>
            <a:endParaRPr lang="en-US" sz="1200" dirty="0"/>
          </a:p>
        </p:txBody>
      </p:sp>
      <p:sp>
        <p:nvSpPr>
          <p:cNvPr id="21" name="경보 성공 정의"/>
          <p:cNvSpPr/>
          <p:nvPr/>
        </p:nvSpPr>
        <p:spPr>
          <a:xfrm>
            <a:off x="3172968" y="2697480"/>
            <a:ext cx="274320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경보 성공 정의</a:t>
            </a:r>
            <a:endParaRPr lang="en-US" sz="1200" dirty="0"/>
          </a:p>
          <a:p>
            <a:pPr algn="l" indent="0" marL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IL 등재일 이전 직전 3회 등판 (약 21일) 안에 경보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→ 2·5회 등판으로도 평가해 검증 구간에서 확정</a:t>
            </a:r>
            <a:endParaRPr lang="en-US" sz="1200" dirty="0"/>
          </a:p>
        </p:txBody>
      </p:sp>
      <p:sp>
        <p:nvSpPr>
          <p:cNvPr id="22" name="라벨 사용"/>
          <p:cNvSpPr/>
          <p:nvPr/>
        </p:nvSpPr>
        <p:spPr>
          <a:xfrm>
            <a:off x="6071616" y="2697480"/>
            <a:ext cx="274320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라벨 사용</a:t>
            </a:r>
            <a:endParaRPr lang="en-US" sz="1200" dirty="0"/>
          </a:p>
          <a:p>
            <a:pPr algn="l" indent="0" marL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IL 기록은 평가(정답)에만 사용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학습은 투수 자신의 과거 등판만으로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방법론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연구 질문 (RQ)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1830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연구 배경</a:t>
            </a:r>
            <a:endParaRPr lang="en-US" sz="900" dirty="0"/>
          </a:p>
        </p:txBody>
      </p:sp>
      <p:sp>
        <p:nvSpPr>
          <p:cNvPr id="5" name="Section tracker 2"/>
          <p:cNvSpPr/>
          <p:nvPr/>
        </p:nvSpPr>
        <p:spPr>
          <a:xfrm>
            <a:off x="5431536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선행 연구</a:t>
            </a:r>
            <a:endParaRPr lang="en-US" sz="900" dirty="0"/>
          </a:p>
        </p:txBody>
      </p:sp>
      <p:sp>
        <p:nvSpPr>
          <p:cNvPr id="6" name="Section tracker 3"/>
          <p:cNvSpPr/>
          <p:nvPr/>
        </p:nvSpPr>
        <p:spPr>
          <a:xfrm>
            <a:off x="6144768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데이터</a:t>
            </a:r>
            <a:endParaRPr lang="en-US" sz="900" dirty="0"/>
          </a:p>
        </p:txBody>
      </p:sp>
      <p:sp>
        <p:nvSpPr>
          <p:cNvPr id="7" name="Section tracker 4"/>
          <p:cNvSpPr/>
          <p:nvPr/>
        </p:nvSpPr>
        <p:spPr>
          <a:xfrm>
            <a:off x="6858000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EDA</a:t>
            </a:r>
            <a:endParaRPr lang="en-US" sz="900" dirty="0"/>
          </a:p>
        </p:txBody>
      </p:sp>
      <p:sp>
        <p:nvSpPr>
          <p:cNvPr id="8" name="Section tracker 5"/>
          <p:cNvSpPr/>
          <p:nvPr/>
        </p:nvSpPr>
        <p:spPr>
          <a:xfrm>
            <a:off x="7571232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tx2"/>
          </a:solidFill>
          <a:ln w="63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방법론</a:t>
            </a:r>
            <a:endParaRPr lang="en-US" sz="900" dirty="0"/>
          </a:p>
        </p:txBody>
      </p:sp>
      <p:sp>
        <p:nvSpPr>
          <p:cNvPr id="9" name="Section tracker 6"/>
          <p:cNvSpPr/>
          <p:nvPr/>
        </p:nvSpPr>
        <p:spPr>
          <a:xfrm>
            <a:off x="828446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기대 효과</a:t>
            </a:r>
            <a:endParaRPr lang="en-US" sz="900" dirty="0"/>
          </a:p>
        </p:txBody>
      </p:sp>
      <p:sp>
        <p:nvSpPr>
          <p:cNvPr id="10" name="RQ1 badge"/>
          <p:cNvSpPr/>
          <p:nvPr/>
        </p:nvSpPr>
        <p:spPr>
          <a:xfrm>
            <a:off x="274320" y="1024128"/>
            <a:ext cx="960120" cy="804672"/>
          </a:xfrm>
          <a:prstGeom prst="roundRect">
            <a:avLst>
              <a:gd name="adj" fmla="val 11364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RQ1</a:t>
            </a:r>
            <a:endParaRPr lang="en-US" sz="18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E699"/>
                </a:solidFill>
              </a:rPr>
              <a:t>주 질문</a:t>
            </a:r>
            <a:endParaRPr lang="en-US" sz="1800" dirty="0"/>
          </a:p>
        </p:txBody>
      </p:sp>
      <p:sp>
        <p:nvSpPr>
          <p:cNvPr id="11" name="RQ1 question"/>
          <p:cNvSpPr/>
          <p:nvPr/>
        </p:nvSpPr>
        <p:spPr>
          <a:xfrm>
            <a:off x="1325880" y="1024128"/>
            <a:ext cx="5486400" cy="804672"/>
          </a:xfrm>
          <a:prstGeom prst="roundRect">
            <a:avLst>
              <a:gd name="adj" fmla="val 11364"/>
            </a:avLst>
          </a:prstGeom>
          <a:solidFill>
            <a:schemeClr val="accent3"/>
          </a:solidFill>
          <a:ln w="19050">
            <a:solidFill>
              <a:schemeClr val="accent2"/>
            </a:solidFill>
            <a:prstDash val="solid"/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투수 자신의 과거로 예측한 구속과 실제 구속의 차이(잔차)로 팔 부상 IL 등재를 얼마나 일찍, 얼마나 정확하게 감지할 수 있는가?</a:t>
            </a:r>
            <a:endParaRPr lang="en-US" sz="1200" dirty="0"/>
          </a:p>
        </p:txBody>
      </p:sp>
      <p:sp>
        <p:nvSpPr>
          <p:cNvPr id="12" name="RQ1 method"/>
          <p:cNvSpPr/>
          <p:nvPr/>
        </p:nvSpPr>
        <p:spPr>
          <a:xfrm>
            <a:off x="6903720" y="1024128"/>
            <a:ext cx="1965960" cy="804672"/>
          </a:xfrm>
          <a:prstGeom prst="roundRect">
            <a:avLst>
              <a:gd name="adj" fmla="val 1136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확인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선행 일수 · F1 · 오경보</a:t>
            </a:r>
            <a:endParaRPr lang="en-US" sz="1200" dirty="0"/>
          </a:p>
        </p:txBody>
      </p:sp>
      <p:sp>
        <p:nvSpPr>
          <p:cNvPr id="13" name="RQ2 badge"/>
          <p:cNvSpPr/>
          <p:nvPr/>
        </p:nvSpPr>
        <p:spPr>
          <a:xfrm>
            <a:off x="274320" y="1965960"/>
            <a:ext cx="960120" cy="804672"/>
          </a:xfrm>
          <a:prstGeom prst="roundRect">
            <a:avLst>
              <a:gd name="adj" fmla="val 11364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RQ2</a:t>
            </a:r>
            <a:endParaRPr lang="en-US" sz="1800" dirty="0"/>
          </a:p>
        </p:txBody>
      </p:sp>
      <p:sp>
        <p:nvSpPr>
          <p:cNvPr id="14" name="RQ2 question"/>
          <p:cNvSpPr/>
          <p:nvPr/>
        </p:nvSpPr>
        <p:spPr>
          <a:xfrm>
            <a:off x="1325880" y="1965960"/>
            <a:ext cx="5486400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부상 직전 몇 차례 등판에서 구속, 구속 변동성, 릴리스 포인트는 투수 자신의 평소 수준과 다르게 움직이는가?</a:t>
            </a:r>
            <a:endParaRPr lang="en-US" sz="1200" dirty="0"/>
          </a:p>
        </p:txBody>
      </p:sp>
      <p:sp>
        <p:nvSpPr>
          <p:cNvPr id="15" name="RQ2 method"/>
          <p:cNvSpPr/>
          <p:nvPr/>
        </p:nvSpPr>
        <p:spPr>
          <a:xfrm>
            <a:off x="6903720" y="1965960"/>
            <a:ext cx="1965960" cy="804672"/>
          </a:xfrm>
          <a:prstGeom prst="roundRect">
            <a:avLst>
              <a:gd name="adj" fmla="val 1136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확인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직전 등판 vs 개인 기준선</a:t>
            </a:r>
            <a:endParaRPr lang="en-US" sz="1200" dirty="0"/>
          </a:p>
        </p:txBody>
      </p:sp>
      <p:sp>
        <p:nvSpPr>
          <p:cNvPr id="16" name="RQ3 badge"/>
          <p:cNvSpPr/>
          <p:nvPr/>
        </p:nvSpPr>
        <p:spPr>
          <a:xfrm>
            <a:off x="274320" y="2907792"/>
            <a:ext cx="960120" cy="804672"/>
          </a:xfrm>
          <a:prstGeom prst="roundRect">
            <a:avLst>
              <a:gd name="adj" fmla="val 11364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RQ3</a:t>
            </a:r>
            <a:endParaRPr lang="en-US" sz="1800" dirty="0"/>
          </a:p>
        </p:txBody>
      </p:sp>
      <p:sp>
        <p:nvSpPr>
          <p:cNvPr id="17" name="RQ3 question"/>
          <p:cNvSpPr/>
          <p:nvPr/>
        </p:nvSpPr>
        <p:spPr>
          <a:xfrm>
            <a:off x="1325880" y="2907792"/>
            <a:ext cx="5486400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등판 간격, 최근 7·14·28일 누적 투구 수 같은 부하 지표를 더하면 경보 성능이 좋아지는가?</a:t>
            </a:r>
            <a:endParaRPr lang="en-US" sz="1200" dirty="0"/>
          </a:p>
        </p:txBody>
      </p:sp>
      <p:sp>
        <p:nvSpPr>
          <p:cNvPr id="18" name="RQ3 method"/>
          <p:cNvSpPr/>
          <p:nvPr/>
        </p:nvSpPr>
        <p:spPr>
          <a:xfrm>
            <a:off x="6903720" y="2907792"/>
            <a:ext cx="1965960" cy="804672"/>
          </a:xfrm>
          <a:prstGeom prst="roundRect">
            <a:avLst>
              <a:gd name="adj" fmla="val 1136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확인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부하 변수 유무 비교</a:t>
            </a:r>
            <a:endParaRPr lang="en-US" sz="1200" dirty="0"/>
          </a:p>
        </p:txBody>
      </p:sp>
      <p:sp>
        <p:nvSpPr>
          <p:cNvPr id="19" name="RQ4 badge"/>
          <p:cNvSpPr/>
          <p:nvPr/>
        </p:nvSpPr>
        <p:spPr>
          <a:xfrm>
            <a:off x="274320" y="3849624"/>
            <a:ext cx="960120" cy="804672"/>
          </a:xfrm>
          <a:prstGeom prst="roundRect">
            <a:avLst>
              <a:gd name="adj" fmla="val 11364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RQ4</a:t>
            </a:r>
            <a:endParaRPr lang="en-US" sz="1800" dirty="0"/>
          </a:p>
        </p:txBody>
      </p:sp>
      <p:sp>
        <p:nvSpPr>
          <p:cNvPr id="20" name="RQ4 question"/>
          <p:cNvSpPr/>
          <p:nvPr/>
        </p:nvSpPr>
        <p:spPr>
          <a:xfrm>
            <a:off x="1325880" y="3849624"/>
            <a:ext cx="5486400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강속구 투수와 그렇지 않은 투수 사이에 경보 신호의 강도가 다른가?</a:t>
            </a:r>
            <a:endParaRPr lang="en-US" sz="1200" dirty="0"/>
          </a:p>
        </p:txBody>
      </p:sp>
      <p:sp>
        <p:nvSpPr>
          <p:cNvPr id="21" name="RQ4 method"/>
          <p:cNvSpPr/>
          <p:nvPr/>
        </p:nvSpPr>
        <p:spPr>
          <a:xfrm>
            <a:off x="6903720" y="3849624"/>
            <a:ext cx="1965960" cy="804672"/>
          </a:xfrm>
          <a:prstGeom prst="roundRect">
            <a:avLst>
              <a:gd name="adj" fmla="val 1136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확인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하위 집단별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방법론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모델 선택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1830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연구 배경</a:t>
            </a:r>
            <a:endParaRPr lang="en-US" sz="900" dirty="0"/>
          </a:p>
        </p:txBody>
      </p:sp>
      <p:sp>
        <p:nvSpPr>
          <p:cNvPr id="5" name="Section tracker 2"/>
          <p:cNvSpPr/>
          <p:nvPr/>
        </p:nvSpPr>
        <p:spPr>
          <a:xfrm>
            <a:off x="5431536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선행 연구</a:t>
            </a:r>
            <a:endParaRPr lang="en-US" sz="900" dirty="0"/>
          </a:p>
        </p:txBody>
      </p:sp>
      <p:sp>
        <p:nvSpPr>
          <p:cNvPr id="6" name="Section tracker 3"/>
          <p:cNvSpPr/>
          <p:nvPr/>
        </p:nvSpPr>
        <p:spPr>
          <a:xfrm>
            <a:off x="6144768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데이터</a:t>
            </a:r>
            <a:endParaRPr lang="en-US" sz="900" dirty="0"/>
          </a:p>
        </p:txBody>
      </p:sp>
      <p:sp>
        <p:nvSpPr>
          <p:cNvPr id="7" name="Section tracker 4"/>
          <p:cNvSpPr/>
          <p:nvPr/>
        </p:nvSpPr>
        <p:spPr>
          <a:xfrm>
            <a:off x="6858000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EDA</a:t>
            </a:r>
            <a:endParaRPr lang="en-US" sz="900" dirty="0"/>
          </a:p>
        </p:txBody>
      </p:sp>
      <p:sp>
        <p:nvSpPr>
          <p:cNvPr id="8" name="Section tracker 5"/>
          <p:cNvSpPr/>
          <p:nvPr/>
        </p:nvSpPr>
        <p:spPr>
          <a:xfrm>
            <a:off x="7571232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tx2"/>
          </a:solidFill>
          <a:ln w="63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방법론</a:t>
            </a:r>
            <a:endParaRPr lang="en-US" sz="900" dirty="0"/>
          </a:p>
        </p:txBody>
      </p:sp>
      <p:sp>
        <p:nvSpPr>
          <p:cNvPr id="9" name="Section tracker 6"/>
          <p:cNvSpPr/>
          <p:nvPr/>
        </p:nvSpPr>
        <p:spPr>
          <a:xfrm>
            <a:off x="828446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기대 효과</a:t>
            </a:r>
            <a:endParaRPr lang="en-US" sz="900" dirty="0"/>
          </a:p>
        </p:txBody>
      </p:sp>
      <p:graphicFrame>
        <p:nvGraphicFramePr>
          <p:cNvPr id="20" name="Model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24128"/>
          <a:ext cx="6858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5303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구분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모델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설명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비교 기준선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8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1. 무작위 점수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우연 수준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2. 단순 규칙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투수별 평소 수준보다 구속이 X mph 이상 떨어지면 경보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3. 부하 규칙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ACWR이 ±33%를 벗어나면 경보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시계열 모델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4. EWMA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표준화 구속의 점진적 하락을 누적해 탐지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5. ARIMAX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휴식일·누적 투구 수를 반영한 기대 구속 대비 잔차로 이상 탐지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비시계열 비교군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6. LSTM 오토인코더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시계열 구조를 명시적으로 쓰지 않는 방법. Ozaki(2026)의 선택을 같은 데이터·기준으로 검증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확장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7. MEWMA (다변량)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구속·변동성·릴리스를 동시에 감시해 단변량보다 나은지 확인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방법론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평가 설계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1830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연구 배경</a:t>
            </a:r>
            <a:endParaRPr lang="en-US" sz="900" dirty="0"/>
          </a:p>
        </p:txBody>
      </p:sp>
      <p:sp>
        <p:nvSpPr>
          <p:cNvPr id="5" name="Section tracker 2"/>
          <p:cNvSpPr/>
          <p:nvPr/>
        </p:nvSpPr>
        <p:spPr>
          <a:xfrm>
            <a:off x="5431536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선행 연구</a:t>
            </a:r>
            <a:endParaRPr lang="en-US" sz="900" dirty="0"/>
          </a:p>
        </p:txBody>
      </p:sp>
      <p:sp>
        <p:nvSpPr>
          <p:cNvPr id="6" name="Section tracker 3"/>
          <p:cNvSpPr/>
          <p:nvPr/>
        </p:nvSpPr>
        <p:spPr>
          <a:xfrm>
            <a:off x="6144768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데이터</a:t>
            </a:r>
            <a:endParaRPr lang="en-US" sz="900" dirty="0"/>
          </a:p>
        </p:txBody>
      </p:sp>
      <p:sp>
        <p:nvSpPr>
          <p:cNvPr id="7" name="Section tracker 4"/>
          <p:cNvSpPr/>
          <p:nvPr/>
        </p:nvSpPr>
        <p:spPr>
          <a:xfrm>
            <a:off x="6858000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EDA</a:t>
            </a:r>
            <a:endParaRPr lang="en-US" sz="900" dirty="0"/>
          </a:p>
        </p:txBody>
      </p:sp>
      <p:sp>
        <p:nvSpPr>
          <p:cNvPr id="8" name="Section tracker 5"/>
          <p:cNvSpPr/>
          <p:nvPr/>
        </p:nvSpPr>
        <p:spPr>
          <a:xfrm>
            <a:off x="7571232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tx2"/>
          </a:solidFill>
          <a:ln w="63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방법론</a:t>
            </a:r>
            <a:endParaRPr lang="en-US" sz="900" dirty="0"/>
          </a:p>
        </p:txBody>
      </p:sp>
      <p:sp>
        <p:nvSpPr>
          <p:cNvPr id="9" name="Section tracker 6"/>
          <p:cNvSpPr/>
          <p:nvPr/>
        </p:nvSpPr>
        <p:spPr>
          <a:xfrm>
            <a:off x="828446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기대 효과</a:t>
            </a:r>
            <a:endParaRPr lang="en-US" sz="900" dirty="0"/>
          </a:p>
        </p:txBody>
      </p:sp>
      <p:sp>
        <p:nvSpPr>
          <p:cNvPr id="10" name="Split label"/>
          <p:cNvSpPr txBox="1"/>
          <p:nvPr/>
        </p:nvSpPr>
        <p:spPr>
          <a:xfrm>
            <a:off x="274320" y="9875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시간 순서 분할 (섞지 않음)</a:t>
            </a:r>
            <a:endParaRPr lang="en-US" sz="1300" dirty="0"/>
          </a:p>
        </p:txBody>
      </p:sp>
      <p:sp>
        <p:nvSpPr>
          <p:cNvPr id="11" name="Split 학습  2021–2024"/>
          <p:cNvSpPr/>
          <p:nvPr/>
        </p:nvSpPr>
        <p:spPr>
          <a:xfrm>
            <a:off x="274320" y="1298448"/>
            <a:ext cx="5693664" cy="566928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학습  2021–2024</a:t>
            </a:r>
            <a:endParaRPr lang="en-US" sz="1250" dirty="0"/>
          </a:p>
        </p:txBody>
      </p:sp>
      <p:sp>
        <p:nvSpPr>
          <p:cNvPr id="12" name="Split 검증  2025 임계값 결정"/>
          <p:cNvSpPr/>
          <p:nvPr/>
        </p:nvSpPr>
        <p:spPr>
          <a:xfrm>
            <a:off x="6004560" y="1298448"/>
            <a:ext cx="1395984" cy="56692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검증  2025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임계값 결정</a:t>
            </a:r>
            <a:endParaRPr lang="en-US" sz="1250" dirty="0"/>
          </a:p>
        </p:txBody>
      </p:sp>
      <p:sp>
        <p:nvSpPr>
          <p:cNvPr id="13" name="Split 테스트  2026"/>
          <p:cNvSpPr/>
          <p:nvPr/>
        </p:nvSpPr>
        <p:spPr>
          <a:xfrm>
            <a:off x="7437120" y="1298448"/>
            <a:ext cx="1395984" cy="566928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테스트  2026</a:t>
            </a:r>
            <a:endParaRPr lang="en-US" sz="1250" dirty="0"/>
          </a:p>
        </p:txBody>
      </p:sp>
      <p:graphicFrame>
        <p:nvGraphicFramePr>
          <p:cNvPr id="21" name="Metric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0312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40080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질문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지표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얼마나 정확한가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오경보를 투수-시즌당 1회 이하로 제한했을 때의 사건 재현율·정밀도 (주 지표: F1)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얼마나 자주 헛울리는가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투수-시즌당 오경보 횟수, 대조군 경보율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얼마나 일찍인가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첫 경보부터 IL 등재까지 선행 일수의 중앙값과 분포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전체 성능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등판 단위 AUPRC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참고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구속 예측 오차 MAE, RMSE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82880" y="457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기대 효과</a:t>
            </a:r>
            <a:endParaRPr lang="en-US" sz="2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본 연구가 더하는 것</a:t>
            </a:r>
            <a:endParaRPr lang="en-US" sz="1600" dirty="0"/>
          </a:p>
        </p:txBody>
      </p:sp>
      <p:sp>
        <p:nvSpPr>
          <p:cNvPr id="4" name="Section tracker 1"/>
          <p:cNvSpPr/>
          <p:nvPr/>
        </p:nvSpPr>
        <p:spPr>
          <a:xfrm>
            <a:off x="471830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연구 배경</a:t>
            </a:r>
            <a:endParaRPr lang="en-US" sz="900" dirty="0"/>
          </a:p>
        </p:txBody>
      </p:sp>
      <p:sp>
        <p:nvSpPr>
          <p:cNvPr id="5" name="Section tracker 2"/>
          <p:cNvSpPr/>
          <p:nvPr/>
        </p:nvSpPr>
        <p:spPr>
          <a:xfrm>
            <a:off x="5431536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선행 연구</a:t>
            </a:r>
            <a:endParaRPr lang="en-US" sz="900" dirty="0"/>
          </a:p>
        </p:txBody>
      </p:sp>
      <p:sp>
        <p:nvSpPr>
          <p:cNvPr id="6" name="Section tracker 3"/>
          <p:cNvSpPr/>
          <p:nvPr/>
        </p:nvSpPr>
        <p:spPr>
          <a:xfrm>
            <a:off x="6144768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데이터</a:t>
            </a:r>
            <a:endParaRPr lang="en-US" sz="900" dirty="0"/>
          </a:p>
        </p:txBody>
      </p:sp>
      <p:sp>
        <p:nvSpPr>
          <p:cNvPr id="7" name="Section tracker 4"/>
          <p:cNvSpPr/>
          <p:nvPr/>
        </p:nvSpPr>
        <p:spPr>
          <a:xfrm>
            <a:off x="6858000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EDA</a:t>
            </a:r>
            <a:endParaRPr lang="en-US" sz="900" dirty="0"/>
          </a:p>
        </p:txBody>
      </p:sp>
      <p:sp>
        <p:nvSpPr>
          <p:cNvPr id="8" name="Section tracker 5"/>
          <p:cNvSpPr/>
          <p:nvPr/>
        </p:nvSpPr>
        <p:spPr>
          <a:xfrm>
            <a:off x="7571232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방법론</a:t>
            </a:r>
            <a:endParaRPr lang="en-US" sz="900" dirty="0"/>
          </a:p>
        </p:txBody>
      </p:sp>
      <p:sp>
        <p:nvSpPr>
          <p:cNvPr id="9" name="Section tracker 6"/>
          <p:cNvSpPr/>
          <p:nvPr/>
        </p:nvSpPr>
        <p:spPr>
          <a:xfrm>
            <a:off x="8284464" y="137160"/>
            <a:ext cx="676656" cy="246888"/>
          </a:xfrm>
          <a:prstGeom prst="roundRect">
            <a:avLst>
              <a:gd name="adj" fmla="val 48148"/>
            </a:avLst>
          </a:prstGeom>
          <a:solidFill>
            <a:schemeClr val="tx2"/>
          </a:solidFill>
          <a:ln w="63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기대 효과</a:t>
            </a:r>
            <a:endParaRPr lang="en-US" sz="900" dirty="0"/>
          </a:p>
        </p:txBody>
      </p:sp>
      <p:sp>
        <p:nvSpPr>
          <p:cNvPr id="10" name="개인별 모델링"/>
          <p:cNvSpPr/>
          <p:nvPr/>
        </p:nvSpPr>
        <p:spPr>
          <a:xfrm>
            <a:off x="411480" y="1097280"/>
            <a:ext cx="4069080" cy="160020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개인별 모델링</a:t>
            </a:r>
            <a:endParaRPr lang="en-US" sz="1200" dirty="0"/>
          </a:p>
          <a:p>
            <a:pPr algn="ctr"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투수마다 다른 구속 수준을 반영한 이상 탐지</a:t>
            </a:r>
            <a:endParaRPr lang="en-US" sz="1200" dirty="0"/>
          </a:p>
        </p:txBody>
      </p:sp>
      <p:sp>
        <p:nvSpPr>
          <p:cNvPr id="11" name="시간 패턴 분석"/>
          <p:cNvSpPr/>
          <p:nvPr/>
        </p:nvSpPr>
        <p:spPr>
          <a:xfrm>
            <a:off x="4663440" y="1097280"/>
            <a:ext cx="4069080" cy="160020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시간 패턴 분석</a:t>
            </a:r>
            <a:endParaRPr lang="en-US" sz="1200" dirty="0"/>
          </a:p>
          <a:p>
            <a:pPr algn="ctr"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시간에 따른 구속 변화와 이상이 이어지는 패턴 분석</a:t>
            </a:r>
            <a:endParaRPr lang="en-US" sz="1200" dirty="0"/>
          </a:p>
        </p:txBody>
      </p:sp>
      <p:sp>
        <p:nvSpPr>
          <p:cNvPr id="12" name="부하 정보 통합"/>
          <p:cNvSpPr/>
          <p:nvPr/>
        </p:nvSpPr>
        <p:spPr>
          <a:xfrm>
            <a:off x="411480" y="2926080"/>
            <a:ext cx="4069080" cy="160020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부하 정보 통합</a:t>
            </a:r>
            <a:endParaRPr lang="en-US" sz="1200" dirty="0"/>
          </a:p>
          <a:p>
            <a:pPr algn="ctr"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등판 간격, 누적 투구 수, ACWR로 투구 부하 반영</a:t>
            </a:r>
            <a:endParaRPr lang="en-US" sz="1200" dirty="0"/>
          </a:p>
        </p:txBody>
      </p:sp>
      <p:sp>
        <p:nvSpPr>
          <p:cNvPr id="13" name="조기 탐지"/>
          <p:cNvSpPr/>
          <p:nvPr/>
        </p:nvSpPr>
        <p:spPr>
          <a:xfrm>
            <a:off x="4663440" y="2926080"/>
            <a:ext cx="4069080" cy="1600200"/>
          </a:xfrm>
          <a:prstGeom prst="roundRect">
            <a:avLst>
              <a:gd name="adj" fmla="val 8571"/>
            </a:avLst>
          </a:prstGeom>
          <a:solidFill>
            <a:schemeClr val="accent3"/>
          </a:solidFill>
          <a:ln w="19050">
            <a:solidFill>
              <a:schemeClr val="accent2"/>
            </a:solidFill>
            <a:prstDash val="solid"/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조기 탐지</a:t>
            </a:r>
            <a:endParaRPr lang="en-US" sz="1200" dirty="0"/>
          </a:p>
          <a:p>
            <a:pPr algn="ctr"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부상 이전 이상 징후를 얼마나 일찍 감지할 수 있는지 검증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28032"/>
            <a:ext cx="6858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tcher Injury Proposal">
  <a:themeElements>
    <a:clrScheme name="Pitcher Injury Proposal">
      <a:dk1>
        <a:srgbClr val="000000"/>
      </a:dk1>
      <a:lt1>
        <a:srgbClr val="FFFFFF"/>
      </a:lt1>
      <a:dk2>
        <a:srgbClr val="0F2D5C"/>
      </a:dk2>
      <a:lt2>
        <a:srgbClr val="DCE6F2"/>
      </a:lt2>
      <a:accent1>
        <a:srgbClr val="2E6DB4"/>
      </a:accent1>
      <a:accent2>
        <a:srgbClr val="C0504D"/>
      </a:accent2>
      <a:accent3>
        <a:srgbClr val="F6D5D5"/>
      </a:accent3>
      <a:accent4>
        <a:srgbClr val="555555"/>
      </a:accent4>
      <a:accent5>
        <a:srgbClr val="666666"/>
      </a:accent5>
      <a:accent6>
        <a:srgbClr val="F2F2F2"/>
      </a:accent6>
      <a:hlink>
        <a:srgbClr val="2E6DB4"/>
      </a:hlink>
      <a:folHlink>
        <a:srgbClr val="0F2D5C"/>
      </a:folHlink>
    </a:clrScheme>
    <a:fontScheme name="Pitcher Injury Proposal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투구 트래킹 시계열 기반 투수 부상 조기 경보</dc:title>
  <dc:subject>PptxGenJS Presentation</dc:subject>
  <dc:creator>PptxGenJS</dc:creator>
  <cp:lastModifiedBy>PptxGenJS</cp:lastModifiedBy>
  <cp:revision>1</cp:revision>
  <dcterms:created xsi:type="dcterms:W3CDTF">2026-10-23T08:38:41Z</dcterms:created>
  <dcterms:modified xsi:type="dcterms:W3CDTF">2026-10-23T08:38:41Z</dcterms:modified>
</cp:coreProperties>
</file>