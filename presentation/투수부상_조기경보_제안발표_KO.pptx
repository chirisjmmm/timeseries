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535f5b9f-f774-4694-0601-00f59124b33e}">
          <p14:sldIdLst>
            <p14:sldId id="256"/>
          </p14:sldIdLst>
        </p14:section>
        <p14:section name="목차" id="{88eafe11-34f0-bd42-5a88-1d988e62e434}">
          <p14:sldIdLst>
            <p14:sldId id="257"/>
          </p14:sldIdLst>
        </p14:section>
        <p14:section name="연구 배경" id="{387cacb1-8abd-469a-2a7b-0d848217206a}">
          <p14:sldIdLst>
            <p14:sldId id="258"/>
            <p14:sldId id="259"/>
          </p14:sldIdLst>
        </p14:section>
        <p14:section name="선행 연구" id="{5319f978-1703-e17a-0fae-4c23ff9acddf}">
          <p14:sldIdLst>
            <p14:sldId id="260"/>
            <p14:sldId id="261"/>
            <p14:sldId id="262"/>
            <p14:sldId id="263"/>
          </p14:sldIdLst>
        </p14:section>
        <p14:section name="데이터" id="{6484e86a-cb4a-8341-ae3d-6fa20893bb75}">
          <p14:sldIdLst>
            <p14:sldId id="264"/>
            <p14:sldId id="265"/>
          </p14:sldIdLst>
        </p14:section>
        <p14:section name="방법론" id="{59f440c1-fec1-6445-92e5-b327f23453ea}">
          <p14:sldIdLst>
            <p14:sldId id="266"/>
            <p14:sldId id="267"/>
            <p14:sldId id="268"/>
          </p14:sldIdLst>
        </p14:section>
        <p14:section name="EDA" id="{22711588-bd3b-f699-ff74-77f896ba270c}">
          <p14:sldIdLst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50" b="0" i="0" u="none" strike="noStrike">
                <a:solidFill>
                  <a:srgbClr val="000000"/>
                </a:solidFill>
                <a:latin typeface="+mn-lt"/>
              </a:rPr>
              <a:t>IL 등재 건수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 등재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212</c:v>
                </c:pt>
                <c:pt idx="1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3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50" b="0" i="0" u="none" strike="noStrike">
                <a:solidFill>
                  <a:srgbClr val="000000"/>
                </a:solidFill>
                <a:latin typeface="+mn-lt"/>
              </a:rPr>
              <a:t>IL 체류 일수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 체류 일수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13666</c:v>
                </c:pt>
                <c:pt idx="1">
                  <c:v>32257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93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50" b="0" i="0" u="none" strike="noStrike">
                <a:solidFill>
                  <a:srgbClr val="000000"/>
                </a:solidFill>
                <a:latin typeface="+mn-lt"/>
              </a:rPr>
              <a:t>팔꿈치 부상 IL 일수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팔꿈치 부상 IL 일수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3940</c:v>
                </c:pt>
                <c:pt idx="1">
                  <c:v>12185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4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image" Target="../media/image-1002-4.png"/><Relationship Id="rId5" Type="http://schemas.openxmlformats.org/officeDocument/2006/relationships/image" Target="../media/image-1002-5.png"/><Relationship Id="rId6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imeseries/2d02c38b-48df-5b9a-b0cc-ec9424e3cff2/scratchpad/build/cover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777240"/>
          </a:xfrm>
          <a:prstGeom prst="rect">
            <a:avLst/>
          </a:prstGeom>
        </p:spPr>
      </p:pic>
      <p:pic>
        <p:nvPicPr>
          <p:cNvPr id="3" name="Image 1" descr="/tmp/claude-0/-home-user-timeseries/2d02c38b-48df-5b9a-b0cc-ec9424e3cff2/scratchpad/build/cover_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7240"/>
            <a:ext cx="9144000" cy="457200"/>
          </a:xfrm>
          <a:prstGeom prst="rect">
            <a:avLst/>
          </a:prstGeom>
        </p:spPr>
      </p:pic>
      <p:pic>
        <p:nvPicPr>
          <p:cNvPr id="4" name="Image 2" descr="/tmp/claude-0/-home-user-timeseries/2d02c38b-48df-5b9a-b0cc-ec9424e3cff2/scratchpad/build/cover_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15184"/>
            <a:ext cx="9144000" cy="118872"/>
          </a:xfrm>
          <a:prstGeom prst="rect">
            <a:avLst/>
          </a:prstGeom>
        </p:spPr>
      </p:pic>
      <p:pic>
        <p:nvPicPr>
          <p:cNvPr id="5" name="Image 3" descr="/tmp/claude-0/-home-user-timeseries/2d02c38b-48df-5b9a-b0cc-ec9424e3cff2/scratchpad/build/cover_bar_fa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34056"/>
            <a:ext cx="9144000" cy="137160"/>
          </a:xfrm>
          <a:prstGeom prst="rect">
            <a:avLst/>
          </a:prstGeom>
        </p:spPr>
      </p:pic>
      <p:pic>
        <p:nvPicPr>
          <p:cNvPr id="6" name="Image 4" descr="/tmp/claude-0/-home-user-timeseries/2d02c38b-48df-5b9a-b0cc-ec9424e3cff2/scratchpad/build/fo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08753"/>
            <a:ext cx="9144000" cy="34747"/>
          </a:xfrm>
          <a:prstGeom prst="rect">
            <a:avLst/>
          </a:prstGeom>
        </p:spPr>
      </p:pic>
      <p:sp>
        <p:nvSpPr>
          <p:cNvPr id="7" name="Text 0"/>
          <p:cNvSpPr/>
          <p:nvPr>
            <p:ph idx="105" type="title" hasCustomPrompt="1"/>
          </p:nvPr>
        </p:nvSpPr>
        <p:spPr>
          <a:xfrm>
            <a:off x="457200" y="1417320"/>
            <a:ext cx="8229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914400" y="3063240"/>
            <a:ext cx="73152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imeseries/2d02c38b-48df-5b9a-b0cc-ec9424e3cff2/scratchpad/logos/foot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12064"/>
            <a:ext cx="6537960" cy="323698"/>
          </a:xfrm>
          <a:prstGeom prst="rect">
            <a:avLst/>
          </a:prstGeom>
        </p:spPr>
      </p:pic>
      <p:pic>
        <p:nvPicPr>
          <p:cNvPr id="3" name="Image 1" descr="/tmp/claude-0/-home-user-timeseries/2d02c38b-48df-5b9a-b0cc-ec9424e3cff2/scratchpad/build/ru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1248"/>
            <a:ext cx="8503920" cy="32004"/>
          </a:xfrm>
          <a:prstGeom prst="rect">
            <a:avLst/>
          </a:prstGeom>
        </p:spPr>
      </p:pic>
      <p:pic>
        <p:nvPicPr>
          <p:cNvPr id="4" name="Image 2" descr="/tmp/claude-0/-home-user-timeseries/2d02c38b-48df-5b9a-b0cc-ec9424e3cff2/scratchpad/build/fo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08753"/>
            <a:ext cx="9144000" cy="34747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5" type="title" hasCustomPrompt="1"/>
          </p:nvPr>
        </p:nvSpPr>
        <p:spPr>
          <a:xfrm>
            <a:off x="457200" y="14173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투구 트래킹 시계열 기반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투수 부상 조기 경보</a:t>
            </a:r>
            <a:endParaRPr lang="en-US" sz="3200" dirty="0"/>
          </a:p>
        </p:txBody>
      </p:sp>
      <p:sp>
        <p:nvSpPr>
          <p:cNvPr id="3" name="Text 0"/>
          <p:cNvSpPr/>
          <p:nvPr>
            <p:ph idx="106" type="body" hasCustomPrompt="1"/>
          </p:nvPr>
        </p:nvSpPr>
        <p:spPr>
          <a:xfrm>
            <a:off x="914400" y="306324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MLB Statcast 2021–2026 정규시즌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2026.10.27</a:t>
            </a:r>
            <a:endParaRPr lang="en-US" sz="15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데이터사이언스전공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김소연 · 정민서 · 강동한 · 최민석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목차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Contents</a:t>
            </a:r>
            <a:endParaRPr lang="en-US" sz="1600" dirty="0"/>
          </a:p>
        </p:txBody>
      </p:sp>
      <p:sp>
        <p:nvSpPr>
          <p:cNvPr id="4" name="Agenda number 1"/>
          <p:cNvSpPr txBox="1"/>
          <p:nvPr/>
        </p:nvSpPr>
        <p:spPr>
          <a:xfrm>
            <a:off x="822960" y="1143000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Agenda item 1"/>
          <p:cNvSpPr txBox="1"/>
          <p:nvPr/>
        </p:nvSpPr>
        <p:spPr>
          <a:xfrm>
            <a:off x="1417320" y="1143000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연구 배경</a:t>
            </a:r>
            <a:r>
              <a:rPr lang="en-US" sz="1250" dirty="0">
                <a:solidFill>
                  <a:schemeClr val="accent5"/>
                </a:solidFill>
              </a:rPr>
              <a:t>   문제 정의, 투수 부상 현황, 시계열로 보는 이유</a:t>
            </a:r>
            <a:endParaRPr lang="en-US" sz="1800" dirty="0"/>
          </a:p>
        </p:txBody>
      </p:sp>
      <p:sp>
        <p:nvSpPr>
          <p:cNvPr id="6" name="Agenda rule"/>
          <p:cNvSpPr/>
          <p:nvPr/>
        </p:nvSpPr>
        <p:spPr>
          <a:xfrm>
            <a:off x="822960" y="1719072"/>
            <a:ext cx="7543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Agenda page 1"/>
          <p:cNvSpPr txBox="1"/>
          <p:nvPr/>
        </p:nvSpPr>
        <p:spPr>
          <a:xfrm>
            <a:off x="7269480" y="114300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3–4</a:t>
            </a:r>
            <a:endParaRPr lang="en-US" sz="1400" dirty="0"/>
          </a:p>
        </p:txBody>
      </p:sp>
      <p:sp>
        <p:nvSpPr>
          <p:cNvPr id="8" name="Agenda number 2"/>
          <p:cNvSpPr txBox="1"/>
          <p:nvPr/>
        </p:nvSpPr>
        <p:spPr>
          <a:xfrm>
            <a:off x="822960" y="183794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02</a:t>
            </a:r>
            <a:endParaRPr lang="en-US" sz="2000" dirty="0"/>
          </a:p>
        </p:txBody>
      </p:sp>
      <p:sp>
        <p:nvSpPr>
          <p:cNvPr id="9" name="Agenda item 2"/>
          <p:cNvSpPr txBox="1"/>
          <p:nvPr/>
        </p:nvSpPr>
        <p:spPr>
          <a:xfrm>
            <a:off x="1417320" y="183794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선행 연구</a:t>
            </a:r>
            <a:r>
              <a:rPr lang="en-US" sz="1250" dirty="0">
                <a:solidFill>
                  <a:schemeClr val="accent5"/>
                </a:solidFill>
              </a:rPr>
              <a:t>   4개 주제의 관련 연구, 한계와 본 연구의 차별점</a:t>
            </a:r>
            <a:endParaRPr lang="en-US" sz="1800" dirty="0"/>
          </a:p>
        </p:txBody>
      </p:sp>
      <p:sp>
        <p:nvSpPr>
          <p:cNvPr id="10" name="Agenda rule"/>
          <p:cNvSpPr/>
          <p:nvPr/>
        </p:nvSpPr>
        <p:spPr>
          <a:xfrm>
            <a:off x="822960" y="2414016"/>
            <a:ext cx="7543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1" name="Agenda page 2"/>
          <p:cNvSpPr txBox="1"/>
          <p:nvPr/>
        </p:nvSpPr>
        <p:spPr>
          <a:xfrm>
            <a:off x="7269480" y="18379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5–8</a:t>
            </a:r>
            <a:endParaRPr lang="en-US" sz="1400" dirty="0"/>
          </a:p>
        </p:txBody>
      </p:sp>
      <p:sp>
        <p:nvSpPr>
          <p:cNvPr id="12" name="Agenda number 3"/>
          <p:cNvSpPr txBox="1"/>
          <p:nvPr/>
        </p:nvSpPr>
        <p:spPr>
          <a:xfrm>
            <a:off x="822960" y="253288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03</a:t>
            </a:r>
            <a:endParaRPr lang="en-US" sz="2000" dirty="0"/>
          </a:p>
        </p:txBody>
      </p:sp>
      <p:sp>
        <p:nvSpPr>
          <p:cNvPr id="13" name="Agenda item 3"/>
          <p:cNvSpPr txBox="1"/>
          <p:nvPr/>
        </p:nvSpPr>
        <p:spPr>
          <a:xfrm>
            <a:off x="1417320" y="2532888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데이터</a:t>
            </a:r>
            <a:r>
              <a:rPr lang="en-US" sz="1250" dirty="0">
                <a:solidFill>
                  <a:schemeClr val="accent5"/>
                </a:solidFill>
              </a:rPr>
              <a:t>   MLB Statcast 2021–2026, 분석 단위와 변수</a:t>
            </a:r>
            <a:endParaRPr lang="en-US" sz="1800" dirty="0"/>
          </a:p>
        </p:txBody>
      </p:sp>
      <p:sp>
        <p:nvSpPr>
          <p:cNvPr id="14" name="Agenda rule"/>
          <p:cNvSpPr/>
          <p:nvPr/>
        </p:nvSpPr>
        <p:spPr>
          <a:xfrm>
            <a:off x="822960" y="3108960"/>
            <a:ext cx="7543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Agenda page 3"/>
          <p:cNvSpPr txBox="1"/>
          <p:nvPr/>
        </p:nvSpPr>
        <p:spPr>
          <a:xfrm>
            <a:off x="7269480" y="253288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9–10</a:t>
            </a:r>
            <a:endParaRPr lang="en-US" sz="1400" dirty="0"/>
          </a:p>
        </p:txBody>
      </p:sp>
      <p:sp>
        <p:nvSpPr>
          <p:cNvPr id="16" name="Agenda number 4"/>
          <p:cNvSpPr txBox="1"/>
          <p:nvPr/>
        </p:nvSpPr>
        <p:spPr>
          <a:xfrm>
            <a:off x="822960" y="322783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04</a:t>
            </a:r>
            <a:endParaRPr lang="en-US" sz="2000" dirty="0"/>
          </a:p>
        </p:txBody>
      </p:sp>
      <p:sp>
        <p:nvSpPr>
          <p:cNvPr id="17" name="Agenda item 4"/>
          <p:cNvSpPr txBox="1"/>
          <p:nvPr/>
        </p:nvSpPr>
        <p:spPr>
          <a:xfrm>
            <a:off x="1417320" y="3227832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방법론</a:t>
            </a:r>
            <a:r>
              <a:rPr lang="en-US" sz="1250" dirty="0">
                <a:solidFill>
                  <a:schemeClr val="accent5"/>
                </a:solidFill>
              </a:rPr>
              <a:t>   연구 질문, 프레임워크, 분할·모델·평가</a:t>
            </a:r>
            <a:endParaRPr lang="en-US" sz="1800" dirty="0"/>
          </a:p>
        </p:txBody>
      </p:sp>
      <p:sp>
        <p:nvSpPr>
          <p:cNvPr id="18" name="Agenda rule"/>
          <p:cNvSpPr/>
          <p:nvPr/>
        </p:nvSpPr>
        <p:spPr>
          <a:xfrm>
            <a:off x="822960" y="3803904"/>
            <a:ext cx="7543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Agenda page 4"/>
          <p:cNvSpPr txBox="1"/>
          <p:nvPr/>
        </p:nvSpPr>
        <p:spPr>
          <a:xfrm>
            <a:off x="7269480" y="32278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11–13</a:t>
            </a:r>
            <a:endParaRPr lang="en-US" sz="1400" dirty="0"/>
          </a:p>
        </p:txBody>
      </p:sp>
      <p:sp>
        <p:nvSpPr>
          <p:cNvPr id="20" name="Agenda number 5"/>
          <p:cNvSpPr txBox="1"/>
          <p:nvPr/>
        </p:nvSpPr>
        <p:spPr>
          <a:xfrm>
            <a:off x="822960" y="3922776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05</a:t>
            </a:r>
            <a:endParaRPr lang="en-US" sz="2000" dirty="0"/>
          </a:p>
        </p:txBody>
      </p:sp>
      <p:sp>
        <p:nvSpPr>
          <p:cNvPr id="21" name="Agenda item 5"/>
          <p:cNvSpPr txBox="1"/>
          <p:nvPr/>
        </p:nvSpPr>
        <p:spPr>
          <a:xfrm>
            <a:off x="1417320" y="392277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EDA</a:t>
            </a:r>
            <a:r>
              <a:rPr lang="en-US" sz="1250" dirty="0">
                <a:solidFill>
                  <a:schemeClr val="accent5"/>
                </a:solidFill>
              </a:rPr>
              <a:t>   구속 추세, 부상 부위, IL 직전 구속·회전수 변화</a:t>
            </a:r>
            <a:endParaRPr lang="en-US" sz="1800" dirty="0"/>
          </a:p>
        </p:txBody>
      </p:sp>
      <p:sp>
        <p:nvSpPr>
          <p:cNvPr id="22" name="Agenda rule"/>
          <p:cNvSpPr/>
          <p:nvPr/>
        </p:nvSpPr>
        <p:spPr>
          <a:xfrm>
            <a:off x="822960" y="4498848"/>
            <a:ext cx="75438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Agenda page 5"/>
          <p:cNvSpPr txBox="1"/>
          <p:nvPr/>
        </p:nvSpPr>
        <p:spPr>
          <a:xfrm>
            <a:off x="7269480" y="392277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14–18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연구 배경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문제 정의: 무엇을, 왜 분석하는가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Problem statement"/>
          <p:cNvSpPr/>
          <p:nvPr/>
        </p:nvSpPr>
        <p:spPr>
          <a:xfrm>
            <a:off x="274320" y="978408"/>
            <a:ext cx="8595360" cy="50292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분석 목표  </a:t>
            </a:r>
            <a:r>
              <a:rPr lang="en-US" sz="1300" dirty="0">
                <a:solidFill>
                  <a:schemeClr val="tx1"/>
                </a:solidFill>
              </a:rPr>
              <a:t>투수별 등판 단위 구속·구속 변동성·릴리스 포인트 시계열에서 '평소와 다른 변화'를 감지해, 팔 부상으로 IL에 오르기 전에 경보를 낸다</a:t>
            </a:r>
            <a:endParaRPr lang="en-US" sz="1300" dirty="0"/>
          </a:p>
        </p:txBody>
      </p:sp>
      <p:graphicFrame>
        <p:nvGraphicFramePr>
          <p:cNvPr id="10" name="Chart IL 등재 건수" descr=""/>
          <p:cNvGraphicFramePr/>
          <p:nvPr/>
        </p:nvGraphicFramePr>
        <p:xfrm>
          <a:off x="274320" y="1554480"/>
          <a:ext cx="274320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Chart IL 체류 일수" descr=""/>
          <p:cNvGraphicFramePr/>
          <p:nvPr/>
        </p:nvGraphicFramePr>
        <p:xfrm>
          <a:off x="3172968" y="1554480"/>
          <a:ext cx="274320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팔꿈치 부상 IL 일수" descr=""/>
          <p:cNvGraphicFramePr/>
          <p:nvPr/>
        </p:nvGraphicFramePr>
        <p:xfrm>
          <a:off x="6071616" y="1554480"/>
          <a:ext cx="274320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Caption"/>
          <p:cNvSpPr txBox="1"/>
          <p:nvPr/>
        </p:nvSpPr>
        <p:spPr>
          <a:xfrm>
            <a:off x="274320" y="297180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MLB 투수 부상 추이, 2005년 vs 2024년 (AP 보도)</a:t>
            </a:r>
            <a:endParaRPr lang="en-US" sz="950" dirty="0"/>
          </a:p>
        </p:txBody>
      </p:sp>
      <p:sp>
        <p:nvSpPr>
          <p:cNvPr id="14" name="Bullets"/>
          <p:cNvSpPr txBox="1"/>
          <p:nvPr/>
        </p:nvSpPr>
        <p:spPr>
          <a:xfrm>
            <a:off x="228600" y="3246120"/>
            <a:ext cx="8686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IL 등재 </a:t>
            </a:r>
            <a:r>
              <a:rPr lang="en-US" sz="1300" b="1" dirty="0">
                <a:solidFill>
                  <a:schemeClr val="tx1"/>
                </a:solidFill>
              </a:rPr>
              <a:t>212건 → 485건</a:t>
            </a:r>
            <a:r>
              <a:rPr lang="en-US" sz="1300" dirty="0">
                <a:solidFill>
                  <a:schemeClr val="tx1"/>
                </a:solidFill>
              </a:rPr>
              <a:t>, IL 체류 일수 </a:t>
            </a:r>
            <a:r>
              <a:rPr lang="en-US" sz="1300" b="1" dirty="0">
                <a:solidFill>
                  <a:schemeClr val="tx1"/>
                </a:solidFill>
              </a:rPr>
              <a:t>13,666일 → 32,257일</a:t>
            </a:r>
            <a:r>
              <a:rPr lang="en-US" sz="1300" dirty="0">
                <a:solidFill>
                  <a:schemeClr val="tx1"/>
                </a:solidFill>
              </a:rPr>
              <a:t>. 팔꿈치 부상 IL 일수는 약 </a:t>
            </a:r>
            <a:r>
              <a:rPr lang="en-US" sz="1300" b="1" dirty="0">
                <a:solidFill>
                  <a:schemeClr val="tx1"/>
                </a:solidFill>
              </a:rPr>
              <a:t>3배</a:t>
            </a:r>
            <a:r>
              <a:rPr lang="en-US" sz="1300" dirty="0">
                <a:solidFill>
                  <a:schemeClr val="tx1"/>
                </a:solidFill>
              </a:rPr>
              <a:t> (3,940 → 12,185일)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2015–2025년 어깨·팔꿈치 부상: 투수 </a:t>
            </a:r>
            <a:r>
              <a:rPr lang="en-US" sz="1300" b="1" dirty="0">
                <a:solidFill>
                  <a:schemeClr val="tx1"/>
                </a:solidFill>
              </a:rPr>
              <a:t>1,122명</a:t>
            </a:r>
            <a:r>
              <a:rPr lang="en-US" sz="1300" dirty="0">
                <a:solidFill>
                  <a:schemeClr val="tx1"/>
                </a:solidFill>
              </a:rPr>
              <a:t>, IL 등재 </a:t>
            </a:r>
            <a:r>
              <a:rPr lang="en-US" sz="1300" b="1" dirty="0">
                <a:solidFill>
                  <a:schemeClr val="tx1"/>
                </a:solidFill>
              </a:rPr>
              <a:t>2,365건</a:t>
            </a:r>
            <a:r>
              <a:rPr lang="en-US" sz="1300" dirty="0">
                <a:solidFill>
                  <a:schemeClr val="tx1"/>
                </a:solidFill>
              </a:rPr>
              <a:t>, 급여 손실 약 </a:t>
            </a:r>
            <a:r>
              <a:rPr lang="en-US" sz="1300" b="1" dirty="0">
                <a:solidFill>
                  <a:schemeClr val="tx1"/>
                </a:solidFill>
              </a:rPr>
              <a:t>33억 3,000만 달러</a:t>
            </a:r>
            <a:r>
              <a:rPr lang="en-US" sz="1300" dirty="0">
                <a:solidFill>
                  <a:schemeClr val="tx1"/>
                </a:solidFill>
              </a:rPr>
              <a:t> (Dillon et al., OJSM)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부상이 확인되면 이미 손실이 생긴 뒤다. 핵심은 '누가 위험한가'보다 </a:t>
            </a:r>
            <a:r>
              <a:rPr lang="en-US" sz="1300" b="1" dirty="0">
                <a:solidFill>
                  <a:schemeClr val="tx1"/>
                </a:solidFill>
              </a:rPr>
              <a:t>'언제 쉬게 할 것인가'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징후를 미리 잡으면 등판 간격 조정, 투구 부하 관리, 휴식 부여를 검토할 수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연구 배경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왜 시계열 분석에 맞는가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자기상관"/>
          <p:cNvSpPr/>
          <p:nvPr/>
        </p:nvSpPr>
        <p:spPr>
          <a:xfrm>
            <a:off x="274320" y="1005840"/>
            <a:ext cx="4251960" cy="1353312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14300" tIns="114300" rIns="114300" bIns="1143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자기상관</a:t>
            </a:r>
            <a:endParaRPr lang="en-US" sz="1200" dirty="0"/>
          </a:p>
          <a:p>
            <a:pPr algn="l"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신호는 투수 자신의 과거 대비 편차로만 정의된다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등판 순서를 무작위로 섞으면 신호가 사라진다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과거로 다음 값을 예측하고 그 잔차를 감시할 수 있다</a:t>
            </a:r>
            <a:endParaRPr lang="en-US" sz="1200" dirty="0"/>
          </a:p>
        </p:txBody>
      </p:sp>
      <p:sp>
        <p:nvSpPr>
          <p:cNvPr id="10" name="추세"/>
          <p:cNvSpPr/>
          <p:nvPr/>
        </p:nvSpPr>
        <p:spPr>
          <a:xfrm>
            <a:off x="4617720" y="1005840"/>
            <a:ext cx="4251960" cy="1353312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14300" tIns="114300" rIns="114300" bIns="1143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추세</a:t>
            </a:r>
            <a:endParaRPr lang="en-US" sz="1200" dirty="0"/>
          </a:p>
          <a:p>
            <a:pPr algn="l"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'구속 혁명'으로 리그 포심 평균이 꾸준히 오른다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93.69 → 94.77 mph (2021→2026), 6시즌 동안 한 번도 꺾이지 않고 +1.08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개인의 이상을 판단할 때 반드시 제거할 성분</a:t>
            </a:r>
            <a:endParaRPr lang="en-US" sz="1200" dirty="0"/>
          </a:p>
        </p:txBody>
      </p:sp>
      <p:sp>
        <p:nvSpPr>
          <p:cNvPr id="11" name="계절성"/>
          <p:cNvSpPr/>
          <p:nvPr/>
        </p:nvSpPr>
        <p:spPr>
          <a:xfrm>
            <a:off x="274320" y="2487168"/>
            <a:ext cx="4251960" cy="1353312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14300" tIns="114300" rIns="114300" bIns="1143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계절성</a:t>
            </a:r>
            <a:endParaRPr lang="en-US" sz="1200" dirty="0"/>
          </a:p>
          <a:p>
            <a:pPr algn="l"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구속은 시즌 초보다 후반에 높다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2025년 4월 94.18 → 6월 94.61 mph 후 평평 (2024년: 94.04 → 94.40)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부상 발생 자체도 특정 시기에 몰린다</a:t>
            </a:r>
            <a:endParaRPr lang="en-US" sz="1200" dirty="0"/>
          </a:p>
        </p:txBody>
      </p:sp>
      <p:sp>
        <p:nvSpPr>
          <p:cNvPr id="12" name="외생 변수"/>
          <p:cNvSpPr/>
          <p:nvPr/>
        </p:nvSpPr>
        <p:spPr>
          <a:xfrm>
            <a:off x="4617720" y="2487168"/>
            <a:ext cx="4251960" cy="1353312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14300" tIns="114300" rIns="114300" bIns="1143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외생 변수</a:t>
            </a:r>
            <a:endParaRPr lang="en-US" sz="1200" dirty="0"/>
          </a:p>
          <a:p>
            <a:pPr algn="l"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등판 간격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최근 7·14·28일 누적 투구 수, ACWR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휴식·부하로 설명되는 변화를 부상 신호와 구분한다</a:t>
            </a:r>
            <a:endParaRPr lang="en-US" sz="1200" dirty="0"/>
          </a:p>
        </p:txBody>
      </p:sp>
      <p:sp>
        <p:nvSpPr>
          <p:cNvPr id="13" name="Takeaway"/>
          <p:cNvSpPr txBox="1"/>
          <p:nvPr/>
        </p:nvSpPr>
        <p:spPr>
          <a:xfrm>
            <a:off x="274320" y="402336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➡"/>
            </a:pPr>
            <a:r>
              <a:rPr lang="en-US" sz="1450" b="1" dirty="0">
                <a:solidFill>
                  <a:schemeClr val="tx1"/>
                </a:solidFill>
              </a:rPr>
              <a:t>투수의 평소 수준을 예측할 수 있다면, 거기서 벗어난 정도가 곧 경고가 된다</a:t>
            </a:r>
            <a:endParaRPr lang="en-US" sz="1450" dirty="0"/>
          </a:p>
        </p:txBody>
      </p:sp>
      <p:sp>
        <p:nvSpPr>
          <p:cNvPr id="14" name="Course link"/>
          <p:cNvSpPr txBox="1"/>
          <p:nvPr/>
        </p:nvSpPr>
        <p:spPr>
          <a:xfrm>
            <a:off x="566928" y="4389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→ 수업에서 다루는 ARIMA / ARIMAX, EWMA, 잔차 기반 이상 탐지와 바로 연결된다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(1) 구속-부상 연관 · 평소 vs 부상 직전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graphicFrame>
        <p:nvGraphicFramePr>
          <p:cNvPr id="6" name="Related work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68580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606040"/>
                <a:gridCol w="23317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대상 · 방법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핵심 결과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한계 (우리와의 차이)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주제 1. 구속이 부상과 연관되어 있다는 전제를 뒷받침하는 연구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Prodromo 외 (2016)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UCLR 투수 vs 같은 나이 대조군 (2002–2015)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사례-대조, 조건부 로지스틱 회귀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수술 전 시즌 평균 구속이 더 높았고, 속구 평균 구속이 유의한 변수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투수끼리 비교, 시즌 평균 사용 → 변화 시점을 알 수 없음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주제 2. 투수의 평소 모습과 부상 직전을 비교한 연구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Mastroianni 외 (2026)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UCL 수술 투수 78명 vs 매칭 대조군 156명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투수 내 변화 분석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마지막 5등판 구속 점진 하락 (P = .019), 수평 릴리스 변동성 큼 (P = .005)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사후 분석, AUC·선행 일수 미보고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Ozaki (2026, 석사논문)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UCLR 투수 46명 (2016–2024)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오토인코더 이상 탐지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부상이 가까울수록 이상 정도 2.7배. 코드와 매칭 대조군 45쌍 공개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건강한 투수도 경보 (73% vs 66%), 시간 순서를 일부러 무시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274320" y="4206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➡"/>
            </a:pPr>
            <a:r>
              <a:rPr lang="en-US" sz="1350" b="1" dirty="0">
                <a:solidFill>
                  <a:schemeClr val="tx1"/>
                </a:solidFill>
              </a:rPr>
              <a:t>구속은 부상과 연관되고 부상 직전 평소와 달라지지만, 이를 경보로 바꿔 오경보까지 평가한 연구는 없다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(2) 시계열 방법 · 외생 변수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graphicFrame>
        <p:nvGraphicFramePr>
          <p:cNvPr id="7" name="Related work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68580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606040"/>
                <a:gridCol w="23317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대상 · 방법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핵심 결과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한계 (우리와의 차이)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주제 3. 시계열 방법을 쓴 연구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Mayo 외 (2021)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UCLR 투수 223명의 수술 전 15경기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Mann-Kendall 추세검정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포심 구속 경기당 약 0.1 mph 하락 (tau = −0.657, P &lt; .001), 회전수 경기당 약 5 rpm 감소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건강한 대조군 없음, 경보 규칙 없음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Bright 외 (2026)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중계 영상으로 3차원 자세 추정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투수 7,348명 선별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토미 존 수술 AUC 0.811, 중증 팔 부상 AUC 0.825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영상 추정값 사용, 시점별 선별 모형 (개인 시계열 경보 아님)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주제 4. 외생 변수 관련 연구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Slowik 외 (2021)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대학 투수 17명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ACWR, ROC로 기준 선정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ACWR이 ±33% 넘게 변하면 다음 주 부상 위험 8.3배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표본이 작음 (95% CI 1.8–54.1), 만성 구간 3주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274320" y="4206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➡"/>
            </a:pPr>
            <a:r>
              <a:rPr lang="en-US" sz="1350" b="1" dirty="0">
                <a:solidFill>
                  <a:schemeClr val="tx1"/>
                </a:solidFill>
              </a:rPr>
              <a:t>부상 전 하락 추세는 확인됐지만 경보 규칙은 없고, 투구 부하(ACWR)는 함께 볼 외생 신호다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선행 연구의 한계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Limit label"/>
          <p:cNvSpPr txBox="1"/>
          <p:nvPr/>
        </p:nvSpPr>
        <p:spPr>
          <a:xfrm>
            <a:off x="320040" y="1024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한계 1</a:t>
            </a:r>
            <a:endParaRPr lang="en-US" sz="1200" dirty="0"/>
          </a:p>
        </p:txBody>
      </p:sp>
      <p:sp>
        <p:nvSpPr>
          <p:cNvPr id="10" name="Limit 1"/>
          <p:cNvSpPr/>
          <p:nvPr/>
        </p:nvSpPr>
        <p:spPr>
          <a:xfrm>
            <a:off x="320040" y="1325880"/>
            <a:ext cx="2697480" cy="114300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시즌 평균으로 부상 투수와 건강한 투수를 비교</a:t>
            </a:r>
            <a:endParaRPr lang="en-US" sz="1200" dirty="0"/>
          </a:p>
        </p:txBody>
      </p:sp>
      <p:sp>
        <p:nvSpPr>
          <p:cNvPr id="11" name="Arrow"/>
          <p:cNvSpPr/>
          <p:nvPr/>
        </p:nvSpPr>
        <p:spPr>
          <a:xfrm>
            <a:off x="1481328" y="2560320"/>
            <a:ext cx="365760" cy="36576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Need label"/>
          <p:cNvSpPr txBox="1"/>
          <p:nvPr/>
        </p:nvSpPr>
        <p:spPr>
          <a:xfrm>
            <a:off x="320040" y="2971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필요</a:t>
            </a:r>
            <a:endParaRPr lang="en-US" sz="1200" dirty="0"/>
          </a:p>
        </p:txBody>
      </p:sp>
      <p:sp>
        <p:nvSpPr>
          <p:cNvPr id="13" name="Need 1"/>
          <p:cNvSpPr/>
          <p:nvPr/>
        </p:nvSpPr>
        <p:spPr>
          <a:xfrm>
            <a:off x="320040" y="3273552"/>
            <a:ext cx="2697480" cy="1143000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투수 개인의 시계열을 기준으로 변화를 읽어야 한다</a:t>
            </a:r>
            <a:endParaRPr lang="en-US" sz="1200" dirty="0"/>
          </a:p>
        </p:txBody>
      </p:sp>
      <p:sp>
        <p:nvSpPr>
          <p:cNvPr id="14" name="Limit label"/>
          <p:cNvSpPr txBox="1"/>
          <p:nvPr/>
        </p:nvSpPr>
        <p:spPr>
          <a:xfrm>
            <a:off x="3200400" y="1024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한계 2</a:t>
            </a:r>
            <a:endParaRPr lang="en-US" sz="1200" dirty="0"/>
          </a:p>
        </p:txBody>
      </p:sp>
      <p:sp>
        <p:nvSpPr>
          <p:cNvPr id="15" name="Limit 2"/>
          <p:cNvSpPr/>
          <p:nvPr/>
        </p:nvSpPr>
        <p:spPr>
          <a:xfrm>
            <a:off x="3200400" y="1325880"/>
            <a:ext cx="2697480" cy="114300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추세 검정에 그쳐 경보 규칙과 오경보 집계가 없음</a:t>
            </a:r>
            <a:endParaRPr lang="en-US" sz="1200" dirty="0"/>
          </a:p>
        </p:txBody>
      </p:sp>
      <p:sp>
        <p:nvSpPr>
          <p:cNvPr id="16" name="Arrow"/>
          <p:cNvSpPr/>
          <p:nvPr/>
        </p:nvSpPr>
        <p:spPr>
          <a:xfrm>
            <a:off x="4361688" y="2560320"/>
            <a:ext cx="365760" cy="36576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eed label"/>
          <p:cNvSpPr txBox="1"/>
          <p:nvPr/>
        </p:nvSpPr>
        <p:spPr>
          <a:xfrm>
            <a:off x="3200400" y="2971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필요</a:t>
            </a:r>
            <a:endParaRPr lang="en-US" sz="1200" dirty="0"/>
          </a:p>
        </p:txBody>
      </p:sp>
      <p:sp>
        <p:nvSpPr>
          <p:cNvPr id="18" name="Need 2"/>
          <p:cNvSpPr/>
          <p:nvPr/>
        </p:nvSpPr>
        <p:spPr>
          <a:xfrm>
            <a:off x="3200400" y="3273552"/>
            <a:ext cx="2697480" cy="1143000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선행 시간과 오경보로 평가하는 경보 시스템이 필요하다</a:t>
            </a:r>
            <a:endParaRPr lang="en-US" sz="1200" dirty="0"/>
          </a:p>
        </p:txBody>
      </p:sp>
      <p:sp>
        <p:nvSpPr>
          <p:cNvPr id="19" name="Limit label"/>
          <p:cNvSpPr txBox="1"/>
          <p:nvPr/>
        </p:nvSpPr>
        <p:spPr>
          <a:xfrm>
            <a:off x="6080760" y="1024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한계 3</a:t>
            </a:r>
            <a:endParaRPr lang="en-US" sz="1200" dirty="0"/>
          </a:p>
        </p:txBody>
      </p:sp>
      <p:sp>
        <p:nvSpPr>
          <p:cNvPr id="20" name="Limit 3"/>
          <p:cNvSpPr/>
          <p:nvPr/>
        </p:nvSpPr>
        <p:spPr>
          <a:xfrm>
            <a:off x="6080760" y="1325880"/>
            <a:ext cx="2697480" cy="114300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느린 하락이 기준선에 흡수될까 봐 시계열 모델을 피함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7242048" y="2560320"/>
            <a:ext cx="365760" cy="36576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Need label"/>
          <p:cNvSpPr txBox="1"/>
          <p:nvPr/>
        </p:nvSpPr>
        <p:spPr>
          <a:xfrm>
            <a:off x="6080760" y="2971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필요</a:t>
            </a:r>
            <a:endParaRPr lang="en-US" sz="1200" dirty="0"/>
          </a:p>
        </p:txBody>
      </p:sp>
      <p:sp>
        <p:nvSpPr>
          <p:cNvPr id="23" name="Need 3"/>
          <p:cNvSpPr/>
          <p:nvPr/>
        </p:nvSpPr>
        <p:spPr>
          <a:xfrm>
            <a:off x="6080760" y="3273552"/>
            <a:ext cx="2697480" cy="1143000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한 걸음 앞 예측의 잔차를 감시하면 기준선이 따라가도 신호가 남는다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본 연구의 차별점 (Novelty)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Core idea"/>
          <p:cNvSpPr/>
          <p:nvPr/>
        </p:nvSpPr>
        <p:spPr>
          <a:xfrm>
            <a:off x="320040" y="1024128"/>
            <a:ext cx="8503920" cy="566928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아이디어  </a:t>
            </a:r>
            <a:r>
              <a:rPr lang="en-US" sz="1400" b="1" dirty="0">
                <a:solidFill>
                  <a:schemeClr val="tx1"/>
                </a:solidFill>
              </a:rPr>
              <a:t>투수별 시계열 기준선: 자기 과거로 예측한 기대 구속과 실제 구속의 차이(잔차)를 감시한다</a:t>
            </a:r>
            <a:endParaRPr lang="en-US" sz="1200" dirty="0"/>
          </a:p>
        </p:txBody>
      </p:sp>
      <p:sp>
        <p:nvSpPr>
          <p:cNvPr id="10" name="Novelty card 1"/>
          <p:cNvSpPr/>
          <p:nvPr/>
        </p:nvSpPr>
        <p:spPr>
          <a:xfrm>
            <a:off x="320040" y="1783080"/>
            <a:ext cx="4160520" cy="288036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" name="Novelty title 1"/>
          <p:cNvSpPr txBox="1"/>
          <p:nvPr/>
        </p:nvSpPr>
        <p:spPr>
          <a:xfrm>
            <a:off x="502920" y="1901952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 </a:t>
            </a:r>
            <a:r>
              <a:rPr lang="en-US" sz="1600" b="1" dirty="0">
                <a:solidFill>
                  <a:schemeClr val="tx1"/>
                </a:solidFill>
              </a:rPr>
              <a:t>공개 데이터 기반 다변량 시계열</a:t>
            </a:r>
            <a:endParaRPr lang="en-US" sz="1800" dirty="0"/>
          </a:p>
        </p:txBody>
      </p:sp>
      <p:sp>
        <p:nvSpPr>
          <p:cNvPr id="12" name="Novelty chip"/>
          <p:cNvSpPr/>
          <p:nvPr/>
        </p:nvSpPr>
        <p:spPr>
          <a:xfrm>
            <a:off x="502920" y="2560320"/>
            <a:ext cx="3794760" cy="54864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성능 지표   </a:t>
            </a:r>
            <a:r>
              <a:rPr lang="en-US" sz="1300" dirty="0">
                <a:solidFill>
                  <a:schemeClr val="tx1"/>
                </a:solidFill>
              </a:rPr>
              <a:t>구속 · 변동성 · 릴리스</a:t>
            </a:r>
            <a:endParaRPr lang="en-US" sz="1200" dirty="0"/>
          </a:p>
        </p:txBody>
      </p:sp>
      <p:sp>
        <p:nvSpPr>
          <p:cNvPr id="13" name="Novelty chip"/>
          <p:cNvSpPr/>
          <p:nvPr/>
        </p:nvSpPr>
        <p:spPr>
          <a:xfrm>
            <a:off x="502920" y="3218688"/>
            <a:ext cx="3794760" cy="54864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부하 지표   </a:t>
            </a:r>
            <a:r>
              <a:rPr lang="en-US" sz="1300" dirty="0">
                <a:solidFill>
                  <a:schemeClr val="tx1"/>
                </a:solidFill>
              </a:rPr>
              <a:t>등판 간격 · 누적 투구 수 · ACWR</a:t>
            </a:r>
            <a:endParaRPr lang="en-US" sz="1200" dirty="0"/>
          </a:p>
        </p:txBody>
      </p:sp>
      <p:sp>
        <p:nvSpPr>
          <p:cNvPr id="14" name="Novelty note 1"/>
          <p:cNvSpPr txBox="1"/>
          <p:nvPr/>
        </p:nvSpPr>
        <p:spPr>
          <a:xfrm>
            <a:off x="502920" y="39319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누구나 접근할 수 있는 Statcast와 MLB 기록만 사용 → 재현 가능한 결론</a:t>
            </a:r>
            <a:endParaRPr lang="en-US" sz="1200" dirty="0"/>
          </a:p>
        </p:txBody>
      </p:sp>
      <p:sp>
        <p:nvSpPr>
          <p:cNvPr id="15" name="Novelty card 2"/>
          <p:cNvSpPr/>
          <p:nvPr/>
        </p:nvSpPr>
        <p:spPr>
          <a:xfrm>
            <a:off x="4663440" y="1783080"/>
            <a:ext cx="4160520" cy="288036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6" name="Novelty title 2"/>
          <p:cNvSpPr txBox="1"/>
          <p:nvPr/>
        </p:nvSpPr>
        <p:spPr>
          <a:xfrm>
            <a:off x="4846320" y="1901952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 </a:t>
            </a:r>
            <a:r>
              <a:rPr lang="en-US" sz="1600" b="1" dirty="0">
                <a:solidFill>
                  <a:schemeClr val="tx1"/>
                </a:solidFill>
              </a:rPr>
              <a:t>통계 검정을 넘어 실제 경보 시스템 평가</a:t>
            </a:r>
            <a:endParaRPr lang="en-US" sz="1800" dirty="0"/>
          </a:p>
        </p:txBody>
      </p:sp>
      <p:sp>
        <p:nvSpPr>
          <p:cNvPr id="17" name="Novelty chip"/>
          <p:cNvSpPr/>
          <p:nvPr/>
        </p:nvSpPr>
        <p:spPr>
          <a:xfrm>
            <a:off x="4846320" y="2560320"/>
            <a:ext cx="3794760" cy="54864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얼마나 일찍?   </a:t>
            </a:r>
            <a:r>
              <a:rPr lang="en-US" sz="1300" dirty="0">
                <a:solidFill>
                  <a:schemeClr val="tx1"/>
                </a:solidFill>
              </a:rPr>
              <a:t>IL 등재 며칠 전에 울리는가</a:t>
            </a:r>
            <a:endParaRPr lang="en-US" sz="1200" dirty="0"/>
          </a:p>
        </p:txBody>
      </p:sp>
      <p:sp>
        <p:nvSpPr>
          <p:cNvPr id="18" name="Novelty chip"/>
          <p:cNvSpPr/>
          <p:nvPr/>
        </p:nvSpPr>
        <p:spPr>
          <a:xfrm>
            <a:off x="4846320" y="3218688"/>
            <a:ext cx="3794760" cy="54864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얼마나 자주 헛울리나?   </a:t>
            </a:r>
            <a:r>
              <a:rPr lang="en-US" sz="1300" dirty="0">
                <a:solidFill>
                  <a:schemeClr val="tx1"/>
                </a:solidFill>
              </a:rPr>
              <a:t>오경보 빈도</a:t>
            </a:r>
            <a:endParaRPr lang="en-US" sz="1200" dirty="0"/>
          </a:p>
        </p:txBody>
      </p:sp>
      <p:sp>
        <p:nvSpPr>
          <p:cNvPr id="19" name="Novelty note 2"/>
          <p:cNvSpPr txBox="1"/>
          <p:nvPr/>
        </p:nvSpPr>
        <p:spPr>
          <a:xfrm>
            <a:off x="4846320" y="39319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조사한 선행 연구 중 선행 일수와 오경보 빈도를 함께 보고한 사례는 없다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데이터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데이터셋: MLB Statcast (2021–2026)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Bullets"/>
          <p:cNvSpPr txBox="1"/>
          <p:nvPr/>
        </p:nvSpPr>
        <p:spPr>
          <a:xfrm>
            <a:off x="228600" y="987552"/>
            <a:ext cx="8686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buSzPct val="100000"/>
              <a:buChar char="❏"/>
            </a:pPr>
            <a:r>
              <a:rPr lang="en-US" sz="1700" b="1" dirty="0">
                <a:solidFill>
                  <a:schemeClr val="tx1"/>
                </a:solidFill>
              </a:rPr>
              <a:t>출처 (Sources)</a:t>
            </a:r>
            <a:endParaRPr lang="en-US" sz="17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투구 데이터: Baseball Savant </a:t>
            </a:r>
            <a:r>
              <a:rPr lang="en-US" sz="1400" b="1" dirty="0">
                <a:solidFill>
                  <a:schemeClr val="tx1"/>
                </a:solidFill>
              </a:rPr>
              <a:t>Statcast</a:t>
            </a:r>
            <a:r>
              <a:rPr lang="en-US" sz="1400" dirty="0">
                <a:solidFill>
                  <a:schemeClr val="tx1"/>
                </a:solidFill>
              </a:rPr>
              <a:t>, 투구 단위</a:t>
            </a:r>
            <a:endParaRPr lang="en-US" sz="17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부상 레이블: </a:t>
            </a:r>
            <a:r>
              <a:rPr lang="en-US" sz="1400" b="1" dirty="0">
                <a:solidFill>
                  <a:schemeClr val="tx1"/>
                </a:solidFill>
              </a:rPr>
              <a:t>MLB 공식 API 거래 기록</a:t>
            </a:r>
            <a:r>
              <a:rPr lang="en-US" sz="1400" dirty="0">
                <a:solidFill>
                  <a:schemeClr val="tx1"/>
                </a:solidFill>
              </a:rPr>
              <a:t> (IL 등재일, 부상 부위)</a:t>
            </a:r>
            <a:endParaRPr lang="en-US" sz="17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기온: MLB API 경기별 날씨, 필요하면 Open-Meteo로 보완</a:t>
            </a:r>
            <a:endParaRPr lang="en-US" sz="1700" dirty="0"/>
          </a:p>
          <a:p>
            <a:pPr marL="330200" indent="-330200">
              <a:spcBef>
                <a:spcPts val="600"/>
              </a:spcBef>
              <a:buSzPct val="100000"/>
              <a:buChar char="❏"/>
            </a:pPr>
            <a:r>
              <a:rPr lang="en-US" sz="1700" b="1" dirty="0">
                <a:solidFill>
                  <a:schemeClr val="tx1"/>
                </a:solidFill>
              </a:rPr>
              <a:t>데이터 정보 (Data info)</a:t>
            </a:r>
            <a:endParaRPr lang="en-US" sz="1700" dirty="0"/>
          </a:p>
        </p:txBody>
      </p:sp>
      <p:graphicFrame>
        <p:nvGraphicFramePr>
          <p:cNvPr id="10" name="Data inf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68580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0866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항목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기간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2021–2026 정규시즌 (6시즌). 2017년 구속 정의 변경·2020년 Hawk-Eye 전환 이후 구간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규모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투구 약 438만 개 · 시즌당 투수 855–909명 · IL 등재 3,340건 (팔 관련 1,683건)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빈도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투구를 투수 × 등판 단위로 집계 (등판 간격은 불규칙)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핵심 변수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구속, 릴리스 좌우·높이, 익스텐션, 회전수, 구종, 투수, 날짜, 경기 번호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외생 변수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등판 간격, 최근 7·14·28일 누적 투구 수, ACWR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Bullets"/>
          <p:cNvSpPr txBox="1"/>
          <p:nvPr/>
        </p:nvSpPr>
        <p:spPr>
          <a:xfrm>
            <a:off x="228600" y="440740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b="1" dirty="0">
                <a:solidFill>
                  <a:schemeClr val="tx1"/>
                </a:solidFill>
              </a:rPr>
              <a:t>연구 적합성</a:t>
            </a:r>
            <a:r>
              <a:rPr lang="en-US" sz="1300" dirty="0">
                <a:solidFill>
                  <a:schemeClr val="tx1"/>
                </a:solidFill>
              </a:rPr>
              <a:t>: 길고 공개된 투구 단위 시계열이 실제 부상 레이블과 연결되어, 경보가 실제 결과와 맞았는지 검증할 수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데이터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분석 단위와 변수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graphicFrame>
        <p:nvGraphicFramePr>
          <p:cNvPr id="11" name="Variabl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024128"/>
          <a:ext cx="6858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변수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정의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투구 지표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구속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등판 내 패스트볼 평균·최고 구속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구속 변동성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등판 내 패스트볼 구속의 표준편차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릴리스 포인트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수평·수직 릴리스 위치의 평균과 표준편차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보조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회전수, 익스텐션, 경기 내 구속 하락 기울기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부하 지표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등판 간격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직전 등판 이후 일수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최근 투구량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최근 7·14·28일 누적 투구 수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ACWR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7일 평균 ÷ 28일 평균 투구량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228600" y="342900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500" b="1" dirty="0">
                <a:solidFill>
                  <a:schemeClr val="tx1"/>
                </a:solidFill>
              </a:rPr>
              <a:t>분석 단위</a:t>
            </a:r>
            <a:r>
              <a:rPr lang="en-US" sz="1500" dirty="0">
                <a:solidFill>
                  <a:schemeClr val="tx1"/>
                </a:solidFill>
              </a:rPr>
              <a:t>: 투수 × 등판. 시간축 = 등판 순번, 등판 간격은 별도 변수</a:t>
            </a:r>
            <a:endParaRPr lang="en-US" sz="15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500" b="1" dirty="0">
                <a:solidFill>
                  <a:schemeClr val="tx1"/>
                </a:solidFill>
              </a:rPr>
              <a:t>부상 사건</a:t>
            </a:r>
            <a:r>
              <a:rPr lang="en-US" sz="1500" dirty="0">
                <a:solidFill>
                  <a:schemeClr val="tx1"/>
                </a:solidFill>
              </a:rPr>
              <a:t>: 팔 관련 사유로 IL 등재</a:t>
            </a:r>
            <a:endParaRPr lang="en-US" sz="15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500" dirty="0">
                <a:solidFill>
                  <a:schemeClr val="tx1"/>
                </a:solidFill>
              </a:rPr>
              <a:t>IL 기록은 </a:t>
            </a:r>
            <a:r>
              <a:rPr lang="en-US" sz="1500" b="1" dirty="0">
                <a:solidFill>
                  <a:schemeClr val="tx1"/>
                </a:solidFill>
              </a:rPr>
              <a:t>평가에만</a:t>
            </a:r>
            <a:r>
              <a:rPr lang="en-US" sz="1500" dirty="0">
                <a:solidFill>
                  <a:schemeClr val="tx1"/>
                </a:solidFill>
              </a:rPr>
              <a:t> 쓰고, 학습에는 쓰지 않는다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방법론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연구 질문 (RQ)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RQ1 badge"/>
          <p:cNvSpPr/>
          <p:nvPr/>
        </p:nvSpPr>
        <p:spPr>
          <a:xfrm>
            <a:off x="274320" y="1051560"/>
            <a:ext cx="960120" cy="749808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RQ1</a:t>
            </a:r>
            <a:endParaRPr lang="en-US" sz="1200" dirty="0"/>
          </a:p>
        </p:txBody>
      </p:sp>
      <p:sp>
        <p:nvSpPr>
          <p:cNvPr id="10" name="RQ1 question"/>
          <p:cNvSpPr/>
          <p:nvPr/>
        </p:nvSpPr>
        <p:spPr>
          <a:xfrm>
            <a:off x="1325880" y="1051560"/>
            <a:ext cx="7543800" cy="749808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투수 자신의 과거로 예측한 구속과 실제 구속의 차이(잔차)로 팔 부상 IL 등재를 얼마나 일찍, 얼마나 정확하게 감지할 수 있는가?</a:t>
            </a:r>
            <a:endParaRPr lang="en-US" sz="1200" dirty="0"/>
          </a:p>
        </p:txBody>
      </p:sp>
      <p:sp>
        <p:nvSpPr>
          <p:cNvPr id="11" name="RQ2 badge"/>
          <p:cNvSpPr/>
          <p:nvPr/>
        </p:nvSpPr>
        <p:spPr>
          <a:xfrm>
            <a:off x="274320" y="1965960"/>
            <a:ext cx="960120" cy="749808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RQ2</a:t>
            </a:r>
            <a:endParaRPr lang="en-US" sz="1200" dirty="0"/>
          </a:p>
        </p:txBody>
      </p:sp>
      <p:sp>
        <p:nvSpPr>
          <p:cNvPr id="12" name="RQ2 question"/>
          <p:cNvSpPr/>
          <p:nvPr/>
        </p:nvSpPr>
        <p:spPr>
          <a:xfrm>
            <a:off x="1325880" y="1965960"/>
            <a:ext cx="7543800" cy="749808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부상 직전 몇 차례 등판에서 구속, 구속 변동성, 릴리스 포인트는 투수 자신의 평소 수준과 다르게 움직이는가?</a:t>
            </a:r>
            <a:endParaRPr lang="en-US" sz="1200" dirty="0"/>
          </a:p>
        </p:txBody>
      </p:sp>
      <p:sp>
        <p:nvSpPr>
          <p:cNvPr id="13" name="RQ3 badge"/>
          <p:cNvSpPr/>
          <p:nvPr/>
        </p:nvSpPr>
        <p:spPr>
          <a:xfrm>
            <a:off x="274320" y="2880360"/>
            <a:ext cx="960120" cy="749808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RQ3</a:t>
            </a:r>
            <a:endParaRPr lang="en-US" sz="1200" dirty="0"/>
          </a:p>
        </p:txBody>
      </p:sp>
      <p:sp>
        <p:nvSpPr>
          <p:cNvPr id="14" name="RQ3 question"/>
          <p:cNvSpPr/>
          <p:nvPr/>
        </p:nvSpPr>
        <p:spPr>
          <a:xfrm>
            <a:off x="1325880" y="2880360"/>
            <a:ext cx="7543800" cy="749808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등판 간격, 최근 7·14·28일 누적 투구 수 같은 부하 지표를 더하면 경보 성능이 좋아지는가?</a:t>
            </a:r>
            <a:endParaRPr lang="en-US" sz="1200" dirty="0"/>
          </a:p>
        </p:txBody>
      </p:sp>
      <p:sp>
        <p:nvSpPr>
          <p:cNvPr id="15" name="RQ4 badge"/>
          <p:cNvSpPr/>
          <p:nvPr/>
        </p:nvSpPr>
        <p:spPr>
          <a:xfrm>
            <a:off x="274320" y="3794760"/>
            <a:ext cx="960120" cy="749808"/>
          </a:xfrm>
          <a:prstGeom prst="rect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RQ4</a:t>
            </a:r>
            <a:endParaRPr lang="en-US" sz="1200" dirty="0"/>
          </a:p>
        </p:txBody>
      </p:sp>
      <p:sp>
        <p:nvSpPr>
          <p:cNvPr id="16" name="RQ4 question"/>
          <p:cNvSpPr/>
          <p:nvPr/>
        </p:nvSpPr>
        <p:spPr>
          <a:xfrm>
            <a:off x="1325880" y="3794760"/>
            <a:ext cx="7543800" cy="749808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강속구 투수와 그렇지 않은 투수 사이에 경보 신호의 강도가 다른가?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방법론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프레임워크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입력 데이터"/>
          <p:cNvSpPr/>
          <p:nvPr/>
        </p:nvSpPr>
        <p:spPr>
          <a:xfrm>
            <a:off x="274320" y="1143000"/>
            <a:ext cx="1828800" cy="210312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입력 데이터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Statcast 투구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MLB IL 기록</a:t>
            </a:r>
            <a:endParaRPr lang="en-US" sz="1200" dirty="0"/>
          </a:p>
        </p:txBody>
      </p:sp>
      <p:sp>
        <p:nvSpPr>
          <p:cNvPr id="10" name="Arrow"/>
          <p:cNvSpPr/>
          <p:nvPr/>
        </p:nvSpPr>
        <p:spPr>
          <a:xfrm>
            <a:off x="2139696" y="2048256"/>
            <a:ext cx="292608" cy="292608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등판 시계열"/>
          <p:cNvSpPr/>
          <p:nvPr/>
        </p:nvSpPr>
        <p:spPr>
          <a:xfrm>
            <a:off x="2468880" y="1143000"/>
            <a:ext cx="1828800" cy="210312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등판 시계열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투수별 구속, 변동성, 릴리스 포인트 (등판 순번 기준)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4334256" y="2048256"/>
            <a:ext cx="292608" cy="292608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모델"/>
          <p:cNvSpPr/>
          <p:nvPr/>
        </p:nvSpPr>
        <p:spPr>
          <a:xfrm>
            <a:off x="4663440" y="1143000"/>
            <a:ext cx="1828800" cy="210312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모델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· EWMA · ARIMAX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MEWMA · 머신러닝 비교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6528816" y="2048256"/>
            <a:ext cx="292608" cy="292608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출력"/>
          <p:cNvSpPr/>
          <p:nvPr/>
        </p:nvSpPr>
        <p:spPr>
          <a:xfrm>
            <a:off x="6858000" y="1143000"/>
            <a:ext cx="1828800" cy="2103120"/>
          </a:xfrm>
          <a:prstGeom prst="rect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출력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이상 점수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부상 경보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선행 일수</a:t>
            </a:r>
            <a:endParaRPr lang="en-US" sz="1200" dirty="0"/>
          </a:p>
        </p:txBody>
      </p:sp>
      <p:sp>
        <p:nvSpPr>
          <p:cNvPr id="16" name="Exogenous"/>
          <p:cNvSpPr/>
          <p:nvPr/>
        </p:nvSpPr>
        <p:spPr>
          <a:xfrm>
            <a:off x="1828800" y="3520440"/>
            <a:ext cx="5303520" cy="50292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외생 변수 X: 등판 간격 · 최근 7·14·28일 누적 투구 수 · ACWR</a:t>
            </a:r>
            <a:endParaRPr lang="en-US" sz="1200" dirty="0"/>
          </a:p>
        </p:txBody>
      </p:sp>
      <p:sp>
        <p:nvSpPr>
          <p:cNvPr id="17" name="Alert success"/>
          <p:cNvSpPr txBox="1"/>
          <p:nvPr/>
        </p:nvSpPr>
        <p:spPr>
          <a:xfrm>
            <a:off x="274320" y="42793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경보 성공  </a:t>
            </a:r>
            <a:r>
              <a:rPr lang="en-US" sz="1250" dirty="0">
                <a:solidFill>
                  <a:schemeClr val="tx1"/>
                </a:solidFill>
              </a:rPr>
              <a:t>IL 등재일 이전 직전 3회 등판 (약 21일) 안에 경보. 2·5회 등판으로도 평가해 검증 구간에서 확정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방법론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데이터 분할 · 모델 · 평가 지표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Split label"/>
          <p:cNvSpPr txBox="1"/>
          <p:nvPr/>
        </p:nvSpPr>
        <p:spPr>
          <a:xfrm>
            <a:off x="274320" y="960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시간 순서 분할</a:t>
            </a:r>
            <a:endParaRPr lang="en-US" sz="1200" dirty="0"/>
          </a:p>
        </p:txBody>
      </p:sp>
      <p:sp>
        <p:nvSpPr>
          <p:cNvPr id="10" name="Split 학습  2021–2024"/>
          <p:cNvSpPr/>
          <p:nvPr/>
        </p:nvSpPr>
        <p:spPr>
          <a:xfrm>
            <a:off x="1645920" y="960120"/>
            <a:ext cx="3796912" cy="365760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학습  2021–2024</a:t>
            </a:r>
            <a:endParaRPr lang="en-US" sz="1100" dirty="0"/>
          </a:p>
        </p:txBody>
      </p:sp>
      <p:sp>
        <p:nvSpPr>
          <p:cNvPr id="11" name="Split 검증  2025 (임계값 결정)"/>
          <p:cNvSpPr/>
          <p:nvPr/>
        </p:nvSpPr>
        <p:spPr>
          <a:xfrm>
            <a:off x="5470264" y="960120"/>
            <a:ext cx="1990972" cy="365760"/>
          </a:xfrm>
          <a:prstGeom prst="rect">
            <a:avLst/>
          </a:prstGeom>
          <a:solidFill>
            <a:srgbClr val="BFBFBF"/>
          </a:solidFill>
          <a:ln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검증  2025 (임계값 결정)</a:t>
            </a:r>
            <a:endParaRPr lang="en-US" sz="1100" dirty="0"/>
          </a:p>
        </p:txBody>
      </p:sp>
      <p:sp>
        <p:nvSpPr>
          <p:cNvPr id="12" name="Split 테스트  2026"/>
          <p:cNvSpPr/>
          <p:nvPr/>
        </p:nvSpPr>
        <p:spPr>
          <a:xfrm>
            <a:off x="7488667" y="960120"/>
            <a:ext cx="1353581" cy="365760"/>
          </a:xfrm>
          <a:prstGeom prst="rect">
            <a:avLst/>
          </a:prstGeom>
          <a:solidFill>
            <a:srgbClr val="A6A6A6"/>
          </a:solidFill>
          <a:ln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테스트  2026</a:t>
            </a:r>
            <a:endParaRPr lang="en-US" sz="1100" dirty="0"/>
          </a:p>
        </p:txBody>
      </p:sp>
      <p:graphicFrame>
        <p:nvGraphicFramePr>
          <p:cNvPr id="14" name="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508760"/>
          <a:ext cx="6858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80160"/>
                <a:gridCol w="2788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모델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비교 기준선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1. 무작위 점수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우연 수준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2. 단순 규칙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평소보다 구속이 X mph 이상 떨어지면 경보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3. 부하 규칙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ACWR이 ±33%를 벗어나면 경보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시계열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4. EWMA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표준화 구속의 점진적 하락을 누적 탐지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5. ARIMAX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휴식일·누적 투구 수를 반영한 기대 구속 대비 잔차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추가 검증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6. 머신러닝 방법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시계열 구조를 쓰지 않는 방법과 같은 기준으로 비교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확장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7. MEWMA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구속·변동성·릴리스를 동시에 감시 (다변량)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Metric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508760"/>
          <a:ext cx="6858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질문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정확도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오경보를 투수-시즌당 1회 이하로 둘 때 재현율·정밀도 (주 지표 F1)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오경보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투수-시즌당 오경보 횟수, 대조군 경보율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조기성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첫 경보 → IL 등재 선행 일수 (중앙값·분포)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전체 성능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등판 단위 AUPRC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참고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구속 예측 오차 MAE, RMSE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(1) 리그 구속 추세와 IL 규모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Velocity by year" descr="/tmp/claude-0/-home-user-timeseries/2d02c38b-48df-5b9a-b0cc-ec9424e3cff2/scratchpad/figs_ko/k01_veloc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41832"/>
            <a:ext cx="4160520" cy="2532888"/>
          </a:xfrm>
          <a:prstGeom prst="rect">
            <a:avLst/>
          </a:prstGeom>
        </p:spPr>
      </p:pic>
      <p:pic>
        <p:nvPicPr>
          <p:cNvPr id="10" name="IL pitchers by year" descr="/tmp/claude-0/-home-user-timeseries/2d02c38b-48df-5b9a-b0cc-ec9424e3cff2/scratchpad/figs_ko/k02_il_pitch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941832"/>
            <a:ext cx="4160520" cy="253288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274320" y="34930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연도별 포심 평균 구속 (투구 가중 평균, 왼쪽)과 IL 등재 고유 투수 수 (오른쪽), 2021–2026</a:t>
            </a:r>
            <a:endParaRPr lang="en-US" sz="950" dirty="0"/>
          </a:p>
        </p:txBody>
      </p:sp>
      <p:sp>
        <p:nvSpPr>
          <p:cNvPr id="12" name="Bullets"/>
          <p:cNvSpPr txBox="1"/>
          <p:nvPr/>
        </p:nvSpPr>
        <p:spPr>
          <a:xfrm>
            <a:off x="228600" y="37490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50" dirty="0">
                <a:solidFill>
                  <a:schemeClr val="tx1"/>
                </a:solidFill>
              </a:rPr>
              <a:t>리그 포심 구속이 6시즌 연속 상승: </a:t>
            </a:r>
            <a:r>
              <a:rPr lang="en-US" sz="1350" b="1" dirty="0">
                <a:solidFill>
                  <a:schemeClr val="tx1"/>
                </a:solidFill>
              </a:rPr>
              <a:t>93.69 → 94.77 mph</a:t>
            </a:r>
            <a:r>
              <a:rPr lang="en-US" sz="1350" dirty="0">
                <a:solidFill>
                  <a:schemeClr val="tx1"/>
                </a:solidFill>
              </a:rPr>
              <a:t> (+1.08) → 추세를 뺀 투수별 기준선이 필요</a:t>
            </a:r>
            <a:endParaRPr lang="en-US" sz="135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50" dirty="0">
                <a:solidFill>
                  <a:schemeClr val="tx1"/>
                </a:solidFill>
              </a:rPr>
              <a:t>IL 등재 투수는 연 </a:t>
            </a:r>
            <a:r>
              <a:rPr lang="en-US" sz="1350" b="1" dirty="0">
                <a:solidFill>
                  <a:schemeClr val="tx1"/>
                </a:solidFill>
              </a:rPr>
              <a:t>360–444명</a:t>
            </a:r>
            <a:r>
              <a:rPr lang="en-US" sz="1350" dirty="0">
                <a:solidFill>
                  <a:schemeClr val="tx1"/>
                </a:solidFill>
              </a:rPr>
              <a:t>. 2026년 기록은 9월 27일까지라 같은 기간으로 맞춰도 확인 (규모 확인용, 부상률 비교 아님)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(2) 부상 부위 구성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Injury sites" descr="/tmp/claude-0/-home-user-timeseries/2d02c38b-48df-5b9a-b0cc-ec9424e3cff2/scratchpad/figs_ko/k03_si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4087368" cy="3127248"/>
          </a:xfrm>
          <a:prstGeom prst="rect">
            <a:avLst/>
          </a:prstGeom>
        </p:spPr>
      </p:pic>
      <p:pic>
        <p:nvPicPr>
          <p:cNvPr id="10" name="Site share by year" descr="/tmp/claude-0/-home-user-timeseries/2d02c38b-48df-5b9a-b0cc-ec9424e3cff2/scratchpad/figs_ko/k04_site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914400"/>
            <a:ext cx="3337560" cy="3127248"/>
          </a:xfrm>
          <a:prstGeom prst="rect">
            <a:avLst/>
          </a:prstGeom>
        </p:spPr>
      </p:pic>
      <p:sp>
        <p:nvSpPr>
          <p:cNvPr id="11" name="Share callout"/>
          <p:cNvSpPr txBox="1"/>
          <p:nvPr/>
        </p:nvSpPr>
        <p:spPr>
          <a:xfrm>
            <a:off x="7909560" y="1463040"/>
            <a:ext cx="1051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어깨·팔꿈치</a:t>
            </a:r>
            <a:endParaRPr lang="en-US" sz="12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33.7%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전체 IL 등재 중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(584 + 529건)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228600" y="409651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어깨 17.7%, 팔꿈치 16.0%, 전완 6.4%로 팔 부위가 가장 큰 비중 (분모는 IL 등재 건수, 고유 투수 수 아님)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팔꿈치 비중이 </a:t>
            </a:r>
            <a:r>
              <a:rPr lang="en-US" sz="1300" b="1" dirty="0">
                <a:solidFill>
                  <a:schemeClr val="tx1"/>
                </a:solidFill>
              </a:rPr>
              <a:t>10% (2021) → 22% (2026)</a:t>
            </a:r>
            <a:r>
              <a:rPr lang="en-US" sz="1300" dirty="0">
                <a:solidFill>
                  <a:schemeClr val="tx1"/>
                </a:solidFill>
              </a:rPr>
              <a:t>로 증가 → 팔 관련 IL을 주 분석 사건으로 정의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(3) IL 직전 구속 변화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Velocity diff" descr="/tmp/claude-0/-home-user-timeseries/2d02c38b-48df-5b9a-b0cc-ec9424e3cff2/scratchpad/figs_ko/k05_velocity_d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32688"/>
            <a:ext cx="5577840" cy="2478024"/>
          </a:xfrm>
          <a:prstGeom prst="rect">
            <a:avLst/>
          </a:prstGeom>
        </p:spPr>
      </p:pic>
      <p:graphicFrame>
        <p:nvGraphicFramePr>
          <p:cNvPr id="17" name="Event cou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051560"/>
          <a:ext cx="6858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8686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사건 수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전체 IL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팔 관련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직전 1등판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1,479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663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직전 3등판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1,066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직전 5등판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Key diff"/>
          <p:cNvSpPr txBox="1"/>
          <p:nvPr/>
        </p:nvSpPr>
        <p:spPr>
          <a:xfrm>
            <a:off x="6080760" y="237744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직전 1등판 − 이전 등판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전체 IL  −0.26 mph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[95% CI −0.31, −0.22]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팔 관련  −0.37 mph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[95% CI −0.45, −0.30]</a:t>
            </a:r>
            <a:endParaRPr lang="en-US" sz="1100" dirty="0"/>
          </a:p>
        </p:txBody>
      </p:sp>
      <p:sp>
        <p:nvSpPr>
          <p:cNvPr id="12" name="Caption"/>
          <p:cNvSpPr txBox="1"/>
          <p:nvPr/>
        </p:nvSpPr>
        <p:spPr>
          <a:xfrm>
            <a:off x="182880" y="345643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같은 투수의 현재 IL 구간 안에서 직전 N등판 평균 − 그 이전 등판 평균 (점: 차이, 선: 95% CI, 선수 단위 부트스트랩 2,000회)</a:t>
            </a:r>
            <a:endParaRPr lang="en-US" sz="950" dirty="0"/>
          </a:p>
        </p:txBody>
      </p:sp>
      <p:sp>
        <p:nvSpPr>
          <p:cNvPr id="13" name="Bullets"/>
          <p:cNvSpPr txBox="1"/>
          <p:nvPr/>
        </p:nvSpPr>
        <p:spPr>
          <a:xfrm>
            <a:off x="228600" y="3730752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b="1" dirty="0">
                <a:solidFill>
                  <a:schemeClr val="tx1"/>
                </a:solidFill>
              </a:rPr>
              <a:t>같은 투수 내부 비교</a:t>
            </a:r>
            <a:r>
              <a:rPr lang="en-US" sz="1300" dirty="0">
                <a:solidFill>
                  <a:schemeClr val="tx1"/>
                </a:solidFill>
              </a:rPr>
              <a:t>다. 건강한 투수 집단과의 비교가 아니다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직전 1등판에서 가장 크게 떨어지고, N이 커질수록 차이가 줄어든다. 팔 관련 IL이 모든 구간에서 더 크게 하락</a:t>
            </a:r>
            <a:endParaRPr lang="en-US" sz="1300" dirty="0"/>
          </a:p>
          <a:p>
            <a:pPr lvl="1" marL="457200" indent="-228600">
              <a:spcBef>
                <a:spcPts val="400"/>
              </a:spcBef>
              <a:buSzPct val="100000"/>
              <a:buChar char="➡"/>
            </a:pPr>
            <a:r>
              <a:rPr lang="en-US" sz="1300" dirty="0">
                <a:solidFill>
                  <a:schemeClr val="tx1"/>
                </a:solidFill>
              </a:rPr>
              <a:t>하락은 IL 직전에 몰린다 → 경보창은 짧게 (직전 3등판 기준, 2·5등판으로 확인)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(4) IL 직전 회전수와 회전수/구속 비율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Spin diff" descr="/tmp/claude-0/-home-user-timeseries/2d02c38b-48df-5b9a-b0cc-ec9424e3cff2/scratchpad/figs_ko/k06_spin_d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32688"/>
            <a:ext cx="4160520" cy="2487168"/>
          </a:xfrm>
          <a:prstGeom prst="rect">
            <a:avLst/>
          </a:prstGeom>
        </p:spPr>
      </p:pic>
      <p:pic>
        <p:nvPicPr>
          <p:cNvPr id="10" name="Ratio diff" descr="/tmp/claude-0/-home-user-timeseries/2d02c38b-48df-5b9a-b0cc-ec9424e3cff2/scratchpad/figs_ko/k07_ratio_di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932688"/>
            <a:ext cx="4160520" cy="24871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182880" y="344728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직전 N등판 − 이전 등판 (같은 투수 내부 비교). 채운 점 = 95% CI가 0을 포함하지 않음, 빈 점 = 0을 포함</a:t>
            </a:r>
            <a:endParaRPr lang="en-US" sz="950" dirty="0"/>
          </a:p>
        </p:txBody>
      </p:sp>
      <p:sp>
        <p:nvSpPr>
          <p:cNvPr id="12" name="Bullets"/>
          <p:cNvSpPr txBox="1"/>
          <p:nvPr/>
        </p:nvSpPr>
        <p:spPr>
          <a:xfrm>
            <a:off x="228600" y="37490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회전수: 직전 1등판 약 </a:t>
            </a:r>
            <a:r>
              <a:rPr lang="en-US" sz="1300" b="1" dirty="0">
                <a:solidFill>
                  <a:schemeClr val="tx1"/>
                </a:solidFill>
              </a:rPr>
              <a:t>−10 rpm</a:t>
            </a:r>
            <a:r>
              <a:rPr lang="en-US" sz="1300" dirty="0">
                <a:solidFill>
                  <a:schemeClr val="tx1"/>
                </a:solidFill>
              </a:rPr>
              <a:t> (전체 −10.4, 팔 관련 −10.9). 5등판으로 넓히면 95% CI가 0을 포함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회전수/구속 비율: 전체 IL의 직전 1등판만 0보다 작고 (−0.045), 팔 관련 IL은 모든 구간에서 0을 포함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(5) 구속 집단별 같은 해 IL 등재율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Velocity group IL rate" descr="/tmp/claude-0/-home-user-timeseries/2d02c38b-48df-5b9a-b0cc-ec9424e3cff2/scratchpad/figs_ko/k11_velocit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914400"/>
            <a:ext cx="5669280" cy="3191256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228600" y="4133088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같은 해·같은 투구손 평균보다 빠른 투수(빨강)와 느린 투수(파랑)의 같은 해 IL 등재율</a:t>
            </a:r>
            <a:endParaRPr lang="en-US" sz="950" dirty="0"/>
          </a:p>
        </p:txBody>
      </p:sp>
      <p:sp>
        <p:nvSpPr>
          <p:cNvPr id="11" name="Bullets"/>
          <p:cNvSpPr txBox="1"/>
          <p:nvPr/>
        </p:nvSpPr>
        <p:spPr>
          <a:xfrm>
            <a:off x="6080760" y="100584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투수 집단끼리 비교: 연도·투구손별 평균 구속보다 빠른가 느린가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빠른 집단이 더 높은 경우는 </a:t>
            </a:r>
            <a:r>
              <a:rPr lang="en-US" sz="1300" b="1" dirty="0">
                <a:solidFill>
                  <a:schemeClr val="tx1"/>
                </a:solidFill>
              </a:rPr>
              <a:t>24개 조합 중 12개</a:t>
            </a:r>
            <a:r>
              <a:rPr lang="en-US" sz="1300" dirty="0">
                <a:solidFill>
                  <a:schemeClr val="tx1"/>
                </a:solidFill>
              </a:rPr>
              <a:t>. 방향이 일관되지 않다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tcher Injury Proposal">
  <a:themeElements>
    <a:clrScheme name="Pitcher Injury Proposal">
      <a:dk1>
        <a:srgbClr val="000000"/>
      </a:dk1>
      <a:lt1>
        <a:srgbClr val="FFFFFF"/>
      </a:lt1>
      <a:dk2>
        <a:srgbClr val="0F2D5C"/>
      </a:dk2>
      <a:lt2>
        <a:srgbClr val="DCE6F2"/>
      </a:lt2>
      <a:accent1>
        <a:srgbClr val="2E6DB4"/>
      </a:accent1>
      <a:accent2>
        <a:srgbClr val="C0504D"/>
      </a:accent2>
      <a:accent3>
        <a:srgbClr val="F6D5D5"/>
      </a:accent3>
      <a:accent4>
        <a:srgbClr val="555555"/>
      </a:accent4>
      <a:accent5>
        <a:srgbClr val="666666"/>
      </a:accent5>
      <a:accent6>
        <a:srgbClr val="F2F2F2"/>
      </a:accent6>
      <a:hlink>
        <a:srgbClr val="2E6DB4"/>
      </a:hlink>
      <a:folHlink>
        <a:srgbClr val="0F2D5C"/>
      </a:folHlink>
    </a:clrScheme>
    <a:fontScheme name="Pitcher Injury Proposal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투구 트래킹 시계열 기반 투수 부상 조기 경보</dc:title>
  <dc:subject>PptxGenJS Presentation</dc:subject>
  <dc:creator>PptxGenJS</dc:creator>
  <cp:lastModifiedBy>PptxGenJS</cp:lastModifiedBy>
  <cp:revision>1</cp:revision>
  <dcterms:created xsi:type="dcterms:W3CDTF">2026-10-23T09:09:30Z</dcterms:created>
  <dcterms:modified xsi:type="dcterms:W3CDTF">2026-10-23T09:09:30Z</dcterms:modified>
</cp:coreProperties>
</file>