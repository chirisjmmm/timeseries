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858036f-caae-21cb-37ff-16aea369c069}">
          <p14:sldIdLst>
            <p14:sldId id="256"/>
          </p14:sldIdLst>
        </p14:section>
        <p14:section name="Contents" id="{57a874a7-1a98-b8f2-aaaf-90ae6ada75b6}">
          <p14:sldIdLst>
            <p14:sldId id="257"/>
          </p14:sldIdLst>
        </p14:section>
        <p14:section name="Background" id="{70b2726a-2bc4-4388-55d4-70f6b485d598}">
          <p14:sldIdLst>
            <p14:sldId id="258"/>
            <p14:sldId id="259"/>
          </p14:sldIdLst>
        </p14:section>
        <p14:section name="Related work" id="{90693763-4040-b898-5ac4-fe21c34f6de3}">
          <p14:sldIdLst>
            <p14:sldId id="260"/>
            <p14:sldId id="261"/>
            <p14:sldId id="262"/>
            <p14:sldId id="263"/>
          </p14:sldIdLst>
        </p14:section>
        <p14:section name="Data" id="{109ae165-854d-2061-98bc-5652a595dd1f}">
          <p14:sldIdLst>
            <p14:sldId id="264"/>
            <p14:sldId id="265"/>
          </p14:sldIdLst>
        </p14:section>
        <p14:section name="Method" id="{980cb50c-6924-fd67-5a19-12e557c3855e}">
          <p14:sldIdLst>
            <p14:sldId id="266"/>
            <p14:sldId id="267"/>
            <p14:sldId id="268"/>
          </p14:sldIdLst>
        </p14:section>
        <p14:section name="EDA" id="{e4a45b8c-8ece-e657-1a21-34580d7211ff}">
          <p14:sldIdLst>
            <p14:sldId id="269"/>
            <p14:sldId id="270"/>
            <p14:sldId id="271"/>
            <p14:sldId id="272"/>
            <p14:sldId id="273"/>
          </p14:sldIdLst>
        </p14:section>
        <p14:section name="Thank you" id="{3834eb95-eb44-04bb-eda5-02ae41bc3bec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50" b="0" i="0" u="none" strike="noStrike">
                <a:solidFill>
                  <a:srgbClr val="000000"/>
                </a:solidFill>
                <a:latin typeface="+mn-lt"/>
              </a:rPr>
              <a:t>IL placements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 placements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</c:v>
                </c:pt>
                <c:pt idx="1">
                  <c:v>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3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50" b="0" i="0" u="none" strike="noStrike">
                <a:solidFill>
                  <a:srgbClr val="000000"/>
                </a:solidFill>
                <a:latin typeface="+mn-lt"/>
              </a:rPr>
              <a:t>Days on the IL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on the IL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13666</c:v>
                </c:pt>
                <c:pt idx="1">
                  <c:v>32257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193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50" b="0" i="0" u="none" strike="noStrike">
                <a:solidFill>
                  <a:srgbClr val="000000"/>
                </a:solidFill>
                <a:latin typeface="+mn-lt"/>
              </a:rPr>
              <a:t>Elbow-injury IL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Elbow-injury IL days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3940</c:v>
                </c:pt>
                <c:pt idx="1">
                  <c:v>12185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84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imeseries/2d02c38b-48df-5b9a-b0cc-ec9424e3cff2/scratchpad/build/cove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pic>
        <p:nvPicPr>
          <p:cNvPr id="3" name="Image 1" descr="/tmp/claude-0/-home-user-timeseries/2d02c38b-48df-5b9a-b0cc-ec9424e3cff2/scratchpad/build/cover_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9144000" cy="457200"/>
          </a:xfrm>
          <a:prstGeom prst="rect">
            <a:avLst/>
          </a:prstGeom>
        </p:spPr>
      </p:pic>
      <p:pic>
        <p:nvPicPr>
          <p:cNvPr id="4" name="Image 2" descr="/tmp/claude-0/-home-user-timeseries/2d02c38b-48df-5b9a-b0cc-ec9424e3cff2/scratchpad/build/cover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5184"/>
            <a:ext cx="9144000" cy="118872"/>
          </a:xfrm>
          <a:prstGeom prst="rect">
            <a:avLst/>
          </a:prstGeom>
        </p:spPr>
      </p:pic>
      <p:pic>
        <p:nvPicPr>
          <p:cNvPr id="5" name="Image 3" descr="/tmp/claude-0/-home-user-timeseries/2d02c38b-48df-5b9a-b0cc-ec9424e3cff2/scratchpad/build/cover_bar_fa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4056"/>
            <a:ext cx="9144000" cy="137160"/>
          </a:xfrm>
          <a:prstGeom prst="rect">
            <a:avLst/>
          </a:prstGeom>
        </p:spPr>
      </p:pic>
      <p:pic>
        <p:nvPicPr>
          <p:cNvPr id="6" name="Image 4" descr="/tmp/claude-0/-home-user-timeseries/2d02c38b-48df-5b9a-b0cc-ec9424e3cff2/scratchpad/build/fo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8753"/>
            <a:ext cx="9144000" cy="34747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5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914400" y="306324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imeseries/2d02c38b-48df-5b9a-b0cc-ec9424e3cff2/scratchpad/logos/foot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2064"/>
            <a:ext cx="6537960" cy="323698"/>
          </a:xfrm>
          <a:prstGeom prst="rect">
            <a:avLst/>
          </a:prstGeom>
        </p:spPr>
      </p:pic>
      <p:pic>
        <p:nvPicPr>
          <p:cNvPr id="3" name="Image 1" descr="/tmp/claude-0/-home-user-timeseries/2d02c38b-48df-5b9a-b0cc-ec9424e3cff2/scratchpad/build/r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248"/>
            <a:ext cx="8503920" cy="32004"/>
          </a:xfrm>
          <a:prstGeom prst="rect">
            <a:avLst/>
          </a:prstGeom>
        </p:spPr>
      </p:pic>
      <p:pic>
        <p:nvPicPr>
          <p:cNvPr id="4" name="Image 2" descr="/tmp/claude-0/-home-user-timeseries/2d02c38b-48df-5b9a-b0cc-ec9424e3cff2/scratchpad/build/fo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8753"/>
            <a:ext cx="9144000" cy="34747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Early Warning of Pitcher Arm Injuries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Pitch-Tracking Time Series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914400" y="30632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MLB Statcast, 2021–2026 regular seasons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2026.10.27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Department of Data Science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Soyeon Kim · Minseo Jeong · Donghan Kang · Minseok Choi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Contents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Outline</a:t>
            </a:r>
            <a:endParaRPr lang="en-US" sz="1600" dirty="0"/>
          </a:p>
        </p:txBody>
      </p:sp>
      <p:sp>
        <p:nvSpPr>
          <p:cNvPr id="4" name="Agenda number 1"/>
          <p:cNvSpPr txBox="1"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Agenda item 1"/>
          <p:cNvSpPr txBox="1"/>
          <p:nvPr/>
        </p:nvSpPr>
        <p:spPr>
          <a:xfrm>
            <a:off x="1188720" y="1097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Background</a:t>
            </a:r>
            <a:r>
              <a:rPr lang="en-US" sz="1250" dirty="0">
                <a:solidFill>
                  <a:schemeClr val="accent5"/>
                </a:solidFill>
              </a:rPr>
              <a:t>   Problem statement, injury trends, why time series</a:t>
            </a:r>
            <a:endParaRPr lang="en-US" sz="1800" dirty="0"/>
          </a:p>
        </p:txBody>
      </p:sp>
      <p:sp>
        <p:nvSpPr>
          <p:cNvPr id="6" name="Agenda rule light"/>
          <p:cNvSpPr/>
          <p:nvPr/>
        </p:nvSpPr>
        <p:spPr>
          <a:xfrm>
            <a:off x="548640" y="1719072"/>
            <a:ext cx="8046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Agenda page 1"/>
          <p:cNvSpPr txBox="1"/>
          <p:nvPr/>
        </p:nvSpPr>
        <p:spPr>
          <a:xfrm>
            <a:off x="7498080" y="1097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3–4</a:t>
            </a:r>
            <a:endParaRPr lang="en-US" sz="1400" dirty="0"/>
          </a:p>
        </p:txBody>
      </p:sp>
      <p:sp>
        <p:nvSpPr>
          <p:cNvPr id="8" name="Agenda number 2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Agenda item 2"/>
          <p:cNvSpPr txBox="1"/>
          <p:nvPr/>
        </p:nvSpPr>
        <p:spPr>
          <a:xfrm>
            <a:off x="118872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Related work</a:t>
            </a:r>
            <a:r>
              <a:rPr lang="en-US" sz="1250" dirty="0">
                <a:solidFill>
                  <a:schemeClr val="accent5"/>
                </a:solidFill>
              </a:rPr>
              <a:t>   Studies in four topics, limitations, our novelty</a:t>
            </a:r>
            <a:endParaRPr lang="en-US" sz="1800" dirty="0"/>
          </a:p>
        </p:txBody>
      </p:sp>
      <p:sp>
        <p:nvSpPr>
          <p:cNvPr id="10" name="Agenda rule light"/>
          <p:cNvSpPr/>
          <p:nvPr/>
        </p:nvSpPr>
        <p:spPr>
          <a:xfrm>
            <a:off x="548640" y="2450592"/>
            <a:ext cx="8046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Agenda page 2"/>
          <p:cNvSpPr txBox="1"/>
          <p:nvPr/>
        </p:nvSpPr>
        <p:spPr>
          <a:xfrm>
            <a:off x="749808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5–8</a:t>
            </a:r>
            <a:endParaRPr lang="en-US" sz="1400" dirty="0"/>
          </a:p>
        </p:txBody>
      </p:sp>
      <p:sp>
        <p:nvSpPr>
          <p:cNvPr id="12" name="Agenda number 3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Agenda item 3"/>
          <p:cNvSpPr txBox="1"/>
          <p:nvPr/>
        </p:nvSpPr>
        <p:spPr>
          <a:xfrm>
            <a:off x="11887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</a:t>
            </a:r>
            <a:r>
              <a:rPr lang="en-US" sz="1250" dirty="0">
                <a:solidFill>
                  <a:schemeClr val="accent5"/>
                </a:solidFill>
              </a:rPr>
              <a:t>   MLB Statcast 2021–2026, unit of analysis, variables</a:t>
            </a:r>
            <a:endParaRPr lang="en-US" sz="1800" dirty="0"/>
          </a:p>
        </p:txBody>
      </p:sp>
      <p:sp>
        <p:nvSpPr>
          <p:cNvPr id="14" name="Agenda rule light"/>
          <p:cNvSpPr/>
          <p:nvPr/>
        </p:nvSpPr>
        <p:spPr>
          <a:xfrm>
            <a:off x="548640" y="3182112"/>
            <a:ext cx="8046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Agenda page 3"/>
          <p:cNvSpPr txBox="1"/>
          <p:nvPr/>
        </p:nvSpPr>
        <p:spPr>
          <a:xfrm>
            <a:off x="749808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9–10</a:t>
            </a:r>
            <a:endParaRPr lang="en-US" sz="1400" dirty="0"/>
          </a:p>
        </p:txBody>
      </p:sp>
      <p:sp>
        <p:nvSpPr>
          <p:cNvPr id="16" name="Agenda number 4"/>
          <p:cNvSpPr txBox="1"/>
          <p:nvPr/>
        </p:nvSpPr>
        <p:spPr>
          <a:xfrm>
            <a:off x="5486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04</a:t>
            </a:r>
            <a:endParaRPr lang="en-US" sz="2000" dirty="0"/>
          </a:p>
        </p:txBody>
      </p:sp>
      <p:sp>
        <p:nvSpPr>
          <p:cNvPr id="17" name="Agenda item 4"/>
          <p:cNvSpPr txBox="1"/>
          <p:nvPr/>
        </p:nvSpPr>
        <p:spPr>
          <a:xfrm>
            <a:off x="11887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Method</a:t>
            </a:r>
            <a:r>
              <a:rPr lang="en-US" sz="1250" dirty="0">
                <a:solidFill>
                  <a:schemeClr val="accent5"/>
                </a:solidFill>
              </a:rPr>
              <a:t>   Research questions, framework, split · models · metrics</a:t>
            </a:r>
            <a:endParaRPr lang="en-US" sz="1800" dirty="0"/>
          </a:p>
        </p:txBody>
      </p:sp>
      <p:sp>
        <p:nvSpPr>
          <p:cNvPr id="18" name="Agenda rule light"/>
          <p:cNvSpPr/>
          <p:nvPr/>
        </p:nvSpPr>
        <p:spPr>
          <a:xfrm>
            <a:off x="548640" y="3913632"/>
            <a:ext cx="8046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Agenda page 4"/>
          <p:cNvSpPr txBox="1"/>
          <p:nvPr/>
        </p:nvSpPr>
        <p:spPr>
          <a:xfrm>
            <a:off x="7498080" y="3291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11–13</a:t>
            </a:r>
            <a:endParaRPr lang="en-US" sz="1400" dirty="0"/>
          </a:p>
        </p:txBody>
      </p:sp>
      <p:sp>
        <p:nvSpPr>
          <p:cNvPr id="20" name="Agenda number 5"/>
          <p:cNvSpPr txBox="1"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05</a:t>
            </a:r>
            <a:endParaRPr lang="en-US" sz="2000" dirty="0"/>
          </a:p>
        </p:txBody>
      </p:sp>
      <p:sp>
        <p:nvSpPr>
          <p:cNvPr id="21" name="Agenda item 5"/>
          <p:cNvSpPr txBox="1"/>
          <p:nvPr/>
        </p:nvSpPr>
        <p:spPr>
          <a:xfrm>
            <a:off x="118872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EDA</a:t>
            </a:r>
            <a:r>
              <a:rPr lang="en-US" sz="1250" dirty="0">
                <a:solidFill>
                  <a:schemeClr val="accent5"/>
                </a:solidFill>
              </a:rPr>
              <a:t>   Velocity trend, injury sites, pre-IL velocity and spin</a:t>
            </a:r>
            <a:endParaRPr lang="en-US" sz="1800" dirty="0"/>
          </a:p>
        </p:txBody>
      </p:sp>
      <p:sp>
        <p:nvSpPr>
          <p:cNvPr id="22" name="Agenda rule light"/>
          <p:cNvSpPr/>
          <p:nvPr/>
        </p:nvSpPr>
        <p:spPr>
          <a:xfrm>
            <a:off x="548640" y="4645152"/>
            <a:ext cx="8046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3" name="Agenda page 5"/>
          <p:cNvSpPr txBox="1"/>
          <p:nvPr/>
        </p:nvSpPr>
        <p:spPr>
          <a:xfrm>
            <a:off x="749808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14–18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Background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Problem statement: what and why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Problem statement"/>
          <p:cNvSpPr/>
          <p:nvPr/>
        </p:nvSpPr>
        <p:spPr>
          <a:xfrm>
            <a:off x="274320" y="978408"/>
            <a:ext cx="8595360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Goal  </a:t>
            </a:r>
            <a:r>
              <a:rPr lang="en-US" sz="1300" dirty="0">
                <a:solidFill>
                  <a:schemeClr val="tx1"/>
                </a:solidFill>
              </a:rPr>
              <a:t>Detect departures from a pitcher's own normal in per-appearance velocity, velocity variability, and release point, and raise a warning before an arm-injury IL placement</a:t>
            </a:r>
            <a:endParaRPr lang="en-US" sz="1300" dirty="0"/>
          </a:p>
        </p:txBody>
      </p:sp>
      <p:graphicFrame>
        <p:nvGraphicFramePr>
          <p:cNvPr id="10" name="Chart IL placements" descr=""/>
          <p:cNvGraphicFramePr/>
          <p:nvPr/>
        </p:nvGraphicFramePr>
        <p:xfrm>
          <a:off x="274320" y="1572768"/>
          <a:ext cx="2798064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Chart Days on the IL" descr=""/>
          <p:cNvGraphicFramePr/>
          <p:nvPr/>
        </p:nvGraphicFramePr>
        <p:xfrm>
          <a:off x="3172968" y="1572768"/>
          <a:ext cx="2798064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Chart Elbow-injury IL days" descr=""/>
          <p:cNvGraphicFramePr/>
          <p:nvPr/>
        </p:nvGraphicFramePr>
        <p:xfrm>
          <a:off x="6071616" y="1572768"/>
          <a:ext cx="2798064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Caption"/>
          <p:cNvSpPr txBox="1"/>
          <p:nvPr/>
        </p:nvSpPr>
        <p:spPr>
          <a:xfrm>
            <a:off x="274320" y="3035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MLB pitcher injuries, 2005 vs 2024 (AP)</a:t>
            </a:r>
            <a:endParaRPr lang="en-US" sz="950" dirty="0"/>
          </a:p>
        </p:txBody>
      </p:sp>
      <p:sp>
        <p:nvSpPr>
          <p:cNvPr id="14" name="Bullets"/>
          <p:cNvSpPr txBox="1"/>
          <p:nvPr/>
        </p:nvSpPr>
        <p:spPr>
          <a:xfrm>
            <a:off x="228600" y="3310128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IL placements </a:t>
            </a:r>
            <a:r>
              <a:rPr lang="en-US" sz="1300" b="1" dirty="0">
                <a:solidFill>
                  <a:schemeClr val="tx1"/>
                </a:solidFill>
              </a:rPr>
              <a:t>212 → 485</a:t>
            </a:r>
            <a:r>
              <a:rPr lang="en-US" sz="1300" dirty="0">
                <a:solidFill>
                  <a:schemeClr val="tx1"/>
                </a:solidFill>
              </a:rPr>
              <a:t>, IL days </a:t>
            </a:r>
            <a:r>
              <a:rPr lang="en-US" sz="1300" b="1" dirty="0">
                <a:solidFill>
                  <a:schemeClr val="tx1"/>
                </a:solidFill>
              </a:rPr>
              <a:t>13,666 → 32,257</a:t>
            </a:r>
            <a:r>
              <a:rPr lang="en-US" sz="1300" dirty="0">
                <a:solidFill>
                  <a:schemeClr val="tx1"/>
                </a:solidFill>
              </a:rPr>
              <a:t>; elbow-injury IL days roughly </a:t>
            </a:r>
            <a:r>
              <a:rPr lang="en-US" sz="1300" b="1" dirty="0">
                <a:solidFill>
                  <a:schemeClr val="tx1"/>
                </a:solidFill>
              </a:rPr>
              <a:t>tripled</a:t>
            </a:r>
            <a:r>
              <a:rPr lang="en-US" sz="1300" dirty="0">
                <a:solidFill>
                  <a:schemeClr val="tx1"/>
                </a:solidFill>
              </a:rPr>
              <a:t> (3,940 → 12,185)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Shoulder and elbow injuries, 2015–2025: </a:t>
            </a:r>
            <a:r>
              <a:rPr lang="en-US" sz="1300" b="1" dirty="0">
                <a:solidFill>
                  <a:schemeClr val="tx1"/>
                </a:solidFill>
              </a:rPr>
              <a:t>1,122</a:t>
            </a:r>
            <a:r>
              <a:rPr lang="en-US" sz="1300" dirty="0">
                <a:solidFill>
                  <a:schemeClr val="tx1"/>
                </a:solidFill>
              </a:rPr>
              <a:t> pitchers, </a:t>
            </a:r>
            <a:r>
              <a:rPr lang="en-US" sz="1300" b="1" dirty="0">
                <a:solidFill>
                  <a:schemeClr val="tx1"/>
                </a:solidFill>
              </a:rPr>
              <a:t>2,365</a:t>
            </a:r>
            <a:r>
              <a:rPr lang="en-US" sz="1300" dirty="0">
                <a:solidFill>
                  <a:schemeClr val="tx1"/>
                </a:solidFill>
              </a:rPr>
              <a:t> IL placements, about </a:t>
            </a:r>
            <a:r>
              <a:rPr lang="en-US" sz="1300" b="1" dirty="0">
                <a:solidFill>
                  <a:schemeClr val="tx1"/>
                </a:solidFill>
              </a:rPr>
              <a:t>$3.33B</a:t>
            </a:r>
            <a:r>
              <a:rPr lang="en-US" sz="1300" dirty="0">
                <a:solidFill>
                  <a:schemeClr val="tx1"/>
                </a:solidFill>
              </a:rPr>
              <a:t> in lost salary (Dillon et al., OJSM)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Once a pitcher is on the IL, the loss has already happened. The real question is not who is at risk but </a:t>
            </a:r>
            <a:r>
              <a:rPr lang="en-US" sz="1300" b="1" dirty="0">
                <a:solidFill>
                  <a:schemeClr val="tx1"/>
                </a:solidFill>
              </a:rPr>
              <a:t>when to rest him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Catching early signs lets teams adjust rest days, manage workload, or give rest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Background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this is a time-series problem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Cross vertical"/>
          <p:cNvSpPr/>
          <p:nvPr/>
        </p:nvSpPr>
        <p:spPr>
          <a:xfrm>
            <a:off x="4572000" y="1051560"/>
            <a:ext cx="0" cy="36576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Cross horizontal"/>
          <p:cNvSpPr/>
          <p:nvPr/>
        </p:nvSpPr>
        <p:spPr>
          <a:xfrm>
            <a:off x="274320" y="2880360"/>
            <a:ext cx="85953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Autocorrelation"/>
          <p:cNvSpPr txBox="1"/>
          <p:nvPr/>
        </p:nvSpPr>
        <p:spPr>
          <a:xfrm>
            <a:off x="320040" y="107899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Autocorrelation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signal is defined only as a deviation from the pitcher's own past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Shuffle the order of appearances and the signal disappears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 we can forecast the next value from the past and monitor the residual</a:t>
            </a:r>
            <a:endParaRPr lang="en-US" sz="1600" dirty="0"/>
          </a:p>
        </p:txBody>
      </p:sp>
      <p:sp>
        <p:nvSpPr>
          <p:cNvPr id="12" name="Trend"/>
          <p:cNvSpPr txBox="1"/>
          <p:nvPr/>
        </p:nvSpPr>
        <p:spPr>
          <a:xfrm>
            <a:off x="4800600" y="107899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Trend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'velocity revolution' keeps raising league four-seam velocity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93.69 → 94.77 mph (2021→2026): +1.08, up every single season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component that must be removed before judging a pitcher's anomaly</a:t>
            </a:r>
            <a:endParaRPr lang="en-US" sz="1600" dirty="0"/>
          </a:p>
        </p:txBody>
      </p:sp>
      <p:sp>
        <p:nvSpPr>
          <p:cNvPr id="13" name="Seasonality"/>
          <p:cNvSpPr txBox="1"/>
          <p:nvPr/>
        </p:nvSpPr>
        <p:spPr>
          <a:xfrm>
            <a:off x="320040" y="3017520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Seasonality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Velocity is higher later in the season than early on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2025: April 94.18 → June 94.61 mph, then flat; 2024 has the same shape (94.04 → 94.40)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Injuries themselves also tend to cluster in certain parts of the season</a:t>
            </a:r>
            <a:endParaRPr lang="en-US" sz="1600" dirty="0"/>
          </a:p>
        </p:txBody>
      </p:sp>
      <p:sp>
        <p:nvSpPr>
          <p:cNvPr id="14" name="Exogenous variables"/>
          <p:cNvSpPr txBox="1"/>
          <p:nvPr/>
        </p:nvSpPr>
        <p:spPr>
          <a:xfrm>
            <a:off x="4800600" y="3017520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Exogenous variables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Rest days (days since the last appearance)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Pitches thrown in the last 7 / 14 / 28 days, ACWR (acute : chronic workload)</a:t>
            </a:r>
            <a:endParaRPr lang="en-US" sz="1600" dirty="0"/>
          </a:p>
          <a:p>
            <a:pPr marL="165100" indent="-165100">
              <a:spcBef>
                <a:spcPts val="300"/>
              </a:spcBef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Separate velocity changes explained by rest and workload from injury signals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Related work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(1) Velocity–injury link · normal vs. pre-injury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graphicFrame>
        <p:nvGraphicFramePr>
          <p:cNvPr id="6" name="Related work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606040"/>
                <a:gridCol w="2331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 · method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Key result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Limitation (vs. ours)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Topic 1. Studies supporting the premise that velocity is linked to injury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Prodromo et al. (2016)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UCLR pitchers vs. age-matched controls (2002–2015)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Case-control, conditional logistic regression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Higher velocity in the season before surgery; mean fastball velocity was significant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Compares pitchers with season averages → cannot tell when change happens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Topic 2. Studies comparing a pitcher's normal with the pre-injury period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Mastroianni et al. (2026)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78 UCL-surgery pitchers vs. 156 matched controls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Within-pitcher change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Gradual velocity drop over the last 5 appearances (P = .019); larger horizontal release variability (P = .005)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Retrospective; no AUC or lead time reported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Ozaki (2026, MS thesis)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46 UCLR pitchers (2016–2024)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Autoencoder anomaly detection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Anomaly grew 2.7× closer to injury; code and 45 matched pairs released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Healthy pitchers also flagged (73% vs. 66%); time order ignored on purpose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Related work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(2) Time-series methods · exogenous variables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graphicFrame>
        <p:nvGraphicFramePr>
          <p:cNvPr id="7" name="Related work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606040"/>
                <a:gridCol w="2331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 · method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Key result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Limitation (vs. ours)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Topic 3. Studies using time-series methods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Mayo et al. (2021)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Last 15 games before UCLR, 223 pitchers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Mann-Kendall trend test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Four-seam velocity fell ~0.1 mph per game (tau = −0.657, P &lt; .001); spin fell ~5 rpm per game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healthy controls; no alert rule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Bright et al. (2026)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3D pose from broadcast video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Screened 7,348 pitchers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AUC 0.811 for Tommy John surgery, 0.825 for severe arm injury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Video estimates; point-in-time screening, not a per-pitcher time-series alert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Topic 4. Studies on exogenous variables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Slowik et al. (2021)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17 college pitchers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ACWR with a ROC-chosen cutoff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ACWR change beyond ±33% → 8.3× next-week injury risk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Small sample (95% CI 1.8–54.1); 3-week chronic window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Related work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Limitations of previous studies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Label Limitation 1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Limitation 1</a:t>
            </a:r>
            <a:endParaRPr lang="en-US" sz="1300" dirty="0"/>
          </a:p>
        </p:txBody>
      </p:sp>
      <p:sp>
        <p:nvSpPr>
          <p:cNvPr id="10" name="Limit 1"/>
          <p:cNvSpPr/>
          <p:nvPr/>
        </p:nvSpPr>
        <p:spPr>
          <a:xfrm>
            <a:off x="274320" y="1325880"/>
            <a:ext cx="2743200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Injured vs. healthy pitchers compared with season averages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1463040" y="2743200"/>
            <a:ext cx="365760" cy="365760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 What is needed"/>
          <p:cNvSpPr txBox="1"/>
          <p:nvPr/>
        </p:nvSpPr>
        <p:spPr>
          <a:xfrm>
            <a:off x="2743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is needed</a:t>
            </a:r>
            <a:endParaRPr lang="en-US" sz="1300" dirty="0"/>
          </a:p>
        </p:txBody>
      </p:sp>
      <p:sp>
        <p:nvSpPr>
          <p:cNvPr id="13" name="Need 1"/>
          <p:cNvSpPr/>
          <p:nvPr/>
        </p:nvSpPr>
        <p:spPr>
          <a:xfrm>
            <a:off x="274320" y="3520440"/>
            <a:ext cx="2743200" cy="1188720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change against each pitcher's own time series</a:t>
            </a:r>
            <a:endParaRPr lang="en-US" sz="1200" dirty="0"/>
          </a:p>
        </p:txBody>
      </p:sp>
      <p:sp>
        <p:nvSpPr>
          <p:cNvPr id="14" name="Label Limitation 2"/>
          <p:cNvSpPr txBox="1"/>
          <p:nvPr/>
        </p:nvSpPr>
        <p:spPr>
          <a:xfrm>
            <a:off x="32004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Limitation 2</a:t>
            </a:r>
            <a:endParaRPr lang="en-US" sz="1300" dirty="0"/>
          </a:p>
        </p:txBody>
      </p:sp>
      <p:sp>
        <p:nvSpPr>
          <p:cNvPr id="15" name="Limit 2"/>
          <p:cNvSpPr/>
          <p:nvPr/>
        </p:nvSpPr>
        <p:spPr>
          <a:xfrm>
            <a:off x="3200400" y="1325880"/>
            <a:ext cx="2743200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Trend tests only: no alert rule, no false-alarm count</a:t>
            </a:r>
            <a:endParaRPr lang="en-US" sz="1200" dirty="0"/>
          </a:p>
        </p:txBody>
      </p:sp>
      <p:sp>
        <p:nvSpPr>
          <p:cNvPr id="16" name="Arrow"/>
          <p:cNvSpPr/>
          <p:nvPr/>
        </p:nvSpPr>
        <p:spPr>
          <a:xfrm>
            <a:off x="4389120" y="2743200"/>
            <a:ext cx="365760" cy="365760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 What is needed"/>
          <p:cNvSpPr txBox="1"/>
          <p:nvPr/>
        </p:nvSpPr>
        <p:spPr>
          <a:xfrm>
            <a:off x="32004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is needed</a:t>
            </a:r>
            <a:endParaRPr lang="en-US" sz="1300" dirty="0"/>
          </a:p>
        </p:txBody>
      </p:sp>
      <p:sp>
        <p:nvSpPr>
          <p:cNvPr id="18" name="Need 2"/>
          <p:cNvSpPr/>
          <p:nvPr/>
        </p:nvSpPr>
        <p:spPr>
          <a:xfrm>
            <a:off x="3200400" y="3520440"/>
            <a:ext cx="2743200" cy="1188720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 alert system judged by lead time and false alarms</a:t>
            </a:r>
            <a:endParaRPr lang="en-US" sz="1200" dirty="0"/>
          </a:p>
        </p:txBody>
      </p:sp>
      <p:sp>
        <p:nvSpPr>
          <p:cNvPr id="19" name="Label Limitation 3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Limitation 3</a:t>
            </a:r>
            <a:endParaRPr lang="en-US" sz="1300" dirty="0"/>
          </a:p>
        </p:txBody>
      </p:sp>
      <p:sp>
        <p:nvSpPr>
          <p:cNvPr id="20" name="Limit 3"/>
          <p:cNvSpPr/>
          <p:nvPr/>
        </p:nvSpPr>
        <p:spPr>
          <a:xfrm>
            <a:off x="6126480" y="1325880"/>
            <a:ext cx="2743200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Appearances treated as independent or averaged over a season (autocorrelation ignored)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7315200" y="2743200"/>
            <a:ext cx="365760" cy="365760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Label What is needed"/>
          <p:cNvSpPr txBox="1"/>
          <p:nvPr/>
        </p:nvSpPr>
        <p:spPr>
          <a:xfrm>
            <a:off x="61264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is needed</a:t>
            </a:r>
            <a:endParaRPr lang="en-US" sz="1300" dirty="0"/>
          </a:p>
        </p:txBody>
      </p:sp>
      <p:sp>
        <p:nvSpPr>
          <p:cNvPr id="23" name="Need 3"/>
          <p:cNvSpPr/>
          <p:nvPr/>
        </p:nvSpPr>
        <p:spPr>
          <a:xfrm>
            <a:off x="6126480" y="3520440"/>
            <a:ext cx="2743200" cy="1188720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time-series model that forecasts the next appearance from past ones and monitors the residual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Related work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Novelty of our approach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Core idea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Core idea  </a:t>
            </a:r>
            <a:r>
              <a:rPr lang="en-US" sz="1350" b="1" dirty="0">
                <a:solidFill>
                  <a:schemeClr val="tx1"/>
                </a:solidFill>
              </a:rPr>
              <a:t>a per-pitcher time-series baseline; monitor the gap (residual) between actual velocity and the velocity forecast from his own past</a:t>
            </a:r>
            <a:endParaRPr lang="en-US" sz="1200" dirty="0"/>
          </a:p>
        </p:txBody>
      </p:sp>
      <p:sp>
        <p:nvSpPr>
          <p:cNvPr id="10" name="Novelty card 1"/>
          <p:cNvSpPr/>
          <p:nvPr/>
        </p:nvSpPr>
        <p:spPr>
          <a:xfrm>
            <a:off x="274320" y="1737360"/>
            <a:ext cx="4206240" cy="2971800"/>
          </a:xfrm>
          <a:prstGeom prst="rect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Novelty title 1"/>
          <p:cNvSpPr txBox="1"/>
          <p:nvPr/>
        </p:nvSpPr>
        <p:spPr>
          <a:xfrm>
            <a:off x="457200" y="1856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 </a:t>
            </a:r>
            <a:r>
              <a:rPr lang="en-US" sz="1600" b="1" dirty="0">
                <a:solidFill>
                  <a:schemeClr val="tx1"/>
                </a:solidFill>
              </a:rPr>
              <a:t>Multivariate time series on open data</a:t>
            </a:r>
            <a:endParaRPr lang="en-US" sz="1800" dirty="0"/>
          </a:p>
        </p:txBody>
      </p:sp>
      <p:sp>
        <p:nvSpPr>
          <p:cNvPr id="12" name="Novelty chip"/>
          <p:cNvSpPr/>
          <p:nvPr/>
        </p:nvSpPr>
        <p:spPr>
          <a:xfrm>
            <a:off x="457200" y="2560320"/>
            <a:ext cx="3840480" cy="566928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Performance   </a:t>
            </a:r>
            <a:r>
              <a:rPr lang="en-US" sz="1300" dirty="0">
                <a:solidFill>
                  <a:schemeClr val="tx1"/>
                </a:solidFill>
              </a:rPr>
              <a:t>velocity · variability · release</a:t>
            </a:r>
            <a:endParaRPr lang="en-US" sz="1200" dirty="0"/>
          </a:p>
        </p:txBody>
      </p:sp>
      <p:sp>
        <p:nvSpPr>
          <p:cNvPr id="13" name="Novelty chip"/>
          <p:cNvSpPr/>
          <p:nvPr/>
        </p:nvSpPr>
        <p:spPr>
          <a:xfrm>
            <a:off x="457200" y="3236976"/>
            <a:ext cx="3840480" cy="566928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Workload   </a:t>
            </a:r>
            <a:r>
              <a:rPr lang="en-US" sz="1300" dirty="0">
                <a:solidFill>
                  <a:schemeClr val="tx1"/>
                </a:solidFill>
              </a:rPr>
              <a:t>rest days · pitch counts · ACWR</a:t>
            </a:r>
            <a:endParaRPr lang="en-US" sz="1200" dirty="0"/>
          </a:p>
        </p:txBody>
      </p:sp>
      <p:sp>
        <p:nvSpPr>
          <p:cNvPr id="14" name="Novelty note 1"/>
          <p:cNvSpPr txBox="1"/>
          <p:nvPr/>
        </p:nvSpPr>
        <p:spPr>
          <a:xfrm>
            <a:off x="45720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Uses only public Statcast and MLB records → reproducible results</a:t>
            </a:r>
            <a:endParaRPr lang="en-US" sz="1250" dirty="0"/>
          </a:p>
        </p:txBody>
      </p:sp>
      <p:sp>
        <p:nvSpPr>
          <p:cNvPr id="15" name="Novelty card 2"/>
          <p:cNvSpPr/>
          <p:nvPr/>
        </p:nvSpPr>
        <p:spPr>
          <a:xfrm>
            <a:off x="4663440" y="1737360"/>
            <a:ext cx="4206240" cy="2971800"/>
          </a:xfrm>
          <a:prstGeom prst="rect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6" name="Novelty title 2"/>
          <p:cNvSpPr txBox="1"/>
          <p:nvPr/>
        </p:nvSpPr>
        <p:spPr>
          <a:xfrm>
            <a:off x="4846320" y="1856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 </a:t>
            </a:r>
            <a:r>
              <a:rPr lang="en-US" sz="1600" b="1" dirty="0">
                <a:solidFill>
                  <a:schemeClr val="tx1"/>
                </a:solidFill>
              </a:rPr>
              <a:t>Evaluating a real alert system, not just a test</a:t>
            </a:r>
            <a:endParaRPr lang="en-US" sz="1800" dirty="0"/>
          </a:p>
        </p:txBody>
      </p:sp>
      <p:sp>
        <p:nvSpPr>
          <p:cNvPr id="17" name="Novelty chip"/>
          <p:cNvSpPr/>
          <p:nvPr/>
        </p:nvSpPr>
        <p:spPr>
          <a:xfrm>
            <a:off x="4846320" y="2560320"/>
            <a:ext cx="3840480" cy="566928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early?   </a:t>
            </a:r>
            <a:r>
              <a:rPr lang="en-US" sz="1300" dirty="0">
                <a:solidFill>
                  <a:schemeClr val="tx1"/>
                </a:solidFill>
              </a:rPr>
              <a:t>days before the IL placement</a:t>
            </a:r>
            <a:endParaRPr lang="en-US" sz="1200" dirty="0"/>
          </a:p>
        </p:txBody>
      </p:sp>
      <p:sp>
        <p:nvSpPr>
          <p:cNvPr id="18" name="Novelty chip"/>
          <p:cNvSpPr/>
          <p:nvPr/>
        </p:nvSpPr>
        <p:spPr>
          <a:xfrm>
            <a:off x="4846320" y="3236976"/>
            <a:ext cx="3840480" cy="566928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often wrong?   </a:t>
            </a:r>
            <a:r>
              <a:rPr lang="en-US" sz="1300" dirty="0">
                <a:solidFill>
                  <a:schemeClr val="tx1"/>
                </a:solidFill>
              </a:rPr>
              <a:t>false-alarm rate</a:t>
            </a:r>
            <a:endParaRPr lang="en-US" sz="1200" dirty="0"/>
          </a:p>
        </p:txBody>
      </p:sp>
      <p:sp>
        <p:nvSpPr>
          <p:cNvPr id="19" name="Novelty note 2"/>
          <p:cNvSpPr txBox="1"/>
          <p:nvPr/>
        </p:nvSpPr>
        <p:spPr>
          <a:xfrm>
            <a:off x="484632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None of the studies we reviewed reports both lead time and false-alarm rate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Data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Dataset: MLB Statcast (2021–2026)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Bullets"/>
          <p:cNvSpPr txBox="1"/>
          <p:nvPr/>
        </p:nvSpPr>
        <p:spPr>
          <a:xfrm>
            <a:off x="228600" y="987552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Sources</a:t>
            </a:r>
            <a:endParaRPr lang="en-US" sz="17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Pitch data: Baseball Savant </a:t>
            </a:r>
            <a:r>
              <a:rPr lang="en-US" sz="1400" b="1" dirty="0">
                <a:solidFill>
                  <a:schemeClr val="tx1"/>
                </a:solidFill>
              </a:rPr>
              <a:t>Statcast</a:t>
            </a:r>
            <a:r>
              <a:rPr lang="en-US" sz="1400" dirty="0">
                <a:solidFill>
                  <a:schemeClr val="tx1"/>
                </a:solidFill>
              </a:rPr>
              <a:t>, pitch by pitch</a:t>
            </a:r>
            <a:endParaRPr lang="en-US" sz="17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Injury labels: </a:t>
            </a:r>
            <a:r>
              <a:rPr lang="en-US" sz="1400" b="1" dirty="0">
                <a:solidFill>
                  <a:schemeClr val="tx1"/>
                </a:solidFill>
              </a:rPr>
              <a:t>MLB official API transactions</a:t>
            </a:r>
            <a:r>
              <a:rPr lang="en-US" sz="1400" dirty="0">
                <a:solidFill>
                  <a:schemeClr val="tx1"/>
                </a:solidFill>
              </a:rPr>
              <a:t> (IL placement date, body part)</a:t>
            </a:r>
            <a:endParaRPr lang="en-US" sz="17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Temperature: MLB API game weather, filled with Open-Meteo if needed</a:t>
            </a:r>
            <a:endParaRPr lang="en-US" sz="1700" dirty="0"/>
          </a:p>
          <a:p>
            <a:pPr marL="330200" indent="-330200">
              <a:spcBef>
                <a:spcPts val="600"/>
              </a:spcBef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Data info</a:t>
            </a:r>
            <a:endParaRPr lang="en-US" sz="1700" dirty="0"/>
          </a:p>
        </p:txBody>
      </p:sp>
      <p:graphicFrame>
        <p:nvGraphicFramePr>
          <p:cNvPr id="10" name="Data inf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040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2021–2026 regular seasons (6), after the 2017 velocity redefinition and 2020 Hawk-Eye switch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~4.38M pitches · 855–909 pitchers per season · 3,340 IL placements (1,683 arm-related)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Pitches aggregated per pitcher × appearance (irregular spacing)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Key variables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Velocity, release side / height, extension, spin rate, pitch type, pitcher, date, game ID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Exogenous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Rest days, 7 / 14 / 28-day pitch counts, ACWR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Bullets"/>
          <p:cNvSpPr txBox="1"/>
          <p:nvPr/>
        </p:nvSpPr>
        <p:spPr>
          <a:xfrm>
            <a:off x="228600" y="44256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b="1" dirty="0">
                <a:solidFill>
                  <a:schemeClr val="tx1"/>
                </a:solidFill>
              </a:rPr>
              <a:t>Suitability</a:t>
            </a:r>
            <a:r>
              <a:rPr lang="en-US" sz="1300" dirty="0">
                <a:solidFill>
                  <a:schemeClr val="tx1"/>
                </a:solidFill>
              </a:rPr>
              <a:t>: a long, open, pitch-level series linked to real injury labels, so warnings can be checked against what actually happened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Data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of analysis and variables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graphicFrame>
        <p:nvGraphicFramePr>
          <p:cNvPr id="11" name="Variab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Group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Definition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Velocity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&amp; max fastball velocity per appearance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Velocity variability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SD of fastball velocity per appearance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Release point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&amp; SD of horizontal / vertical release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Auxiliary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Spin rate, extension, in-game velocity decay slope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Workload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Rest days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Days since the last appearance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Recent load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Cumulative pitches over 7 / 14 / 28 days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ACWR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7-day ÷ 28-day average load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Bullets"/>
          <p:cNvSpPr txBox="1"/>
          <p:nvPr/>
        </p:nvSpPr>
        <p:spPr>
          <a:xfrm>
            <a:off x="228600" y="3749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450" b="1" dirty="0">
                <a:solidFill>
                  <a:schemeClr val="tx1"/>
                </a:solidFill>
              </a:rPr>
              <a:t>Unit</a:t>
            </a:r>
            <a:r>
              <a:rPr lang="en-US" sz="1450" dirty="0">
                <a:solidFill>
                  <a:schemeClr val="tx1"/>
                </a:solidFill>
              </a:rPr>
              <a:t>: pitcher × appearance; time axis = appearance index, rest days as a separate variable</a:t>
            </a:r>
            <a:endParaRPr lang="en-US" sz="145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450" b="1" dirty="0">
                <a:solidFill>
                  <a:schemeClr val="tx1"/>
                </a:solidFill>
              </a:rPr>
              <a:t>Injury event</a:t>
            </a:r>
            <a:r>
              <a:rPr lang="en-US" sz="1450" dirty="0">
                <a:solidFill>
                  <a:schemeClr val="tx1"/>
                </a:solidFill>
              </a:rPr>
              <a:t>: IL placement for an arm-related reason</a:t>
            </a:r>
            <a:endParaRPr lang="en-US" sz="145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450" dirty="0">
                <a:solidFill>
                  <a:schemeClr val="tx1"/>
                </a:solidFill>
              </a:rPr>
              <a:t>IL records are used </a:t>
            </a:r>
            <a:r>
              <a:rPr lang="en-US" sz="1450" b="1" dirty="0">
                <a:solidFill>
                  <a:schemeClr val="tx1"/>
                </a:solidFill>
              </a:rPr>
              <a:t>only for evaluation</a:t>
            </a:r>
            <a:r>
              <a:rPr lang="en-US" sz="1450" dirty="0">
                <a:solidFill>
                  <a:schemeClr val="tx1"/>
                </a:solidFill>
              </a:rPr>
              <a:t>, never for training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Method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Research questions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RQ1 badge"/>
          <p:cNvSpPr/>
          <p:nvPr/>
        </p:nvSpPr>
        <p:spPr>
          <a:xfrm>
            <a:off x="274320" y="1024128"/>
            <a:ext cx="1005840" cy="804672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RQ1</a:t>
            </a:r>
            <a:endParaRPr lang="en-US" sz="1200" dirty="0"/>
          </a:p>
        </p:txBody>
      </p:sp>
      <p:sp>
        <p:nvSpPr>
          <p:cNvPr id="10" name="RQ1 question"/>
          <p:cNvSpPr/>
          <p:nvPr/>
        </p:nvSpPr>
        <p:spPr>
          <a:xfrm>
            <a:off x="1371600" y="1024128"/>
            <a:ext cx="7498080" cy="80467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early and how accurately can the residual (actual − velocity forecast from the pitcher's own past) detect an arm-injury IL placement?</a:t>
            </a:r>
            <a:endParaRPr lang="en-US" sz="1200" dirty="0"/>
          </a:p>
        </p:txBody>
      </p:sp>
      <p:sp>
        <p:nvSpPr>
          <p:cNvPr id="11" name="RQ2 badge"/>
          <p:cNvSpPr/>
          <p:nvPr/>
        </p:nvSpPr>
        <p:spPr>
          <a:xfrm>
            <a:off x="274320" y="1956816"/>
            <a:ext cx="1005840" cy="804672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RQ2</a:t>
            </a:r>
            <a:endParaRPr lang="en-US" sz="1200" dirty="0"/>
          </a:p>
        </p:txBody>
      </p:sp>
      <p:sp>
        <p:nvSpPr>
          <p:cNvPr id="12" name="RQ2 question"/>
          <p:cNvSpPr/>
          <p:nvPr/>
        </p:nvSpPr>
        <p:spPr>
          <a:xfrm>
            <a:off x="1371600" y="1956816"/>
            <a:ext cx="7498080" cy="80467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the last few appearances before injury, do velocity, its variability, and release point move away from the pitcher's own normal?</a:t>
            </a:r>
            <a:endParaRPr lang="en-US" sz="1200" dirty="0"/>
          </a:p>
        </p:txBody>
      </p:sp>
      <p:sp>
        <p:nvSpPr>
          <p:cNvPr id="13" name="RQ3 badge"/>
          <p:cNvSpPr/>
          <p:nvPr/>
        </p:nvSpPr>
        <p:spPr>
          <a:xfrm>
            <a:off x="274320" y="2889504"/>
            <a:ext cx="1005840" cy="804672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RQ3</a:t>
            </a:r>
            <a:endParaRPr lang="en-US" sz="1200" dirty="0"/>
          </a:p>
        </p:txBody>
      </p:sp>
      <p:sp>
        <p:nvSpPr>
          <p:cNvPr id="14" name="RQ3 question"/>
          <p:cNvSpPr/>
          <p:nvPr/>
        </p:nvSpPr>
        <p:spPr>
          <a:xfrm>
            <a:off x="1371600" y="2889504"/>
            <a:ext cx="7498080" cy="80467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workload indicators such as rest days and 7 / 14 / 28-day pitch counts improve alert performance?</a:t>
            </a:r>
            <a:endParaRPr lang="en-US" sz="1200" dirty="0"/>
          </a:p>
        </p:txBody>
      </p:sp>
      <p:sp>
        <p:nvSpPr>
          <p:cNvPr id="15" name="RQ4 badge"/>
          <p:cNvSpPr/>
          <p:nvPr/>
        </p:nvSpPr>
        <p:spPr>
          <a:xfrm>
            <a:off x="274320" y="3822192"/>
            <a:ext cx="1005840" cy="804672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RQ4</a:t>
            </a:r>
            <a:endParaRPr lang="en-US" sz="1200" dirty="0"/>
          </a:p>
        </p:txBody>
      </p:sp>
      <p:sp>
        <p:nvSpPr>
          <p:cNvPr id="16" name="RQ4 question"/>
          <p:cNvSpPr/>
          <p:nvPr/>
        </p:nvSpPr>
        <p:spPr>
          <a:xfrm>
            <a:off x="1371600" y="3822192"/>
            <a:ext cx="7498080" cy="80467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the strength of the warning signal differ between hard throwers and other pitchers?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Method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Framework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Input data"/>
          <p:cNvSpPr/>
          <p:nvPr/>
        </p:nvSpPr>
        <p:spPr>
          <a:xfrm>
            <a:off x="274320" y="1051560"/>
            <a:ext cx="1828800" cy="2240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data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Statcast pitches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MLB IL records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2148840" y="2020824"/>
            <a:ext cx="301752" cy="30175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Appearance series"/>
          <p:cNvSpPr/>
          <p:nvPr/>
        </p:nvSpPr>
        <p:spPr>
          <a:xfrm>
            <a:off x="2496312" y="1051560"/>
            <a:ext cx="1828800" cy="2240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Appearance series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Per-pitcher velocity, variability, release point by appearance index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4370832" y="2020824"/>
            <a:ext cx="301752" cy="30175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Models"/>
          <p:cNvSpPr/>
          <p:nvPr/>
        </p:nvSpPr>
        <p:spPr>
          <a:xfrm>
            <a:off x="4718304" y="1051560"/>
            <a:ext cx="1828800" cy="2240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Models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Rules · EWMA · ARIMAX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MEWMA · ML comparison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6592824" y="2020824"/>
            <a:ext cx="301752" cy="30175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Output"/>
          <p:cNvSpPr/>
          <p:nvPr/>
        </p:nvSpPr>
        <p:spPr>
          <a:xfrm>
            <a:off x="6940296" y="1051560"/>
            <a:ext cx="1828800" cy="22402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Anomaly score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injury warning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lead time</a:t>
            </a:r>
            <a:endParaRPr lang="en-US" sz="1200" dirty="0"/>
          </a:p>
        </p:txBody>
      </p:sp>
      <p:sp>
        <p:nvSpPr>
          <p:cNvPr id="16" name="Exogenous"/>
          <p:cNvSpPr/>
          <p:nvPr/>
        </p:nvSpPr>
        <p:spPr>
          <a:xfrm>
            <a:off x="1371600" y="3520440"/>
            <a:ext cx="6400800" cy="5486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Exogenous X: rest days · 7 / 14 / 28-day pitch counts · ACWR</a:t>
            </a:r>
            <a:endParaRPr lang="en-US" sz="1200" dirty="0"/>
          </a:p>
        </p:txBody>
      </p:sp>
      <p:sp>
        <p:nvSpPr>
          <p:cNvPr id="17" name="Alert success"/>
          <p:cNvSpPr txBox="1"/>
          <p:nvPr/>
        </p:nvSpPr>
        <p:spPr>
          <a:xfrm>
            <a:off x="274320" y="42793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Alert success  </a:t>
            </a:r>
            <a:r>
              <a:rPr lang="en-US" sz="1250" dirty="0">
                <a:solidFill>
                  <a:schemeClr val="tx1"/>
                </a:solidFill>
              </a:rPr>
              <a:t>alert within the last 3 appearances (~21 days) before IL; 2 and 5 also tested, fixed on validation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Method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split · models · evaluation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Label Time-ordered split"/>
          <p:cNvSpPr txBox="1"/>
          <p:nvPr/>
        </p:nvSpPr>
        <p:spPr>
          <a:xfrm>
            <a:off x="27432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Time-ordered split</a:t>
            </a:r>
            <a:endParaRPr lang="en-US" sz="1300" dirty="0"/>
          </a:p>
        </p:txBody>
      </p:sp>
      <p:sp>
        <p:nvSpPr>
          <p:cNvPr id="10" name="Split Train  2021–2024"/>
          <p:cNvSpPr/>
          <p:nvPr/>
        </p:nvSpPr>
        <p:spPr>
          <a:xfrm>
            <a:off x="1828800" y="987552"/>
            <a:ext cx="3672661" cy="329184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Train  2021–2024</a:t>
            </a:r>
            <a:endParaRPr lang="en-US" sz="1200" dirty="0"/>
          </a:p>
        </p:txBody>
      </p:sp>
      <p:sp>
        <p:nvSpPr>
          <p:cNvPr id="11" name="Split Valid.  2025 (threshold)"/>
          <p:cNvSpPr/>
          <p:nvPr/>
        </p:nvSpPr>
        <p:spPr>
          <a:xfrm>
            <a:off x="5556325" y="987552"/>
            <a:ext cx="1912441" cy="329184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Valid.  2025 (threshold)</a:t>
            </a:r>
            <a:endParaRPr lang="en-US" sz="1200" dirty="0"/>
          </a:p>
        </p:txBody>
      </p:sp>
      <p:sp>
        <p:nvSpPr>
          <p:cNvPr id="12" name="Split Test  2026"/>
          <p:cNvSpPr/>
          <p:nvPr/>
        </p:nvSpPr>
        <p:spPr>
          <a:xfrm>
            <a:off x="7523629" y="987552"/>
            <a:ext cx="1291187" cy="329184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Test  2026</a:t>
            </a:r>
            <a:endParaRPr lang="en-US" sz="1200" dirty="0"/>
          </a:p>
        </p:txBody>
      </p:sp>
      <p:sp>
        <p:nvSpPr>
          <p:cNvPr id="13" name="Label Models"/>
          <p:cNvSpPr txBox="1"/>
          <p:nvPr/>
        </p:nvSpPr>
        <p:spPr>
          <a:xfrm>
            <a:off x="2743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Models</a:t>
            </a:r>
            <a:endParaRPr lang="en-US" sz="1300" dirty="0"/>
          </a:p>
        </p:txBody>
      </p:sp>
      <p:sp>
        <p:nvSpPr>
          <p:cNvPr id="14" name="Label Evaluation metrics"/>
          <p:cNvSpPr txBox="1"/>
          <p:nvPr/>
        </p:nvSpPr>
        <p:spPr>
          <a:xfrm>
            <a:off x="54406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Evaluation metrics</a:t>
            </a:r>
            <a:endParaRPr lang="en-US" sz="1300" dirty="0"/>
          </a:p>
        </p:txBody>
      </p:sp>
      <p:graphicFrame>
        <p:nvGraphicFramePr>
          <p:cNvPr id="14" name="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8308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2588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Baselines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1. Random score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Chance level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2. Simple rule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Alert when velocity drops X mph below normal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3. Workload rule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Alert when ACWR moves beyond ±33%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Time series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4. EWMA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Cumulative detection of a gradual standardized drop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5. ARIMAX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Residual vs. expected velocity given rest days and pitch counts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Extra check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6. ML methods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Compared on the same terms with methods that ignore time order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Extension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7. MEWMA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Monitors velocity, variability, release together (multivariate)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Metri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783080"/>
          <a:ext cx="6858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Recall and precision with ≤ 1 false alarm per pitcher-season (main: F1)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False alarms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False alarms per pitcher-season, alert rate in controls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Lead time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Days from first alert to IL placement (median, distribution)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Overall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Appearance-level AUPRC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Velocity forecast error: MAE, RMSE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(1) League velocity trend and IL volume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EDA</a:t>
            </a:r>
            <a:endParaRPr lang="en-US" sz="850" dirty="0"/>
          </a:p>
        </p:txBody>
      </p:sp>
      <p:pic>
        <p:nvPicPr>
          <p:cNvPr id="9" name="Velocity by year" descr="/tmp/claude-0/-home-user-timeseries/2d02c38b-48df-5b9a-b0cc-ec9424e3cff2/scratchpad/figs_en/k01_velo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41832"/>
            <a:ext cx="4206240" cy="2560320"/>
          </a:xfrm>
          <a:prstGeom prst="rect">
            <a:avLst/>
          </a:prstGeom>
        </p:spPr>
      </p:pic>
      <p:pic>
        <p:nvPicPr>
          <p:cNvPr id="10" name="IL pitchers by year" descr="/tmp/claude-0/-home-user-timeseries/2d02c38b-48df-5b9a-b0cc-ec9424e3cff2/scratchpad/figs_en/k02_il_pitch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41832"/>
            <a:ext cx="4206240" cy="256032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274320" y="35295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Four-seam velocity by season (pitch-weighted, left) and distinct pitchers with an IL record (right), 2021–2026</a:t>
            </a:r>
            <a:endParaRPr lang="en-US" sz="950" dirty="0"/>
          </a:p>
        </p:txBody>
      </p:sp>
      <p:sp>
        <p:nvSpPr>
          <p:cNvPr id="12" name="Bullets"/>
          <p:cNvSpPr txBox="1"/>
          <p:nvPr/>
        </p:nvSpPr>
        <p:spPr>
          <a:xfrm>
            <a:off x="228600" y="379476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50" dirty="0">
                <a:solidFill>
                  <a:schemeClr val="tx1"/>
                </a:solidFill>
              </a:rPr>
              <a:t>League four-seam velocity rose six seasons in a row: </a:t>
            </a:r>
            <a:r>
              <a:rPr lang="en-US" sz="1350" b="1" dirty="0">
                <a:solidFill>
                  <a:schemeClr val="tx1"/>
                </a:solidFill>
              </a:rPr>
              <a:t>93.69 → 94.77 mph</a:t>
            </a:r>
            <a:r>
              <a:rPr lang="en-US" sz="1350" dirty="0">
                <a:solidFill>
                  <a:schemeClr val="tx1"/>
                </a:solidFill>
              </a:rPr>
              <a:t> (+1.08) → we need a detrended, per-pitcher baseline</a:t>
            </a:r>
            <a:endParaRPr lang="en-US" sz="135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50" b="1" dirty="0">
                <a:solidFill>
                  <a:schemeClr val="tx1"/>
                </a:solidFill>
              </a:rPr>
              <a:t>360–444</a:t>
            </a:r>
            <a:r>
              <a:rPr lang="en-US" sz="1350" dirty="0">
                <a:solidFill>
                  <a:schemeClr val="tx1"/>
                </a:solidFill>
              </a:rPr>
              <a:t> pitchers per year had an IL record; the 2026 log ends Sep 27, so we also compare on the same cutoff (volume only, not an injury rate)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(2) Injury sites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EDA</a:t>
            </a:r>
            <a:endParaRPr lang="en-US" sz="850" dirty="0"/>
          </a:p>
        </p:txBody>
      </p:sp>
      <p:pic>
        <p:nvPicPr>
          <p:cNvPr id="9" name="Injury sites" descr="/tmp/claude-0/-home-user-timeseries/2d02c38b-48df-5b9a-b0cc-ec9424e3cff2/scratchpad/figs_en/k03_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800600" cy="3200400"/>
          </a:xfrm>
          <a:prstGeom prst="rect">
            <a:avLst/>
          </a:prstGeom>
        </p:spPr>
      </p:pic>
      <p:pic>
        <p:nvPicPr>
          <p:cNvPr id="10" name="Site share by year" descr="/tmp/claude-0/-home-user-timeseries/2d02c38b-48df-5b9a-b0cc-ec9424e3cff2/scratchpad/figs_en/k04_site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914400"/>
            <a:ext cx="3657600" cy="3200400"/>
          </a:xfrm>
          <a:prstGeom prst="rect">
            <a:avLst/>
          </a:prstGeom>
        </p:spPr>
      </p:pic>
      <p:sp>
        <p:nvSpPr>
          <p:cNvPr id="11" name="Bullets"/>
          <p:cNvSpPr txBox="1"/>
          <p:nvPr/>
        </p:nvSpPr>
        <p:spPr>
          <a:xfrm>
            <a:off x="228600" y="4178808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250" dirty="0">
                <a:solidFill>
                  <a:schemeClr val="tx1"/>
                </a:solidFill>
              </a:rPr>
              <a:t>Shoulder 17.7%, elbow 16.0%, forearm 6.4%: arm sites lead (denominator: IL records, not pitchers)</a:t>
            </a:r>
            <a:endParaRPr lang="en-US" sz="125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250" dirty="0">
                <a:solidFill>
                  <a:schemeClr val="tx1"/>
                </a:solidFill>
              </a:rPr>
              <a:t>Elbow share rose from </a:t>
            </a:r>
            <a:r>
              <a:rPr lang="en-US" sz="1250" b="1" dirty="0">
                <a:solidFill>
                  <a:schemeClr val="tx1"/>
                </a:solidFill>
              </a:rPr>
              <a:t>10% (2021) to 22% (2026)</a:t>
            </a:r>
            <a:r>
              <a:rPr lang="en-US" sz="1250" dirty="0">
                <a:solidFill>
                  <a:schemeClr val="tx1"/>
                </a:solidFill>
              </a:rPr>
              <a:t> → arm-related IL is our main event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(3) Velocity right before IL placement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EDA</a:t>
            </a:r>
            <a:endParaRPr lang="en-US" sz="850" dirty="0"/>
          </a:p>
        </p:txBody>
      </p:sp>
      <p:pic>
        <p:nvPicPr>
          <p:cNvPr id="9" name="Velocity diff" descr="/tmp/claude-0/-home-user-timeseries/2d02c38b-48df-5b9a-b0cc-ec9424e3cff2/scratchpad/figs_en/k05_velocity_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32688"/>
            <a:ext cx="5577840" cy="2478024"/>
          </a:xfrm>
          <a:prstGeom prst="rect">
            <a:avLst/>
          </a:prstGeom>
        </p:spPr>
      </p:pic>
      <p:graphicFrame>
        <p:nvGraphicFramePr>
          <p:cNvPr id="17" name="Event cou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45336"/>
          <a:ext cx="6858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IL events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All IL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Arm-related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Last 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1,479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663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Last 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1,066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460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Last 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786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329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Caption"/>
          <p:cNvSpPr txBox="1"/>
          <p:nvPr/>
        </p:nvSpPr>
        <p:spPr>
          <a:xfrm>
            <a:off x="182880" y="345643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Within the same pitcher's current IL segment: mean of last N appearances − mean of earlier ones (dot: difference, line: 95% CI, 2,000 pitcher-cluster bootstraps)</a:t>
            </a:r>
            <a:endParaRPr lang="en-US" sz="950" dirty="0"/>
          </a:p>
        </p:txBody>
      </p:sp>
      <p:sp>
        <p:nvSpPr>
          <p:cNvPr id="12" name="Bullets"/>
          <p:cNvSpPr txBox="1"/>
          <p:nvPr/>
        </p:nvSpPr>
        <p:spPr>
          <a:xfrm>
            <a:off x="228600" y="373075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This is a </a:t>
            </a:r>
            <a:r>
              <a:rPr lang="en-US" sz="1300" b="1" dirty="0">
                <a:solidFill>
                  <a:schemeClr val="tx1"/>
                </a:solidFill>
              </a:rPr>
              <a:t>within-pitcher comparison</a:t>
            </a:r>
            <a:r>
              <a:rPr lang="en-US" sz="1300" dirty="0">
                <a:solidFill>
                  <a:schemeClr val="tx1"/>
                </a:solidFill>
              </a:rPr>
              <a:t>, not a comparison with healthy pitchers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The drop is largest in the last appearance (all −0.26, arm −0.37 mph) and shrinks as N grows; arm-related IL drops more in every window</a:t>
            </a:r>
            <a:endParaRPr lang="en-US" sz="1300" dirty="0"/>
          </a:p>
          <a:p>
            <a:pPr lvl="1" marL="457200" indent="-228600">
              <a:spcBef>
                <a:spcPts val="400"/>
              </a:spcBef>
              <a:buSzPct val="100000"/>
              <a:buChar char="➡"/>
            </a:pPr>
            <a:r>
              <a:rPr lang="en-US" sz="1300" dirty="0">
                <a:solidFill>
                  <a:schemeClr val="tx1"/>
                </a:solidFill>
              </a:rPr>
              <a:t>The drop is concentrated right before IL → a short alert window (last 3, checked with 2 and 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(4) Spin rate and spin-to-velocity ratio before IL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EDA</a:t>
            </a:r>
            <a:endParaRPr lang="en-US" sz="850" dirty="0"/>
          </a:p>
        </p:txBody>
      </p:sp>
      <p:pic>
        <p:nvPicPr>
          <p:cNvPr id="9" name="Spin diff" descr="/tmp/claude-0/-home-user-timeseries/2d02c38b-48df-5b9a-b0cc-ec9424e3cff2/scratchpad/figs_en/k06_spin_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206240" cy="2743200"/>
          </a:xfrm>
          <a:prstGeom prst="rect">
            <a:avLst/>
          </a:prstGeom>
        </p:spPr>
      </p:pic>
      <p:pic>
        <p:nvPicPr>
          <p:cNvPr id="10" name="Ratio diff" descr="/tmp/claude-0/-home-user-timeseries/2d02c38b-48df-5b9a-b0cc-ec9424e3cff2/scratchpad/figs_en/k07_ratio_d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06240" cy="274320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182880" y="3703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Last N − earlier appearances (within pitcher). Filled dot = 95% CI excludes 0; open dot = includes 0</a:t>
            </a:r>
            <a:endParaRPr lang="en-US" sz="950" dirty="0"/>
          </a:p>
        </p:txBody>
      </p:sp>
      <p:sp>
        <p:nvSpPr>
          <p:cNvPr id="12" name="Bullets"/>
          <p:cNvSpPr txBox="1"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Spin rate: about </a:t>
            </a:r>
            <a:r>
              <a:rPr lang="en-US" sz="1300" b="1" dirty="0">
                <a:solidFill>
                  <a:schemeClr val="tx1"/>
                </a:solidFill>
              </a:rPr>
              <a:t>−10 rpm</a:t>
            </a:r>
            <a:r>
              <a:rPr lang="en-US" sz="1300" dirty="0">
                <a:solidFill>
                  <a:schemeClr val="tx1"/>
                </a:solidFill>
              </a:rPr>
              <a:t> in the last appearance (all −10.4, arm −10.9); over the last 5 the 95% CI includes 0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Spin-to-velocity ratio: only the last appearance for all IL is below 0 (−0.045); for arm-related IL every window includes 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(5) Same-year IL rate by velocity group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91456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5" name="Section tracker 2"/>
          <p:cNvSpPr/>
          <p:nvPr/>
        </p:nvSpPr>
        <p:spPr>
          <a:xfrm>
            <a:off x="5632704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6" name="Section tracker 3"/>
          <p:cNvSpPr/>
          <p:nvPr/>
        </p:nvSpPr>
        <p:spPr>
          <a:xfrm>
            <a:off x="6473952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Data</a:t>
            </a:r>
            <a:endParaRPr lang="en-US" sz="850" dirty="0"/>
          </a:p>
        </p:txBody>
      </p:sp>
      <p:sp>
        <p:nvSpPr>
          <p:cNvPr id="7" name="Section tracker 4"/>
          <p:cNvSpPr/>
          <p:nvPr/>
        </p:nvSpPr>
        <p:spPr>
          <a:xfrm>
            <a:off x="7315200" y="137160"/>
            <a:ext cx="804672" cy="246888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</a:rPr>
              <a:t>Method</a:t>
            </a:r>
            <a:endParaRPr lang="en-US" sz="850" dirty="0"/>
          </a:p>
        </p:txBody>
      </p:sp>
      <p:sp>
        <p:nvSpPr>
          <p:cNvPr id="8" name="Section tracker 5"/>
          <p:cNvSpPr/>
          <p:nvPr/>
        </p:nvSpPr>
        <p:spPr>
          <a:xfrm>
            <a:off x="8156448" y="137160"/>
            <a:ext cx="804672" cy="2468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EDA</a:t>
            </a:r>
            <a:endParaRPr lang="en-US" sz="850" dirty="0"/>
          </a:p>
        </p:txBody>
      </p:sp>
      <p:pic>
        <p:nvPicPr>
          <p:cNvPr id="9" name="Velocity group IL rate" descr="/tmp/claude-0/-home-user-timeseries/2d02c38b-48df-5b9a-b0cc-ec9424e3cff2/scratchpad/figs_en/k11_velocit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760720" cy="3374136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274320" y="43434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Same-year IL rate for pitchers above (red) and below (blue) the same-year, same-hand mean</a:t>
            </a:r>
            <a:endParaRPr lang="en-US" sz="950" dirty="0"/>
          </a:p>
        </p:txBody>
      </p:sp>
      <p:sp>
        <p:nvSpPr>
          <p:cNvPr id="11" name="Bullets"/>
          <p:cNvSpPr txBox="1"/>
          <p:nvPr/>
        </p:nvSpPr>
        <p:spPr>
          <a:xfrm>
            <a:off x="6263640" y="914400"/>
            <a:ext cx="2606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marL="558800" indent="-279400">
              <a:spcBef>
                <a:spcPts val="12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Compares groups of pitchers: faster or slower than the mean for that year and throwing hand</a:t>
            </a:r>
            <a:endParaRPr lang="en-US" sz="1400" dirty="0"/>
          </a:p>
          <a:p>
            <a:pPr lvl="1" marL="558800" indent="-279400">
              <a:spcBef>
                <a:spcPts val="12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The faster group is higher in </a:t>
            </a:r>
            <a:r>
              <a:rPr lang="en-US" sz="1400" b="1" dirty="0">
                <a:solidFill>
                  <a:schemeClr val="tx1"/>
                </a:solidFill>
              </a:rPr>
              <a:t>12 of 24</a:t>
            </a:r>
            <a:r>
              <a:rPr lang="en-US" sz="1400" dirty="0">
                <a:solidFill>
                  <a:schemeClr val="tx1"/>
                </a:solidFill>
              </a:rPr>
              <a:t> year × group cells; no consistent direction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Thank you</a:t>
            </a:r>
            <a:endParaRPr lang="en-US" sz="28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914400" y="30632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 &amp; 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Department of Data Science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Soyeon Kim · Minseo Jeong · Donghan Kang · Minseok Choi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er Injury Proposal">
  <a:themeElements>
    <a:clrScheme name="Pitcher Injury Proposal">
      <a:dk1>
        <a:srgbClr val="000000"/>
      </a:dk1>
      <a:lt1>
        <a:srgbClr val="FFFFFF"/>
      </a:lt1>
      <a:dk2>
        <a:srgbClr val="0F2D5C"/>
      </a:dk2>
      <a:lt2>
        <a:srgbClr val="DCE6F2"/>
      </a:lt2>
      <a:accent1>
        <a:srgbClr val="2E6DB4"/>
      </a:accent1>
      <a:accent2>
        <a:srgbClr val="C0504D"/>
      </a:accent2>
      <a:accent3>
        <a:srgbClr val="F6D5D5"/>
      </a:accent3>
      <a:accent4>
        <a:srgbClr val="555555"/>
      </a:accent4>
      <a:accent5>
        <a:srgbClr val="666666"/>
      </a:accent5>
      <a:accent6>
        <a:srgbClr val="F2F2F2"/>
      </a:accent6>
      <a:hlink>
        <a:srgbClr val="2E6DB4"/>
      </a:hlink>
      <a:folHlink>
        <a:srgbClr val="0F2D5C"/>
      </a:folHlink>
    </a:clrScheme>
    <a:fontScheme name="Pitcher Injury Proposal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Warning of Pitcher Arm Injuries from Pitch-Tracking Time Series</dc:title>
  <dc:subject>PptxGenJS Presentation</dc:subject>
  <dc:creator>PptxGenJS</dc:creator>
  <cp:lastModifiedBy>PptxGenJS</cp:lastModifiedBy>
  <cp:revision>1</cp:revision>
  <dcterms:created xsi:type="dcterms:W3CDTF">2026-10-23T09:24:24Z</dcterms:created>
  <dcterms:modified xsi:type="dcterms:W3CDTF">2026-10-23T09:24:24Z</dcterms:modified>
</cp:coreProperties>
</file>